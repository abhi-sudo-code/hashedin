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returns integrity challenge" id="{EBDCB217-0994-0120-82B6-C915CC7B4D11}">
          <p14:sldIdLst>
            <p14:sldId id="262"/>
            <p14:sldId id="256"/>
          </p14:sldIdLst>
        </p14:section>
        <p14:section name="The returns integrity ecosystem" id="{8D6266BA-FFD2-CBFF-06F8-6B1753AB1DC8}">
          <p14:sldIdLst>
            <p14:sldId id="257"/>
          </p14:sldIdLst>
        </p14:section>
        <p14:section name="ReturnLens readiness and governance" id="{B85EB57C-0543-1B56-9584-0EC4852C9FB3}">
          <p14:sldIdLst>
            <p14:sldId id="258"/>
          </p14:sldIdLst>
        </p14:section>
        <p14:section name="ReturnLens MVP-first roadmap" id="{34B332DA-B8ED-8B02-D79C-A405793868BB}">
          <p14:sldIdLst>
            <p14:sldId id="259"/>
          </p14:sldIdLst>
        </p14:section>
        <p14:section name="ReturnLens overview" id="{595E21EA-F0A3-B0CF-52A8-A6F74921E13F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71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Northfield Retail — the returns integrity challenge: company context, abuse patterns, why today’s approach fails, fragmented signals, root causes, and costs &amp;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Returns integrity ecosystem: end-to-end returns journey, key personas with their workflows, frictions and outcomes, current technical systems, and the value unlocked by a unified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ReturnLens: production readiness and scalability (demand, observability, fail-safe design, phased rollout), then security, compliance, responsible AI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ReturnLens MVP-first roadmap: phased roadmap from foundations to Version 3, business case, success metrics, how we test and validate, and technical KPIs and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ReturnLens overview: what it is, end-to-end architecture, inside the Evidence Agent, engineering trade-offs (build, buy, extend), performance, deployment plan and running it reliably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9" Type="http://schemas.openxmlformats.org/officeDocument/2006/relationships/image" Target="../media/image75.png"/><Relationship Id="rId21" Type="http://schemas.openxmlformats.org/officeDocument/2006/relationships/image" Target="../media/image57.png"/><Relationship Id="rId34" Type="http://schemas.openxmlformats.org/officeDocument/2006/relationships/image" Target="../media/image70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33" Type="http://schemas.openxmlformats.org/officeDocument/2006/relationships/image" Target="../media/image69.png"/><Relationship Id="rId38" Type="http://schemas.openxmlformats.org/officeDocument/2006/relationships/image" Target="../media/image7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32" Type="http://schemas.openxmlformats.org/officeDocument/2006/relationships/image" Target="../media/image68.png"/><Relationship Id="rId37" Type="http://schemas.openxmlformats.org/officeDocument/2006/relationships/image" Target="../media/image73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image" Target="../media/image72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31" Type="http://schemas.openxmlformats.org/officeDocument/2006/relationships/image" Target="../media/image67.png"/><Relationship Id="rId4" Type="http://schemas.openxmlformats.org/officeDocument/2006/relationships/image" Target="../media/image2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8" Type="http://schemas.openxmlformats.org/officeDocument/2006/relationships/image" Target="../media/image44.png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39" Type="http://schemas.openxmlformats.org/officeDocument/2006/relationships/image" Target="../media/image110.png"/><Relationship Id="rId21" Type="http://schemas.openxmlformats.org/officeDocument/2006/relationships/image" Target="../media/image92.png"/><Relationship Id="rId34" Type="http://schemas.openxmlformats.org/officeDocument/2006/relationships/image" Target="../media/image105.png"/><Relationship Id="rId42" Type="http://schemas.openxmlformats.org/officeDocument/2006/relationships/image" Target="../media/image113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7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95.png"/><Relationship Id="rId32" Type="http://schemas.openxmlformats.org/officeDocument/2006/relationships/image" Target="../media/image103.png"/><Relationship Id="rId37" Type="http://schemas.openxmlformats.org/officeDocument/2006/relationships/image" Target="../media/image108.png"/><Relationship Id="rId40" Type="http://schemas.openxmlformats.org/officeDocument/2006/relationships/image" Target="../media/image111.png"/><Relationship Id="rId45" Type="http://schemas.openxmlformats.org/officeDocument/2006/relationships/image" Target="../media/image116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28" Type="http://schemas.openxmlformats.org/officeDocument/2006/relationships/image" Target="../media/image99.png"/><Relationship Id="rId36" Type="http://schemas.openxmlformats.org/officeDocument/2006/relationships/image" Target="../media/image107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31" Type="http://schemas.openxmlformats.org/officeDocument/2006/relationships/image" Target="../media/image102.png"/><Relationship Id="rId44" Type="http://schemas.openxmlformats.org/officeDocument/2006/relationships/image" Target="../media/image115.png"/><Relationship Id="rId4" Type="http://schemas.openxmlformats.org/officeDocument/2006/relationships/image" Target="../media/image2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Relationship Id="rId27" Type="http://schemas.openxmlformats.org/officeDocument/2006/relationships/image" Target="../media/image98.png"/><Relationship Id="rId30" Type="http://schemas.openxmlformats.org/officeDocument/2006/relationships/image" Target="../media/image101.png"/><Relationship Id="rId35" Type="http://schemas.openxmlformats.org/officeDocument/2006/relationships/image" Target="../media/image106.png"/><Relationship Id="rId43" Type="http://schemas.openxmlformats.org/officeDocument/2006/relationships/image" Target="../media/image114.png"/><Relationship Id="rId8" Type="http://schemas.openxmlformats.org/officeDocument/2006/relationships/image" Target="../media/image79.png"/><Relationship Id="rId3" Type="http://schemas.openxmlformats.org/officeDocument/2006/relationships/image" Target="../media/image1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33" Type="http://schemas.openxmlformats.org/officeDocument/2006/relationships/image" Target="../media/image104.png"/><Relationship Id="rId38" Type="http://schemas.openxmlformats.org/officeDocument/2006/relationships/image" Target="../media/image109.png"/><Relationship Id="rId46" Type="http://schemas.openxmlformats.org/officeDocument/2006/relationships/image" Target="../media/image117.png"/><Relationship Id="rId20" Type="http://schemas.openxmlformats.org/officeDocument/2006/relationships/image" Target="../media/image91.png"/><Relationship Id="rId41" Type="http://schemas.openxmlformats.org/officeDocument/2006/relationships/image" Target="../media/image11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26" Type="http://schemas.openxmlformats.org/officeDocument/2006/relationships/image" Target="../media/image139.png"/><Relationship Id="rId39" Type="http://schemas.openxmlformats.org/officeDocument/2006/relationships/image" Target="../media/image152.png"/><Relationship Id="rId21" Type="http://schemas.openxmlformats.org/officeDocument/2006/relationships/image" Target="../media/image134.png"/><Relationship Id="rId34" Type="http://schemas.openxmlformats.org/officeDocument/2006/relationships/image" Target="../media/image147.png"/><Relationship Id="rId42" Type="http://schemas.openxmlformats.org/officeDocument/2006/relationships/image" Target="../media/image155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9.png"/><Relationship Id="rId20" Type="http://schemas.openxmlformats.org/officeDocument/2006/relationships/image" Target="../media/image133.png"/><Relationship Id="rId29" Type="http://schemas.openxmlformats.org/officeDocument/2006/relationships/image" Target="../media/image142.png"/><Relationship Id="rId41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24" Type="http://schemas.openxmlformats.org/officeDocument/2006/relationships/image" Target="../media/image137.png"/><Relationship Id="rId32" Type="http://schemas.openxmlformats.org/officeDocument/2006/relationships/image" Target="../media/image145.png"/><Relationship Id="rId37" Type="http://schemas.openxmlformats.org/officeDocument/2006/relationships/image" Target="../media/image150.png"/><Relationship Id="rId40" Type="http://schemas.openxmlformats.org/officeDocument/2006/relationships/image" Target="../media/image153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23" Type="http://schemas.openxmlformats.org/officeDocument/2006/relationships/image" Target="../media/image136.png"/><Relationship Id="rId28" Type="http://schemas.openxmlformats.org/officeDocument/2006/relationships/image" Target="../media/image141.png"/><Relationship Id="rId36" Type="http://schemas.openxmlformats.org/officeDocument/2006/relationships/image" Target="../media/image149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31" Type="http://schemas.openxmlformats.org/officeDocument/2006/relationships/image" Target="../media/image144.png"/><Relationship Id="rId44" Type="http://schemas.openxmlformats.org/officeDocument/2006/relationships/image" Target="../media/image157.png"/><Relationship Id="rId4" Type="http://schemas.openxmlformats.org/officeDocument/2006/relationships/image" Target="../media/image2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5.png"/><Relationship Id="rId27" Type="http://schemas.openxmlformats.org/officeDocument/2006/relationships/image" Target="../media/image140.png"/><Relationship Id="rId30" Type="http://schemas.openxmlformats.org/officeDocument/2006/relationships/image" Target="../media/image143.png"/><Relationship Id="rId35" Type="http://schemas.openxmlformats.org/officeDocument/2006/relationships/image" Target="../media/image148.png"/><Relationship Id="rId43" Type="http://schemas.openxmlformats.org/officeDocument/2006/relationships/image" Target="../media/image156.png"/><Relationship Id="rId8" Type="http://schemas.openxmlformats.org/officeDocument/2006/relationships/image" Target="../media/image121.png"/><Relationship Id="rId3" Type="http://schemas.openxmlformats.org/officeDocument/2006/relationships/image" Target="../media/image1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5" Type="http://schemas.openxmlformats.org/officeDocument/2006/relationships/image" Target="../media/image138.png"/><Relationship Id="rId33" Type="http://schemas.openxmlformats.org/officeDocument/2006/relationships/image" Target="../media/image146.png"/><Relationship Id="rId38" Type="http://schemas.openxmlformats.org/officeDocument/2006/relationships/image" Target="../media/image15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6.png"/><Relationship Id="rId18" Type="http://schemas.openxmlformats.org/officeDocument/2006/relationships/image" Target="../media/image171.png"/><Relationship Id="rId26" Type="http://schemas.openxmlformats.org/officeDocument/2006/relationships/image" Target="../media/image179.png"/><Relationship Id="rId39" Type="http://schemas.openxmlformats.org/officeDocument/2006/relationships/image" Target="../media/image192.png"/><Relationship Id="rId21" Type="http://schemas.openxmlformats.org/officeDocument/2006/relationships/image" Target="../media/image174.png"/><Relationship Id="rId34" Type="http://schemas.openxmlformats.org/officeDocument/2006/relationships/image" Target="../media/image187.png"/><Relationship Id="rId42" Type="http://schemas.openxmlformats.org/officeDocument/2006/relationships/image" Target="../media/image195.png"/><Relationship Id="rId47" Type="http://schemas.openxmlformats.org/officeDocument/2006/relationships/image" Target="../media/image200.png"/><Relationship Id="rId50" Type="http://schemas.openxmlformats.org/officeDocument/2006/relationships/image" Target="../media/image203.png"/><Relationship Id="rId55" Type="http://schemas.openxmlformats.org/officeDocument/2006/relationships/image" Target="../media/image208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9.png"/><Relationship Id="rId29" Type="http://schemas.openxmlformats.org/officeDocument/2006/relationships/image" Target="../media/image182.png"/><Relationship Id="rId11" Type="http://schemas.openxmlformats.org/officeDocument/2006/relationships/image" Target="../media/image164.png"/><Relationship Id="rId24" Type="http://schemas.openxmlformats.org/officeDocument/2006/relationships/image" Target="../media/image177.png"/><Relationship Id="rId32" Type="http://schemas.openxmlformats.org/officeDocument/2006/relationships/image" Target="../media/image185.png"/><Relationship Id="rId37" Type="http://schemas.openxmlformats.org/officeDocument/2006/relationships/image" Target="../media/image190.png"/><Relationship Id="rId40" Type="http://schemas.openxmlformats.org/officeDocument/2006/relationships/image" Target="../media/image193.png"/><Relationship Id="rId45" Type="http://schemas.openxmlformats.org/officeDocument/2006/relationships/image" Target="../media/image198.png"/><Relationship Id="rId53" Type="http://schemas.openxmlformats.org/officeDocument/2006/relationships/image" Target="../media/image206.png"/><Relationship Id="rId58" Type="http://schemas.openxmlformats.org/officeDocument/2006/relationships/image" Target="../media/image211.png"/><Relationship Id="rId5" Type="http://schemas.openxmlformats.org/officeDocument/2006/relationships/image" Target="../media/image158.png"/><Relationship Id="rId19" Type="http://schemas.openxmlformats.org/officeDocument/2006/relationships/image" Target="../media/image172.png"/><Relationship Id="rId4" Type="http://schemas.openxmlformats.org/officeDocument/2006/relationships/image" Target="../media/image2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Relationship Id="rId22" Type="http://schemas.openxmlformats.org/officeDocument/2006/relationships/image" Target="../media/image175.png"/><Relationship Id="rId27" Type="http://schemas.openxmlformats.org/officeDocument/2006/relationships/image" Target="../media/image180.png"/><Relationship Id="rId30" Type="http://schemas.openxmlformats.org/officeDocument/2006/relationships/image" Target="../media/image183.png"/><Relationship Id="rId35" Type="http://schemas.openxmlformats.org/officeDocument/2006/relationships/image" Target="../media/image188.png"/><Relationship Id="rId43" Type="http://schemas.openxmlformats.org/officeDocument/2006/relationships/image" Target="../media/image196.png"/><Relationship Id="rId48" Type="http://schemas.openxmlformats.org/officeDocument/2006/relationships/image" Target="../media/image201.png"/><Relationship Id="rId56" Type="http://schemas.openxmlformats.org/officeDocument/2006/relationships/image" Target="../media/image209.png"/><Relationship Id="rId8" Type="http://schemas.openxmlformats.org/officeDocument/2006/relationships/image" Target="../media/image161.png"/><Relationship Id="rId51" Type="http://schemas.openxmlformats.org/officeDocument/2006/relationships/image" Target="../media/image204.png"/><Relationship Id="rId3" Type="http://schemas.openxmlformats.org/officeDocument/2006/relationships/image" Target="../media/image1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5" Type="http://schemas.openxmlformats.org/officeDocument/2006/relationships/image" Target="../media/image178.png"/><Relationship Id="rId33" Type="http://schemas.openxmlformats.org/officeDocument/2006/relationships/image" Target="../media/image186.png"/><Relationship Id="rId38" Type="http://schemas.openxmlformats.org/officeDocument/2006/relationships/image" Target="../media/image191.png"/><Relationship Id="rId46" Type="http://schemas.openxmlformats.org/officeDocument/2006/relationships/image" Target="../media/image199.png"/><Relationship Id="rId59" Type="http://schemas.openxmlformats.org/officeDocument/2006/relationships/image" Target="../media/image212.png"/><Relationship Id="rId20" Type="http://schemas.openxmlformats.org/officeDocument/2006/relationships/image" Target="../media/image173.png"/><Relationship Id="rId41" Type="http://schemas.openxmlformats.org/officeDocument/2006/relationships/image" Target="../media/image194.png"/><Relationship Id="rId54" Type="http://schemas.openxmlformats.org/officeDocument/2006/relationships/image" Target="../media/image2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15" Type="http://schemas.openxmlformats.org/officeDocument/2006/relationships/image" Target="../media/image168.png"/><Relationship Id="rId23" Type="http://schemas.openxmlformats.org/officeDocument/2006/relationships/image" Target="../media/image176.png"/><Relationship Id="rId28" Type="http://schemas.openxmlformats.org/officeDocument/2006/relationships/image" Target="../media/image181.png"/><Relationship Id="rId36" Type="http://schemas.openxmlformats.org/officeDocument/2006/relationships/image" Target="../media/image189.png"/><Relationship Id="rId49" Type="http://schemas.openxmlformats.org/officeDocument/2006/relationships/image" Target="../media/image202.png"/><Relationship Id="rId57" Type="http://schemas.openxmlformats.org/officeDocument/2006/relationships/image" Target="../media/image210.png"/><Relationship Id="rId10" Type="http://schemas.openxmlformats.org/officeDocument/2006/relationships/image" Target="../media/image163.png"/><Relationship Id="rId31" Type="http://schemas.openxmlformats.org/officeDocument/2006/relationships/image" Target="../media/image184.png"/><Relationship Id="rId44" Type="http://schemas.openxmlformats.org/officeDocument/2006/relationships/image" Target="../media/image197.png"/><Relationship Id="rId52" Type="http://schemas.openxmlformats.org/officeDocument/2006/relationships/image" Target="../media/image205.png"/><Relationship Id="rId60" Type="http://schemas.openxmlformats.org/officeDocument/2006/relationships/image" Target="../media/image2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652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Deloitte logo" descr="deloitt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1511595" cy="292608"/>
          </a:xfrm>
          <a:prstGeom prst="rect">
            <a:avLst/>
          </a:prstGeom>
        </p:spPr>
      </p:pic>
      <p:pic>
        <p:nvPicPr>
          <p:cNvPr id="4" name="HashedIn logo" descr="hashedin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7215" y="214884"/>
            <a:ext cx="1425879" cy="246888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2194560" y="91440"/>
            <a:ext cx="7802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7A35"/>
                </a:solidFill>
                <a:latin typeface="Arial"/>
              </a:rPr>
              <a:t>Northfield Retail</a:t>
            </a:r>
            <a:r>
              <a:rPr sz="2000" b="1" i="0">
                <a:solidFill>
                  <a:srgbClr val="7A8494"/>
                </a:solidFill>
                <a:latin typeface="Arial"/>
              </a:rPr>
              <a:t>  |  </a:t>
            </a:r>
            <a:r>
              <a:rPr sz="2000" b="1" i="0">
                <a:solidFill>
                  <a:srgbClr val="0F3D28"/>
                </a:solidFill>
                <a:latin typeface="Arial"/>
              </a:rPr>
              <a:t>The Returns Integrity Challenge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1828800" y="429768"/>
            <a:ext cx="8534095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0" i="0">
                <a:solidFill>
                  <a:srgbClr val="3A4250"/>
                </a:solidFill>
                <a:latin typeface="Calibri"/>
              </a:rPr>
              <a:t>How do we protect a growth-driving free-returns promise while stopping evolving abuse patterns and reducing losses?</a:t>
            </a:r>
          </a:p>
        </p:txBody>
      </p:sp>
      <p:sp>
        <p:nvSpPr>
          <p:cNvPr id="7" name="bar1"/>
          <p:cNvSpPr/>
          <p:nvPr/>
        </p:nvSpPr>
        <p:spPr>
          <a:xfrm>
            <a:off x="228600" y="768096"/>
            <a:ext cx="6053328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3464" y="80467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768096"/>
            <a:ext cx="239947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COMPANY CONTEXT: NORTHFIELD RETAIL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6990" y="841247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85862" y="768096"/>
            <a:ext cx="300462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Fast-growing online fashion &amp; lifestyle retailer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1088136"/>
            <a:ext cx="6053328" cy="1691640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Northfield logo" descr="nf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1179576"/>
            <a:ext cx="1280705" cy="310896"/>
          </a:xfrm>
          <a:prstGeom prst="rect">
            <a:avLst/>
          </a:prstGeom>
        </p:spPr>
      </p:pic>
      <p:pic>
        <p:nvPicPr>
          <p:cNvPr id="14" name="s1_people" descr="s1_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1600200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" y="154533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1E7A45"/>
                </a:solidFill>
                <a:latin typeface="Calibri"/>
              </a:rPr>
              <a:t>22M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3106" y="1572768"/>
            <a:ext cx="1146901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0" b="0" i="0">
                <a:solidFill>
                  <a:srgbClr val="1C2330"/>
                </a:solidFill>
                <a:latin typeface="Calibri"/>
              </a:rPr>
              <a:t>active shoppers</a:t>
            </a:r>
          </a:p>
        </p:txBody>
      </p:sp>
      <p:pic>
        <p:nvPicPr>
          <p:cNvPr id="17" name="s1_growth" descr="s1_growt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" y="1984248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4088" y="195681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Free, no-questions-asked returns drive higher conversion</a:t>
            </a:r>
          </a:p>
        </p:txBody>
      </p:sp>
      <p:pic>
        <p:nvPicPr>
          <p:cNvPr id="19" name="s1_star" descr="s1_st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" y="2249424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4088" y="222199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NPS and repeat purchase rate beat category benchmarks</a:t>
            </a:r>
          </a:p>
        </p:txBody>
      </p:sp>
      <p:pic>
        <p:nvPicPr>
          <p:cNvPr id="21" name="s1_trophy" descr="s1_troph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616" y="2514600"/>
            <a:ext cx="219456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" y="2487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Returns have been a deliberate growth lever since day one</a:t>
            </a:r>
          </a:p>
        </p:txBody>
      </p:sp>
      <p:pic>
        <p:nvPicPr>
          <p:cNvPr id="23" name="shopper photo" descr="photo_shopp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9736" y="1179576"/>
            <a:ext cx="1747487" cy="1508760"/>
          </a:xfrm>
          <a:prstGeom prst="rect">
            <a:avLst/>
          </a:prstGeom>
        </p:spPr>
      </p:pic>
      <p:sp>
        <p:nvSpPr>
          <p:cNvPr id="24" name="this powers"/>
          <p:cNvSpPr/>
          <p:nvPr/>
        </p:nvSpPr>
        <p:spPr>
          <a:xfrm>
            <a:off x="4316951" y="1179576"/>
            <a:ext cx="1855248" cy="1508760"/>
          </a:xfrm>
          <a:prstGeom prst="roundRect">
            <a:avLst>
              <a:gd name="adj" fmla="val 3636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26679" y="1252728"/>
            <a:ext cx="167236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60" b="1" i="0">
                <a:solidFill>
                  <a:srgbClr val="0F4A2A"/>
                </a:solidFill>
                <a:latin typeface="Arial"/>
              </a:rPr>
              <a:t>THIS POWERS</a:t>
            </a:r>
          </a:p>
        </p:txBody>
      </p:sp>
      <p:pic>
        <p:nvPicPr>
          <p:cNvPr id="26" name="s1_cart" descr="s1_car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6679" y="1500759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55863" y="1472184"/>
            <a:ext cx="1343184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C2330"/>
                </a:solidFill>
                <a:latin typeface="Calibri"/>
              </a:rPr>
              <a:t>Higher conversion</a:t>
            </a:r>
          </a:p>
        </p:txBody>
      </p:sp>
      <p:pic>
        <p:nvPicPr>
          <p:cNvPr id="28" name="s1_people2" descr="s1_people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6679" y="1795653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55863" y="1767078"/>
            <a:ext cx="1343184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C2330"/>
                </a:solidFill>
                <a:latin typeface="Calibri"/>
              </a:rPr>
              <a:t>Industry-leading NPS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26679" y="1767078"/>
            <a:ext cx="1635793" cy="0"/>
          </a:xfrm>
          <a:prstGeom prst="line">
            <a:avLst/>
          </a:prstGeom>
          <a:ln w="6350">
            <a:solidFill>
              <a:srgbClr val="D3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s1_sync" descr="s1_syn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6679" y="2090547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55863" y="2061972"/>
            <a:ext cx="1343184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C2330"/>
                </a:solidFill>
                <a:latin typeface="Calibri"/>
              </a:rPr>
              <a:t>Stronger repeat purchases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26679" y="2061972"/>
            <a:ext cx="1635793" cy="0"/>
          </a:xfrm>
          <a:prstGeom prst="line">
            <a:avLst/>
          </a:prstGeom>
          <a:ln w="6350">
            <a:solidFill>
              <a:srgbClr val="D3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s1_heart" descr="s1_hear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6679" y="2385440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55863" y="2356865"/>
            <a:ext cx="1343184" cy="29489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1C2330"/>
                </a:solidFill>
                <a:latin typeface="Calibri"/>
              </a:rPr>
              <a:t>Free &amp; easy returns brand promise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426679" y="2356865"/>
            <a:ext cx="1635793" cy="0"/>
          </a:xfrm>
          <a:prstGeom prst="line">
            <a:avLst/>
          </a:prstGeom>
          <a:ln w="6350">
            <a:solidFill>
              <a:srgbClr val="D3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bar2"/>
          <p:cNvSpPr/>
          <p:nvPr/>
        </p:nvSpPr>
        <p:spPr>
          <a:xfrm>
            <a:off x="6373368" y="768096"/>
            <a:ext cx="5589727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28231" y="80467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768096"/>
            <a:ext cx="16481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A GROWING ABUSE REALITY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60432" y="841247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79304" y="768096"/>
            <a:ext cx="32923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Returns grew </a:t>
            </a:r>
            <a:r>
              <a:rPr sz="800" b="1" i="0">
                <a:solidFill>
                  <a:srgbClr val="FFB37A"/>
                </a:solidFill>
                <a:latin typeface="Calibri"/>
              </a:rPr>
              <a:t>3× faster</a:t>
            </a:r>
            <a:r>
              <a:rPr sz="800" b="0" i="0">
                <a:solidFill>
                  <a:srgbClr val="E6F2EA"/>
                </a:solidFill>
                <a:latin typeface="Calibri"/>
              </a:rPr>
              <a:t> than orders in two years; a costly share is not genuine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73368" y="1088136"/>
            <a:ext cx="5589727" cy="1691640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ill_wardrobing" descr="ill_wardrobin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0039" y="1179576"/>
            <a:ext cx="841248" cy="84124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537959" y="2066543"/>
            <a:ext cx="1205407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0F4A2A"/>
                </a:solidFill>
                <a:latin typeface="Arial"/>
              </a:rPr>
              <a:t>Wardrobing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6247" y="2340864"/>
            <a:ext cx="1168831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20" b="0" i="0">
                <a:solidFill>
                  <a:srgbClr val="1C2330"/>
                </a:solidFill>
                <a:latin typeface="Calibri"/>
              </a:rPr>
              <a:t>Wearing an item once and returning it as new.</a:t>
            </a:r>
          </a:p>
        </p:txBody>
      </p:sp>
      <p:pic>
        <p:nvPicPr>
          <p:cNvPr id="46" name="ill_refund" descr="ill_refun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1751" y="1179576"/>
            <a:ext cx="841248" cy="8412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889671" y="2066543"/>
            <a:ext cx="1205407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0F4A2A"/>
                </a:solidFill>
                <a:latin typeface="Arial"/>
              </a:rPr>
              <a:t>Refund without return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7959" y="2340864"/>
            <a:ext cx="1168831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20" b="0" i="0">
                <a:solidFill>
                  <a:srgbClr val="1C2330"/>
                </a:solidFill>
                <a:latin typeface="Calibri"/>
              </a:rPr>
              <a:t>Claiming a refund for items that are never sent back.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816519" y="1216152"/>
            <a:ext cx="0" cy="1435608"/>
          </a:xfrm>
          <a:prstGeom prst="line">
            <a:avLst/>
          </a:prstGeom>
          <a:ln w="9525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ill_claims" descr="ill_claim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23463" y="1179576"/>
            <a:ext cx="841248" cy="84124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241383" y="2066543"/>
            <a:ext cx="1205407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0F4A2A"/>
                </a:solidFill>
                <a:latin typeface="Arial"/>
              </a:rPr>
              <a:t>Serial “not as described” claims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59671" y="2340864"/>
            <a:ext cx="1168831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20" b="0" i="0">
                <a:solidFill>
                  <a:srgbClr val="1C2330"/>
                </a:solidFill>
                <a:latin typeface="Calibri"/>
              </a:rPr>
              <a:t>Repeated “not as described” or “damaged” claims.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168231" y="1216152"/>
            <a:ext cx="0" cy="1435608"/>
          </a:xfrm>
          <a:prstGeom prst="line">
            <a:avLst/>
          </a:prstGeom>
          <a:ln w="9525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ill_reseller" descr="ill_reselle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75175" y="1179576"/>
            <a:ext cx="841248" cy="8412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593095" y="2066543"/>
            <a:ext cx="1205407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0F4A2A"/>
                </a:solidFill>
                <a:latin typeface="Arial"/>
              </a:rPr>
              <a:t>Organized reseller rings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11383" y="2340864"/>
            <a:ext cx="1168831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20" b="0" i="0">
                <a:solidFill>
                  <a:srgbClr val="1C2330"/>
                </a:solidFill>
                <a:latin typeface="Calibri"/>
              </a:rPr>
              <a:t>Groups abusing returns at scale, often to resell.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519943" y="1216152"/>
            <a:ext cx="0" cy="1435608"/>
          </a:xfrm>
          <a:prstGeom prst="line">
            <a:avLst/>
          </a:prstGeom>
          <a:ln w="9525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bar3"/>
          <p:cNvSpPr/>
          <p:nvPr/>
        </p:nvSpPr>
        <p:spPr>
          <a:xfrm>
            <a:off x="228600" y="2871216"/>
            <a:ext cx="6931152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83464" y="290779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784" y="2871216"/>
            <a:ext cx="184739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WHY TODAY’S APPROACH FAILS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14903" y="2944368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633775" y="2871216"/>
            <a:ext cx="44345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Manual, reactive and siloed — abuse is caught only after it repeats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8600" y="3191256"/>
            <a:ext cx="6931152" cy="1289304"/>
          </a:xfrm>
          <a:prstGeom prst="roundRect">
            <a:avLst>
              <a:gd name="adj" fmla="val 4964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3a"/>
          <p:cNvSpPr/>
          <p:nvPr/>
        </p:nvSpPr>
        <p:spPr>
          <a:xfrm>
            <a:off x="338328" y="3282696"/>
            <a:ext cx="2048256" cy="1106424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strip:Limited coverage"/>
          <p:cNvSpPr/>
          <p:nvPr/>
        </p:nvSpPr>
        <p:spPr>
          <a:xfrm>
            <a:off x="393192" y="3337560"/>
            <a:ext cx="1938528" cy="201168"/>
          </a:xfrm>
          <a:prstGeom prst="roundRect">
            <a:avLst>
              <a:gd name="adj" fmla="val 22727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6344" y="3337560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0F4A2A"/>
                </a:solidFill>
                <a:latin typeface="Arial"/>
              </a:rPr>
              <a:t>Limited coverage</a:t>
            </a:r>
          </a:p>
        </p:txBody>
      </p:sp>
      <p:pic>
        <p:nvPicPr>
          <p:cNvPr id="67" name="s1_team" descr="s1_team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9768" y="3630168"/>
            <a:ext cx="256032" cy="25603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58952" y="3593591"/>
            <a:ext cx="9875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19" b="1" i="0">
                <a:solidFill>
                  <a:srgbClr val="1C2330"/>
                </a:solidFill>
                <a:latin typeface="Calibri"/>
              </a:rPr>
              <a:t>12-person</a:t>
            </a:r>
          </a:p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Trust &amp; Safety team</a:t>
            </a:r>
          </a:p>
        </p:txBody>
      </p:sp>
      <p:pic>
        <p:nvPicPr>
          <p:cNvPr id="69" name="s1_docsearch" descr="s1_docsearch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9768" y="4032504"/>
            <a:ext cx="256032" cy="256032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758952" y="3977639"/>
            <a:ext cx="98755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19" b="1" i="0">
                <a:solidFill>
                  <a:srgbClr val="1C2330"/>
                </a:solidFill>
                <a:latin typeface="Calibri"/>
              </a:rPr>
              <a:t>Only </a:t>
            </a:r>
            <a:r>
              <a:rPr sz="819" b="1" i="0">
                <a:solidFill>
                  <a:srgbClr val="C9561A"/>
                </a:solidFill>
                <a:latin typeface="Calibri"/>
              </a:rPr>
              <a:t>~4%</a:t>
            </a:r>
            <a:r>
              <a:rPr sz="819" b="1" i="0">
                <a:solidFill>
                  <a:srgbClr val="1C2330"/>
                </a:solidFill>
                <a:latin typeface="Calibri"/>
              </a:rPr>
              <a:t> reviewed</a:t>
            </a:r>
          </a:p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of all returns,</a:t>
            </a:r>
          </a:p>
          <a:p>
            <a:pPr algn="l"/>
            <a:r>
              <a:rPr sz="720" b="0" i="0">
                <a:solidFill>
                  <a:srgbClr val="4A5260"/>
                </a:solidFill>
                <a:latin typeface="Calibri"/>
              </a:rPr>
              <a:t>close to at random</a:t>
            </a:r>
          </a:p>
        </p:txBody>
      </p:sp>
      <p:pic>
        <p:nvPicPr>
          <p:cNvPr id="71" name="funnel" descr="funne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26021" y="3611879"/>
            <a:ext cx="495970" cy="5486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616293" y="4197096"/>
            <a:ext cx="715426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20" b="1" i="0">
                <a:solidFill>
                  <a:srgbClr val="4A5260"/>
                </a:solidFill>
                <a:latin typeface="Calibri"/>
              </a:rPr>
              <a:t>96% </a:t>
            </a:r>
            <a:r>
              <a:rPr sz="720" b="0" i="0">
                <a:solidFill>
                  <a:srgbClr val="4A5260"/>
                </a:solidFill>
                <a:latin typeface="Calibri"/>
              </a:rPr>
              <a:t>/ </a:t>
            </a:r>
            <a:r>
              <a:rPr sz="720" b="1" i="0">
                <a:solidFill>
                  <a:srgbClr val="C9561A"/>
                </a:solidFill>
                <a:latin typeface="Calibri"/>
              </a:rPr>
              <a:t>4%</a:t>
            </a:r>
          </a:p>
        </p:txBody>
      </p:sp>
      <p:sp>
        <p:nvSpPr>
          <p:cNvPr id="73" name="3b"/>
          <p:cNvSpPr/>
          <p:nvPr/>
        </p:nvSpPr>
        <p:spPr>
          <a:xfrm>
            <a:off x="2478024" y="3282696"/>
            <a:ext cx="2596896" cy="1106424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strip:Late detection"/>
          <p:cNvSpPr/>
          <p:nvPr/>
        </p:nvSpPr>
        <p:spPr>
          <a:xfrm>
            <a:off x="2532888" y="3337560"/>
            <a:ext cx="2487168" cy="201168"/>
          </a:xfrm>
          <a:prstGeom prst="roundRect">
            <a:avLst>
              <a:gd name="adj" fmla="val 22727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606040" y="3337560"/>
            <a:ext cx="2359151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0F4A2A"/>
                </a:solidFill>
                <a:latin typeface="Arial"/>
              </a:rPr>
              <a:t>Late detection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87752" y="3584448"/>
            <a:ext cx="237743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An abusive account typically completes </a:t>
            </a:r>
            <a:r>
              <a:rPr sz="720" b="1" i="0">
                <a:solidFill>
                  <a:srgbClr val="1C2330"/>
                </a:solidFill>
                <a:latin typeface="Calibri"/>
              </a:rPr>
              <a:t>6 full return cycles</a:t>
            </a:r>
            <a:r>
              <a:rPr sz="720" b="0" i="0">
                <a:solidFill>
                  <a:srgbClr val="1C2330"/>
                </a:solidFill>
                <a:latin typeface="Calibri"/>
              </a:rPr>
              <a:t> before anything flags it — each one a fully absorbed loss.</a:t>
            </a:r>
          </a:p>
        </p:txBody>
      </p:sp>
      <p:pic>
        <p:nvPicPr>
          <p:cNvPr id="77" name="cycle_box" descr="cycle_box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76144" y="3931920"/>
            <a:ext cx="219456" cy="21945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2606040" y="4151376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Cycle 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040" y="4251960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1" i="0">
                <a:solidFill>
                  <a:srgbClr val="C9561A"/>
                </a:solidFill>
                <a:latin typeface="Calibri"/>
              </a:rPr>
              <a:t>Loss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923032" y="4041648"/>
            <a:ext cx="121920" cy="0"/>
          </a:xfrm>
          <a:prstGeom prst="line">
            <a:avLst/>
          </a:prstGeom>
          <a:ln w="1270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cycle_box" descr="cycle_box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72384" y="3931920"/>
            <a:ext cx="219456" cy="21945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002280" y="4151376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Cycle 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02280" y="4251960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1" i="0">
                <a:solidFill>
                  <a:srgbClr val="C9561A"/>
                </a:solidFill>
                <a:latin typeface="Calibri"/>
              </a:rPr>
              <a:t>Loss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319272" y="4041648"/>
            <a:ext cx="121920" cy="0"/>
          </a:xfrm>
          <a:prstGeom prst="line">
            <a:avLst/>
          </a:prstGeom>
          <a:ln w="1270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5" name="cycle_box" descr="cycle_box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68624" y="3931920"/>
            <a:ext cx="219456" cy="219456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3398520" y="4151376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Cycle 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98520" y="4251960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1" i="0">
                <a:solidFill>
                  <a:srgbClr val="C9561A"/>
                </a:solidFill>
                <a:latin typeface="Calibri"/>
              </a:rPr>
              <a:t>Loss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715512" y="4041648"/>
            <a:ext cx="121920" cy="0"/>
          </a:xfrm>
          <a:prstGeom prst="line">
            <a:avLst/>
          </a:prstGeom>
          <a:ln w="1270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cycle_box" descr="cycle_box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64864" y="3931920"/>
            <a:ext cx="219456" cy="219456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794760" y="4151376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Cycle 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94760" y="4251960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1" i="0">
                <a:solidFill>
                  <a:srgbClr val="C9561A"/>
                </a:solidFill>
                <a:latin typeface="Calibri"/>
              </a:rPr>
              <a:t>Loss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111752" y="4041648"/>
            <a:ext cx="121920" cy="0"/>
          </a:xfrm>
          <a:prstGeom prst="line">
            <a:avLst/>
          </a:prstGeom>
          <a:ln w="1270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3" name="cycle_box" descr="cycle_box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61104" y="3931920"/>
            <a:ext cx="219456" cy="21945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4190999" y="4151376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Cycle 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90999" y="4251960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1" i="0">
                <a:solidFill>
                  <a:srgbClr val="C9561A"/>
                </a:solidFill>
                <a:latin typeface="Calibri"/>
              </a:rPr>
              <a:t>Loss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507992" y="4041648"/>
            <a:ext cx="121920" cy="0"/>
          </a:xfrm>
          <a:prstGeom prst="line">
            <a:avLst/>
          </a:prstGeom>
          <a:ln w="1270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cycle_box" descr="cycle_box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57344" y="3931920"/>
            <a:ext cx="219456" cy="219456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4587240" y="4151376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Cycle 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87240" y="4251960"/>
            <a:ext cx="35966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1" i="0">
                <a:solidFill>
                  <a:srgbClr val="C9561A"/>
                </a:solidFill>
                <a:latin typeface="Calibri"/>
              </a:rPr>
              <a:t>Loss</a:t>
            </a:r>
          </a:p>
        </p:txBody>
      </p:sp>
      <p:sp>
        <p:nvSpPr>
          <p:cNvPr id="100" name="3c"/>
          <p:cNvSpPr/>
          <p:nvPr/>
        </p:nvSpPr>
        <p:spPr>
          <a:xfrm>
            <a:off x="5166360" y="3282696"/>
            <a:ext cx="1883663" cy="1106424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strip:Reactive and outdated"/>
          <p:cNvSpPr/>
          <p:nvPr/>
        </p:nvSpPr>
        <p:spPr>
          <a:xfrm>
            <a:off x="5221224" y="3337560"/>
            <a:ext cx="1773935" cy="201168"/>
          </a:xfrm>
          <a:prstGeom prst="roundRect">
            <a:avLst>
              <a:gd name="adj" fmla="val 22727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294376" y="3337560"/>
            <a:ext cx="164591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0F4A2A"/>
                </a:solidFill>
                <a:latin typeface="Arial"/>
              </a:rPr>
              <a:t>Reactive and outdated</a:t>
            </a:r>
          </a:p>
        </p:txBody>
      </p:sp>
      <p:pic>
        <p:nvPicPr>
          <p:cNvPr id="103" name="s1_gear" descr="s1_gear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57800" y="3648456"/>
            <a:ext cx="256032" cy="256032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5586984" y="3584448"/>
            <a:ext cx="138988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Static rules catch last month’s patterns; abusers adapt within weeks.</a:t>
            </a:r>
          </a:p>
        </p:txBody>
      </p:sp>
      <p:pic>
        <p:nvPicPr>
          <p:cNvPr id="105" name="s1_hacker" descr="s1_hacker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57800" y="4041648"/>
            <a:ext cx="256032" cy="256032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586984" y="3977639"/>
            <a:ext cx="138988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A stricter rule can’t tell a wardrobing ring from an unlucky first-time shopper.</a:t>
            </a:r>
          </a:p>
        </p:txBody>
      </p:sp>
      <p:sp>
        <p:nvSpPr>
          <p:cNvPr id="107" name="bar4"/>
          <p:cNvSpPr/>
          <p:nvPr/>
        </p:nvSpPr>
        <p:spPr>
          <a:xfrm>
            <a:off x="7251192" y="2871216"/>
            <a:ext cx="4711903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306055" y="290779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580375" y="2871216"/>
            <a:ext cx="265777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TECHNICAL CONTEXT: FRAGMENTED SIGNALS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347882" y="2944368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466754" y="2871216"/>
            <a:ext cx="14049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Signals exist, but are not joined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251192" y="3191256"/>
            <a:ext cx="4711903" cy="1289304"/>
          </a:xfrm>
          <a:prstGeom prst="roundRect">
            <a:avLst>
              <a:gd name="adj" fmla="val 4964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sys0"/>
          <p:cNvSpPr/>
          <p:nvPr/>
        </p:nvSpPr>
        <p:spPr>
          <a:xfrm>
            <a:off x="7360919" y="3282696"/>
            <a:ext cx="1068247" cy="804672"/>
          </a:xfrm>
          <a:prstGeom prst="roundRect">
            <a:avLst>
              <a:gd name="adj" fmla="val 6818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4" name="fs_cart" descr="fs_cart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34071" y="3346703"/>
            <a:ext cx="237744" cy="237744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7726679" y="3328415"/>
            <a:ext cx="65676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Order management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52359" y="3666744"/>
            <a:ext cx="93108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Order history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Items, behaviour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Return history</a:t>
            </a:r>
          </a:p>
        </p:txBody>
      </p:sp>
      <p:sp>
        <p:nvSpPr>
          <p:cNvPr id="117" name="sys1"/>
          <p:cNvSpPr/>
          <p:nvPr/>
        </p:nvSpPr>
        <p:spPr>
          <a:xfrm>
            <a:off x="8502319" y="3282696"/>
            <a:ext cx="1068247" cy="804672"/>
          </a:xfrm>
          <a:prstGeom prst="roundRect">
            <a:avLst>
              <a:gd name="adj" fmla="val 6818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8" name="fs_card" descr="fs_car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75471" y="3346703"/>
            <a:ext cx="237744" cy="237744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8868079" y="3328415"/>
            <a:ext cx="65676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Payments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593759" y="3666744"/>
            <a:ext cx="93108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Refunds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Payment methods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Chargebacks</a:t>
            </a:r>
          </a:p>
        </p:txBody>
      </p:sp>
      <p:sp>
        <p:nvSpPr>
          <p:cNvPr id="121" name="sys2"/>
          <p:cNvSpPr/>
          <p:nvPr/>
        </p:nvSpPr>
        <p:spPr>
          <a:xfrm>
            <a:off x="9643719" y="3282696"/>
            <a:ext cx="1068247" cy="804672"/>
          </a:xfrm>
          <a:prstGeom prst="roundRect">
            <a:avLst>
              <a:gd name="adj" fmla="val 6818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2" name="fs_chat" descr="fs_chat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16871" y="3346703"/>
            <a:ext cx="237744" cy="237744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10009479" y="3328415"/>
            <a:ext cx="65676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Customer support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735159" y="3666744"/>
            <a:ext cx="93108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Chat transcripts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Complaints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Claim patterns</a:t>
            </a:r>
          </a:p>
        </p:txBody>
      </p:sp>
      <p:sp>
        <p:nvSpPr>
          <p:cNvPr id="125" name="sys3"/>
          <p:cNvSpPr/>
          <p:nvPr/>
        </p:nvSpPr>
        <p:spPr>
          <a:xfrm>
            <a:off x="10785119" y="3282696"/>
            <a:ext cx="1068247" cy="804672"/>
          </a:xfrm>
          <a:prstGeom prst="roundRect">
            <a:avLst>
              <a:gd name="adj" fmla="val 6818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6" name="fs_truck" descr="fs_truck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58271" y="3346703"/>
            <a:ext cx="237744" cy="237744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1150879" y="3328415"/>
            <a:ext cx="65676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Carrier tracking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876559" y="3666744"/>
            <a:ext cx="93108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Shipment status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Return scans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Delivery exceptions</a:t>
            </a:r>
          </a:p>
        </p:txBody>
      </p:sp>
      <p:sp>
        <p:nvSpPr>
          <p:cNvPr id="129" name="silo strip"/>
          <p:cNvSpPr/>
          <p:nvPr/>
        </p:nvSpPr>
        <p:spPr>
          <a:xfrm>
            <a:off x="7360919" y="4160520"/>
            <a:ext cx="4492447" cy="228600"/>
          </a:xfrm>
          <a:prstGeom prst="roundRect">
            <a:avLst>
              <a:gd name="adj" fmla="val 23999"/>
            </a:avLst>
          </a:prstGeom>
          <a:solidFill>
            <a:srgbClr val="FEF4EC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0" name="fs_link" descr="fs_link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34071" y="4192524"/>
            <a:ext cx="164592" cy="164592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7662671" y="4160520"/>
            <a:ext cx="1763978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C9561A"/>
                </a:solidFill>
                <a:latin typeface="Calibri"/>
              </a:rPr>
              <a:t>No correlation across systems</a:t>
            </a:r>
          </a:p>
        </p:txBody>
      </p:sp>
      <p:sp>
        <p:nvSpPr>
          <p:cNvPr id="132" name="Oval 131"/>
          <p:cNvSpPr/>
          <p:nvPr/>
        </p:nvSpPr>
        <p:spPr>
          <a:xfrm>
            <a:off x="9426650" y="4192524"/>
            <a:ext cx="164592" cy="164592"/>
          </a:xfrm>
          <a:prstGeom prst="ellipse">
            <a:avLst/>
          </a:prstGeom>
          <a:solidFill>
            <a:srgbClr val="C9561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Freeform 132"/>
          <p:cNvSpPr/>
          <p:nvPr/>
        </p:nvSpPr>
        <p:spPr>
          <a:xfrm>
            <a:off x="9471090" y="4240255"/>
            <a:ext cx="92171" cy="69129"/>
          </a:xfrm>
          <a:custGeom>
            <a:avLst/>
            <a:gdLst/>
            <a:ahLst/>
            <a:cxnLst/>
            <a:rect l="l" t="t" r="r" b="b"/>
            <a:pathLst>
              <a:path w="92171" h="69129">
                <a:moveTo>
                  <a:pt x="92171" y="34565"/>
                </a:moveTo>
                <a:lnTo>
                  <a:pt x="0" y="69129"/>
                </a:lnTo>
                <a:lnTo>
                  <a:pt x="27651" y="345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9655250" y="4160520"/>
            <a:ext cx="2124965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C9561A"/>
                </a:solidFill>
                <a:latin typeface="Calibri"/>
              </a:rPr>
              <a:t>Emerging patterns go unseen in real time</a:t>
            </a:r>
          </a:p>
        </p:txBody>
      </p:sp>
      <p:sp>
        <p:nvSpPr>
          <p:cNvPr id="135" name="bar5"/>
          <p:cNvSpPr/>
          <p:nvPr/>
        </p:nvSpPr>
        <p:spPr>
          <a:xfrm>
            <a:off x="228600" y="4572000"/>
            <a:ext cx="5614416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283464" y="4608576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7784" y="4572000"/>
            <a:ext cx="85657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ROOT CAUSES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524083" y="4645152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642955" y="4572000"/>
            <a:ext cx="41086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Why abuse is increasing and hard to catch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28600" y="4892040"/>
            <a:ext cx="5614416" cy="1252728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1" name="rc_growth" descr="rc_growth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5177" y="4974336"/>
            <a:ext cx="256032" cy="256032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384048" y="5276088"/>
            <a:ext cx="958291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Multiple, evolving abuse patterns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4048" y="5541264"/>
            <a:ext cx="9582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Wardrobing, no-return refunds, serial disputes and reseller rings each leave different signals.</a:t>
            </a:r>
          </a:p>
        </p:txBody>
      </p:sp>
      <p:pic>
        <p:nvPicPr>
          <p:cNvPr id="144" name="rc_db" descr="rc_db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21484" y="4974336"/>
            <a:ext cx="256032" cy="256032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470355" y="5276088"/>
            <a:ext cx="958291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Siloed data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70355" y="5541264"/>
            <a:ext cx="9582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Signals are scattered across orders, payments, support chats and carrier tracking.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1406347" y="5001768"/>
            <a:ext cx="0" cy="1033272"/>
          </a:xfrm>
          <a:prstGeom prst="line">
            <a:avLst/>
          </a:prstGeom>
          <a:ln w="9525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8" name="rc_gear" descr="rc_gear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907791" y="4974336"/>
            <a:ext cx="256032" cy="256032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2556662" y="5276088"/>
            <a:ext cx="958291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Static rules get outdated quickly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556662" y="5541264"/>
            <a:ext cx="9582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Once abusers notice a detection heuristic, they adapt within weeks.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2492654" y="5001768"/>
            <a:ext cx="0" cy="1033272"/>
          </a:xfrm>
          <a:prstGeom prst="line">
            <a:avLst/>
          </a:prstGeom>
          <a:ln w="9525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2" name="rc_people" descr="rc_peopl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994099" y="4974336"/>
            <a:ext cx="256032" cy="256032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3642969" y="5276088"/>
            <a:ext cx="958291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False positives carry brand cost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642969" y="5541264"/>
            <a:ext cx="9582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Wrongly flagging genuine customers hurts trust and repeat purchases.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3578961" y="5001768"/>
            <a:ext cx="0" cy="1033272"/>
          </a:xfrm>
          <a:prstGeom prst="line">
            <a:avLst/>
          </a:prstGeom>
          <a:ln w="9525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6" name="rc_shield" descr="rc_shiel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080406" y="4974336"/>
            <a:ext cx="256032" cy="256032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4729276" y="5276088"/>
            <a:ext cx="958291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Compliance and explainability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729276" y="5541264"/>
            <a:ext cx="9582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Must avoid bias, withstand scrutiny and give analysts explainable actions.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4665268" y="5001768"/>
            <a:ext cx="0" cy="1033272"/>
          </a:xfrm>
          <a:prstGeom prst="line">
            <a:avLst/>
          </a:prstGeom>
          <a:ln w="9525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bar6"/>
          <p:cNvSpPr/>
          <p:nvPr/>
        </p:nvSpPr>
        <p:spPr>
          <a:xfrm>
            <a:off x="5934455" y="4572000"/>
            <a:ext cx="6028639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5989319" y="4608576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263640" y="4572000"/>
            <a:ext cx="9877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COSTS &amp; IMPACT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361080" y="4645152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7479952" y="4572000"/>
            <a:ext cx="439170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Direct financial losses plus customer and brand costs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934455" y="4892040"/>
            <a:ext cx="6028639" cy="1252728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grp:Impact on the business"/>
          <p:cNvSpPr/>
          <p:nvPr/>
        </p:nvSpPr>
        <p:spPr>
          <a:xfrm>
            <a:off x="6044183" y="4983479"/>
            <a:ext cx="345643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strip:Impact on the business"/>
          <p:cNvSpPr/>
          <p:nvPr/>
        </p:nvSpPr>
        <p:spPr>
          <a:xfrm>
            <a:off x="6099047" y="5038343"/>
            <a:ext cx="3346703" cy="201168"/>
          </a:xfrm>
          <a:prstGeom prst="roundRect">
            <a:avLst>
              <a:gd name="adj" fmla="val 22727"/>
            </a:avLst>
          </a:prstGeom>
          <a:solidFill>
            <a:srgbClr val="FE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172199" y="5038343"/>
            <a:ext cx="3218687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C9561A"/>
                </a:solidFill>
                <a:latin typeface="Arial"/>
              </a:rPr>
              <a:t>Impact on the business</a:t>
            </a:r>
          </a:p>
        </p:txBody>
      </p:sp>
      <p:sp>
        <p:nvSpPr>
          <p:cNvPr id="169" name="grp:Impact on honest customers"/>
          <p:cNvSpPr/>
          <p:nvPr/>
        </p:nvSpPr>
        <p:spPr>
          <a:xfrm>
            <a:off x="9592055" y="4983479"/>
            <a:ext cx="2261311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strip:Impact on honest customers"/>
          <p:cNvSpPr/>
          <p:nvPr/>
        </p:nvSpPr>
        <p:spPr>
          <a:xfrm>
            <a:off x="9646919" y="5038343"/>
            <a:ext cx="2151583" cy="201168"/>
          </a:xfrm>
          <a:prstGeom prst="roundRect">
            <a:avLst>
              <a:gd name="adj" fmla="val 22727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9720072" y="5038343"/>
            <a:ext cx="2023567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0F4A2A"/>
                </a:solidFill>
                <a:latin typeface="Arial"/>
              </a:rPr>
              <a:t>Impact on honest customers</a:t>
            </a:r>
          </a:p>
        </p:txBody>
      </p:sp>
      <p:pic>
        <p:nvPicPr>
          <p:cNvPr id="172" name="ci_money" descr="ci_money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135623" y="5321807"/>
            <a:ext cx="219456" cy="219456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428231" y="52852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C9561A"/>
                </a:solidFill>
                <a:latin typeface="Calibri"/>
              </a:rPr>
              <a:t>2.3%</a:t>
            </a:r>
            <a:r>
              <a:rPr sz="680" b="0" i="0">
                <a:solidFill>
                  <a:srgbClr val="1C2330"/>
                </a:solidFill>
                <a:latin typeface="Calibri"/>
              </a:rPr>
              <a:t> of shoppers drive ~38% of losses from items never returned</a:t>
            </a:r>
          </a:p>
        </p:txBody>
      </p:sp>
      <p:pic>
        <p:nvPicPr>
          <p:cNvPr id="174" name="ci_sync" descr="ci_sync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4695" y="5321807"/>
            <a:ext cx="219456" cy="219456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8147303" y="52852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C9561A"/>
                </a:solidFill>
                <a:latin typeface="Calibri"/>
              </a:rPr>
              <a:t>6</a:t>
            </a:r>
            <a:r>
              <a:rPr sz="680" b="0" i="0">
                <a:solidFill>
                  <a:srgbClr val="1C2330"/>
                </a:solidFill>
                <a:latin typeface="Calibri"/>
              </a:rPr>
              <a:t> loss-making return cycles per abusive account before it is flagged</a:t>
            </a:r>
          </a:p>
        </p:txBody>
      </p:sp>
      <p:pic>
        <p:nvPicPr>
          <p:cNvPr id="176" name="ci_chart" descr="ci_chart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135623" y="5705855"/>
            <a:ext cx="219456" cy="219456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6428231" y="5669279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C9561A"/>
                </a:solidFill>
                <a:latin typeface="Arial"/>
              </a:rPr>
              <a:t>Unquantified losses</a:t>
            </a:r>
            <a:r>
              <a:rPr sz="680" b="0" i="0">
                <a:solidFill>
                  <a:srgbClr val="1C2330"/>
                </a:solidFill>
                <a:latin typeface="Calibri"/>
              </a:rPr>
              <a:t> across refunds, reverse logistics and operations</a:t>
            </a:r>
          </a:p>
        </p:txBody>
      </p:sp>
      <p:pic>
        <p:nvPicPr>
          <p:cNvPr id="178" name="ci_mega" descr="ci_mega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854695" y="5705855"/>
            <a:ext cx="219456" cy="219456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8147303" y="5669279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C9561A"/>
                </a:solidFill>
                <a:latin typeface="Arial"/>
              </a:rPr>
              <a:t>Rising escalations</a:t>
            </a:r>
            <a:r>
              <a:rPr sz="680" b="0" i="0">
                <a:solidFill>
                  <a:srgbClr val="1C2330"/>
                </a:solidFill>
                <a:latin typeface="Calibri"/>
              </a:rPr>
              <a:t> as wrongful bans and abuse threaten the promise</a:t>
            </a:r>
          </a:p>
        </p:txBody>
      </p:sp>
      <p:pic>
        <p:nvPicPr>
          <p:cNvPr id="180" name="ci_sad" descr="ci_sa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683495" y="5297424"/>
            <a:ext cx="201168" cy="201168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9957815" y="5285231"/>
            <a:ext cx="1822399" cy="2255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0F4A2A"/>
                </a:solidFill>
                <a:latin typeface="Arial"/>
              </a:rPr>
              <a:t>Wrongful bans</a:t>
            </a:r>
            <a:r>
              <a:rPr sz="680" b="0" i="0">
                <a:solidFill>
                  <a:srgbClr val="1C2330"/>
                </a:solidFill>
                <a:latin typeface="Calibri"/>
              </a:rPr>
              <a:t> — loss of access despite genuine behaviour</a:t>
            </a:r>
          </a:p>
        </p:txBody>
      </p:sp>
      <p:pic>
        <p:nvPicPr>
          <p:cNvPr id="182" name="ci_clock" descr="ci_clock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83495" y="5541264"/>
            <a:ext cx="201168" cy="201168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9957815" y="5529071"/>
            <a:ext cx="1822399" cy="2255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0F4A2A"/>
                </a:solidFill>
                <a:latin typeface="Arial"/>
              </a:rPr>
              <a:t>Poor experience</a:t>
            </a:r>
            <a:r>
              <a:rPr sz="680" b="0" i="0">
                <a:solidFill>
                  <a:srgbClr val="1C2330"/>
                </a:solidFill>
                <a:latin typeface="Calibri"/>
              </a:rPr>
              <a:t> — refund delays from manual reviews</a:t>
            </a:r>
          </a:p>
        </p:txBody>
      </p:sp>
      <p:pic>
        <p:nvPicPr>
          <p:cNvPr id="184" name="ci_heart" descr="ci_heart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683495" y="5785104"/>
            <a:ext cx="201168" cy="201168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9957815" y="5772911"/>
            <a:ext cx="1822399" cy="2255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0F4A2A"/>
                </a:solidFill>
                <a:latin typeface="Arial"/>
              </a:rPr>
              <a:t>Erosion of trust</a:t>
            </a:r>
            <a:r>
              <a:rPr sz="680" b="0" i="0">
                <a:solidFill>
                  <a:srgbClr val="1C2330"/>
                </a:solidFill>
                <a:latin typeface="Calibri"/>
              </a:rPr>
              <a:t> — undermines the promise that drives growth</a:t>
            </a:r>
          </a:p>
        </p:txBody>
      </p:sp>
      <p:sp>
        <p:nvSpPr>
          <p:cNvPr id="186" name="core problem"/>
          <p:cNvSpPr/>
          <p:nvPr/>
        </p:nvSpPr>
        <p:spPr>
          <a:xfrm>
            <a:off x="228600" y="6236207"/>
            <a:ext cx="11734495" cy="438912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7" name="bulb" descr="bulb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56616" y="6318503"/>
            <a:ext cx="274320" cy="274320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722376" y="6236207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1" i="0" dirty="0">
                <a:solidFill>
                  <a:srgbClr val="FFFFFF"/>
                </a:solidFill>
                <a:latin typeface="Arial"/>
              </a:rPr>
              <a:t>THE CORE PROBLEM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194560" y="6327647"/>
            <a:ext cx="10972" cy="256032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2331720" y="6236207"/>
            <a:ext cx="9494215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60" b="0" i="0" dirty="0">
                <a:solidFill>
                  <a:srgbClr val="FFFFFF"/>
                </a:solidFill>
                <a:latin typeface="Calibri"/>
              </a:rPr>
              <a:t>Northfield needs a system that continuously spots emerging abuse patterns and recommends an action — a hold, a review or a policy nudge —</a:t>
            </a:r>
          </a:p>
          <a:p>
            <a:pPr algn="l"/>
            <a:r>
              <a:rPr sz="960" b="0" i="0" dirty="0">
                <a:solidFill>
                  <a:srgbClr val="FFFFFF"/>
                </a:solidFill>
                <a:latin typeface="Calibri"/>
              </a:rPr>
              <a:t>before serial abuse compounds, </a:t>
            </a:r>
            <a:r>
              <a:rPr sz="960" b="1" i="0" dirty="0">
                <a:solidFill>
                  <a:srgbClr val="FFB37A"/>
                </a:solidFill>
                <a:latin typeface="Calibri"/>
              </a:rPr>
              <a:t>without penalizing honest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Deloitte logo" descr="deloitt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1511595" cy="292608"/>
          </a:xfrm>
          <a:prstGeom prst="rect">
            <a:avLst/>
          </a:prstGeom>
        </p:spPr>
      </p:pic>
      <p:pic>
        <p:nvPicPr>
          <p:cNvPr id="4" name="HashedIn logo" descr="hashedin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7215" y="214884"/>
            <a:ext cx="1425879" cy="246888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2194560" y="91440"/>
            <a:ext cx="7802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7A35"/>
                </a:solidFill>
                <a:latin typeface="Arial"/>
              </a:rPr>
              <a:t>Northfield Retail</a:t>
            </a:r>
            <a:r>
              <a:rPr sz="2000" b="1" i="0">
                <a:solidFill>
                  <a:srgbClr val="7A8494"/>
                </a:solidFill>
                <a:latin typeface="Arial"/>
              </a:rPr>
              <a:t>  |  </a:t>
            </a:r>
            <a:r>
              <a:rPr sz="2000" b="1" i="0">
                <a:solidFill>
                  <a:srgbClr val="0F3D28"/>
                </a:solidFill>
                <a:latin typeface="Arial"/>
              </a:rPr>
              <a:t>Returns Integrity Ecosystem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1828800" y="429768"/>
            <a:ext cx="8534095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0" i="0">
                <a:solidFill>
                  <a:srgbClr val="3A4250"/>
                </a:solidFill>
                <a:latin typeface="Calibri"/>
              </a:rPr>
              <a:t>A connected view of people, workflows and systems to detect returns abuse early and protect the free-returns promise.</a:t>
            </a:r>
          </a:p>
        </p:txBody>
      </p:sp>
      <p:sp>
        <p:nvSpPr>
          <p:cNvPr id="7" name="bar1"/>
          <p:cNvSpPr/>
          <p:nvPr/>
        </p:nvSpPr>
        <p:spPr>
          <a:xfrm>
            <a:off x="228600" y="768096"/>
            <a:ext cx="11734495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3464" y="80467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768096"/>
            <a:ext cx="190229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END-TO-END RETURNS JOURNEY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9803" y="841247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88675" y="768096"/>
            <a:ext cx="918297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Many teams and systems are involved — gaps in visibility and disconnected data let abuse slip through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1088136"/>
            <a:ext cx="11734495" cy="813816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:Purchase"/>
          <p:cNvSpPr/>
          <p:nvPr/>
        </p:nvSpPr>
        <p:spPr>
          <a:xfrm>
            <a:off x="320040" y="1161288"/>
            <a:ext cx="1727149" cy="667512"/>
          </a:xfrm>
          <a:prstGeom prst="roundRect">
            <a:avLst>
              <a:gd name="adj" fmla="val 9589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isc"/>
          <p:cNvSpPr/>
          <p:nvPr/>
        </p:nvSpPr>
        <p:spPr>
          <a:xfrm>
            <a:off x="429768" y="12664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w00" descr="w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367028"/>
            <a:ext cx="256032" cy="25603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374904" y="1220724"/>
            <a:ext cx="182880" cy="182880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" y="1216152"/>
            <a:ext cx="977341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i="0">
                <a:solidFill>
                  <a:srgbClr val="0F4A2A"/>
                </a:solidFill>
                <a:latin typeface="Arial"/>
              </a:rPr>
              <a:t>Purchase</a:t>
            </a:r>
          </a:p>
          <a:p>
            <a:pPr algn="l">
              <a:spcBef>
                <a:spcPts val="200"/>
              </a:spcBef>
            </a:pPr>
            <a:r>
              <a:rPr sz="700" b="0" i="0">
                <a:solidFill>
                  <a:srgbClr val="4A5260"/>
                </a:solidFill>
                <a:latin typeface="Calibri"/>
              </a:rPr>
              <a:t>Customer buys an item</a:t>
            </a:r>
          </a:p>
        </p:txBody>
      </p:sp>
      <p:sp>
        <p:nvSpPr>
          <p:cNvPr id="18" name="Oval 17"/>
          <p:cNvSpPr/>
          <p:nvPr/>
        </p:nvSpPr>
        <p:spPr>
          <a:xfrm>
            <a:off x="2074621" y="1403604"/>
            <a:ext cx="182880" cy="182880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2123998" y="1456639"/>
            <a:ext cx="102413" cy="76809"/>
          </a:xfrm>
          <a:custGeom>
            <a:avLst/>
            <a:gdLst/>
            <a:ahLst/>
            <a:cxnLst/>
            <a:rect l="l" t="t" r="r" b="b"/>
            <a:pathLst>
              <a:path w="102413" h="76809">
                <a:moveTo>
                  <a:pt x="102413" y="38405"/>
                </a:moveTo>
                <a:lnTo>
                  <a:pt x="0" y="76809"/>
                </a:lnTo>
                <a:lnTo>
                  <a:pt x="30724" y="384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tep:Return request"/>
          <p:cNvSpPr/>
          <p:nvPr/>
        </p:nvSpPr>
        <p:spPr>
          <a:xfrm>
            <a:off x="2284933" y="1161288"/>
            <a:ext cx="1727149" cy="667512"/>
          </a:xfrm>
          <a:prstGeom prst="roundRect">
            <a:avLst>
              <a:gd name="adj" fmla="val 9589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isc"/>
          <p:cNvSpPr/>
          <p:nvPr/>
        </p:nvSpPr>
        <p:spPr>
          <a:xfrm>
            <a:off x="2394661" y="12664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w01" descr="w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5245" y="1367028"/>
            <a:ext cx="256032" cy="256032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339797" y="1220724"/>
            <a:ext cx="182880" cy="182880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1589" y="1216152"/>
            <a:ext cx="977341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i="0">
                <a:solidFill>
                  <a:srgbClr val="0F4A2A"/>
                </a:solidFill>
                <a:latin typeface="Arial"/>
              </a:rPr>
              <a:t>Return request</a:t>
            </a:r>
          </a:p>
          <a:p>
            <a:pPr algn="l">
              <a:spcBef>
                <a:spcPts val="200"/>
              </a:spcBef>
            </a:pPr>
            <a:r>
              <a:rPr sz="700" b="0" i="0">
                <a:solidFill>
                  <a:srgbClr val="4A5260"/>
                </a:solidFill>
                <a:latin typeface="Calibri"/>
              </a:rPr>
              <a:t>Customer starts a return</a:t>
            </a:r>
          </a:p>
        </p:txBody>
      </p:sp>
      <p:sp>
        <p:nvSpPr>
          <p:cNvPr id="25" name="Oval 24"/>
          <p:cNvSpPr/>
          <p:nvPr/>
        </p:nvSpPr>
        <p:spPr>
          <a:xfrm>
            <a:off x="4039514" y="1403604"/>
            <a:ext cx="182880" cy="182880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4088891" y="1456639"/>
            <a:ext cx="102413" cy="76809"/>
          </a:xfrm>
          <a:custGeom>
            <a:avLst/>
            <a:gdLst/>
            <a:ahLst/>
            <a:cxnLst/>
            <a:rect l="l" t="t" r="r" b="b"/>
            <a:pathLst>
              <a:path w="102413" h="76809">
                <a:moveTo>
                  <a:pt x="102413" y="38405"/>
                </a:moveTo>
                <a:lnTo>
                  <a:pt x="0" y="76809"/>
                </a:lnTo>
                <a:lnTo>
                  <a:pt x="30724" y="384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step:Shipment &amp; tracking"/>
          <p:cNvSpPr/>
          <p:nvPr/>
        </p:nvSpPr>
        <p:spPr>
          <a:xfrm>
            <a:off x="4249826" y="1161288"/>
            <a:ext cx="1727149" cy="667512"/>
          </a:xfrm>
          <a:prstGeom prst="roundRect">
            <a:avLst>
              <a:gd name="adj" fmla="val 9589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isc"/>
          <p:cNvSpPr/>
          <p:nvPr/>
        </p:nvSpPr>
        <p:spPr>
          <a:xfrm>
            <a:off x="4359554" y="12664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sys3" descr="sy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0138" y="1367028"/>
            <a:ext cx="256032" cy="256032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4304690" y="1220724"/>
            <a:ext cx="182880" cy="182880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6482" y="1216152"/>
            <a:ext cx="977341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i="0">
                <a:solidFill>
                  <a:srgbClr val="0F4A2A"/>
                </a:solidFill>
                <a:latin typeface="Arial"/>
              </a:rPr>
              <a:t>Shipment &amp; tracking</a:t>
            </a:r>
          </a:p>
          <a:p>
            <a:pPr algn="l">
              <a:spcBef>
                <a:spcPts val="200"/>
              </a:spcBef>
            </a:pPr>
            <a:r>
              <a:rPr sz="700" b="0" i="0">
                <a:solidFill>
                  <a:srgbClr val="4A5260"/>
                </a:solidFill>
                <a:latin typeface="Calibri"/>
              </a:rPr>
              <a:t>Item shipped via carrier</a:t>
            </a:r>
          </a:p>
        </p:txBody>
      </p:sp>
      <p:sp>
        <p:nvSpPr>
          <p:cNvPr id="32" name="Oval 31"/>
          <p:cNvSpPr/>
          <p:nvPr/>
        </p:nvSpPr>
        <p:spPr>
          <a:xfrm>
            <a:off x="6004407" y="1403604"/>
            <a:ext cx="182880" cy="182880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6053785" y="1456639"/>
            <a:ext cx="102412" cy="76809"/>
          </a:xfrm>
          <a:custGeom>
            <a:avLst/>
            <a:gdLst/>
            <a:ahLst/>
            <a:cxnLst/>
            <a:rect l="l" t="t" r="r" b="b"/>
            <a:pathLst>
              <a:path w="102412" h="76809">
                <a:moveTo>
                  <a:pt x="102412" y="38405"/>
                </a:moveTo>
                <a:lnTo>
                  <a:pt x="0" y="76809"/>
                </a:lnTo>
                <a:lnTo>
                  <a:pt x="30724" y="384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step:Receipt &amp; verification"/>
          <p:cNvSpPr/>
          <p:nvPr/>
        </p:nvSpPr>
        <p:spPr>
          <a:xfrm>
            <a:off x="6214719" y="1161288"/>
            <a:ext cx="1727149" cy="667512"/>
          </a:xfrm>
          <a:prstGeom prst="roundRect">
            <a:avLst>
              <a:gd name="adj" fmla="val 9589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isc"/>
          <p:cNvSpPr/>
          <p:nvPr/>
        </p:nvSpPr>
        <p:spPr>
          <a:xfrm>
            <a:off x="6324447" y="12664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w21" descr="w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5031" y="1367028"/>
            <a:ext cx="256032" cy="256032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6269583" y="1220724"/>
            <a:ext cx="182880" cy="182880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91375" y="1216152"/>
            <a:ext cx="977341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i="0">
                <a:solidFill>
                  <a:srgbClr val="0F4A2A"/>
                </a:solidFill>
                <a:latin typeface="Arial"/>
              </a:rPr>
              <a:t>Receipt &amp; verification</a:t>
            </a:r>
          </a:p>
          <a:p>
            <a:pPr algn="l">
              <a:spcBef>
                <a:spcPts val="200"/>
              </a:spcBef>
            </a:pPr>
            <a:r>
              <a:rPr sz="700" b="0" i="0">
                <a:solidFill>
                  <a:srgbClr val="4A5260"/>
                </a:solidFill>
                <a:latin typeface="Calibri"/>
              </a:rPr>
              <a:t>Item received and checked</a:t>
            </a:r>
          </a:p>
        </p:txBody>
      </p:sp>
      <p:sp>
        <p:nvSpPr>
          <p:cNvPr id="39" name="Oval 38"/>
          <p:cNvSpPr/>
          <p:nvPr/>
        </p:nvSpPr>
        <p:spPr>
          <a:xfrm>
            <a:off x="7969300" y="1403604"/>
            <a:ext cx="182880" cy="182880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reeform 39"/>
          <p:cNvSpPr/>
          <p:nvPr/>
        </p:nvSpPr>
        <p:spPr>
          <a:xfrm>
            <a:off x="8018678" y="1456639"/>
            <a:ext cx="102413" cy="76809"/>
          </a:xfrm>
          <a:custGeom>
            <a:avLst/>
            <a:gdLst/>
            <a:ahLst/>
            <a:cxnLst/>
            <a:rect l="l" t="t" r="r" b="b"/>
            <a:pathLst>
              <a:path w="102413" h="76809">
                <a:moveTo>
                  <a:pt x="102413" y="38405"/>
                </a:moveTo>
                <a:lnTo>
                  <a:pt x="0" y="76809"/>
                </a:lnTo>
                <a:lnTo>
                  <a:pt x="30724" y="384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step:Refund decision"/>
          <p:cNvSpPr/>
          <p:nvPr/>
        </p:nvSpPr>
        <p:spPr>
          <a:xfrm>
            <a:off x="8179612" y="1161288"/>
            <a:ext cx="1727149" cy="667512"/>
          </a:xfrm>
          <a:prstGeom prst="roundRect">
            <a:avLst>
              <a:gd name="adj" fmla="val 9589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disc"/>
          <p:cNvSpPr/>
          <p:nvPr/>
        </p:nvSpPr>
        <p:spPr>
          <a:xfrm>
            <a:off x="8289340" y="12664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w22" descr="w2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9924" y="1367028"/>
            <a:ext cx="256032" cy="256032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8234476" y="1220724"/>
            <a:ext cx="182880" cy="182880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6268" y="1216152"/>
            <a:ext cx="977341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i="0">
                <a:solidFill>
                  <a:srgbClr val="0F4A2A"/>
                </a:solidFill>
                <a:latin typeface="Arial"/>
              </a:rPr>
              <a:t>Refund decision</a:t>
            </a:r>
          </a:p>
          <a:p>
            <a:pPr algn="l">
              <a:spcBef>
                <a:spcPts val="200"/>
              </a:spcBef>
            </a:pPr>
            <a:r>
              <a:rPr sz="700" b="0" i="0">
                <a:solidFill>
                  <a:srgbClr val="4A5260"/>
                </a:solidFill>
                <a:latin typeface="Calibri"/>
              </a:rPr>
              <a:t>Refund, hold or review</a:t>
            </a:r>
          </a:p>
        </p:txBody>
      </p:sp>
      <p:sp>
        <p:nvSpPr>
          <p:cNvPr id="46" name="Oval 45"/>
          <p:cNvSpPr/>
          <p:nvPr/>
        </p:nvSpPr>
        <p:spPr>
          <a:xfrm>
            <a:off x="9934194" y="1403604"/>
            <a:ext cx="182880" cy="182880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Freeform 46"/>
          <p:cNvSpPr/>
          <p:nvPr/>
        </p:nvSpPr>
        <p:spPr>
          <a:xfrm>
            <a:off x="9983571" y="1456639"/>
            <a:ext cx="102413" cy="76809"/>
          </a:xfrm>
          <a:custGeom>
            <a:avLst/>
            <a:gdLst/>
            <a:ahLst/>
            <a:cxnLst/>
            <a:rect l="l" t="t" r="r" b="b"/>
            <a:pathLst>
              <a:path w="102413" h="76809">
                <a:moveTo>
                  <a:pt x="102413" y="38405"/>
                </a:moveTo>
                <a:lnTo>
                  <a:pt x="0" y="76809"/>
                </a:lnTo>
                <a:lnTo>
                  <a:pt x="30724" y="384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step:Post-return monitoring"/>
          <p:cNvSpPr/>
          <p:nvPr/>
        </p:nvSpPr>
        <p:spPr>
          <a:xfrm>
            <a:off x="10144505" y="1161288"/>
            <a:ext cx="1727149" cy="667512"/>
          </a:xfrm>
          <a:prstGeom prst="roundRect">
            <a:avLst>
              <a:gd name="adj" fmla="val 9589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disc"/>
          <p:cNvSpPr/>
          <p:nvPr/>
        </p:nvSpPr>
        <p:spPr>
          <a:xfrm>
            <a:off x="10254233" y="12664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w30" descr="w3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4817" y="1367028"/>
            <a:ext cx="256032" cy="256032"/>
          </a:xfrm>
          <a:prstGeom prst="rect">
            <a:avLst/>
          </a:prstGeom>
        </p:spPr>
      </p:pic>
      <p:sp>
        <p:nvSpPr>
          <p:cNvPr id="51" name="Oval 50"/>
          <p:cNvSpPr/>
          <p:nvPr/>
        </p:nvSpPr>
        <p:spPr>
          <a:xfrm>
            <a:off x="10199369" y="1220724"/>
            <a:ext cx="182880" cy="182880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21161" y="1216152"/>
            <a:ext cx="977341" cy="5577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i="0">
                <a:solidFill>
                  <a:srgbClr val="0F4A2A"/>
                </a:solidFill>
                <a:latin typeface="Arial"/>
              </a:rPr>
              <a:t>Post-return monitoring</a:t>
            </a:r>
          </a:p>
          <a:p>
            <a:pPr algn="l">
              <a:spcBef>
                <a:spcPts val="200"/>
              </a:spcBef>
            </a:pPr>
            <a:r>
              <a:rPr sz="700" b="0" i="0">
                <a:solidFill>
                  <a:srgbClr val="4A5260"/>
                </a:solidFill>
                <a:latin typeface="Calibri"/>
              </a:rPr>
              <a:t>Watch for emerging patterns</a:t>
            </a:r>
          </a:p>
        </p:txBody>
      </p:sp>
      <p:sp>
        <p:nvSpPr>
          <p:cNvPr id="53" name="bar2"/>
          <p:cNvSpPr/>
          <p:nvPr/>
        </p:nvSpPr>
        <p:spPr>
          <a:xfrm>
            <a:off x="228600" y="1993392"/>
            <a:ext cx="11734495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83464" y="2029968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" y="1993392"/>
            <a:ext cx="340930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KEY PERSONAS, WORKFLOWS, FRICTIONS AND OUTCOMES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76813" y="2066544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95685" y="1993392"/>
            <a:ext cx="767597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Connected across the journey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" y="2313432"/>
            <a:ext cx="11734495" cy="2843784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3192" y="2386584"/>
            <a:ext cx="224942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PERSONA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25496" y="2386584"/>
            <a:ext cx="38770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DAY-TO-DAY WORKFLOW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85431" y="2386584"/>
            <a:ext cx="252374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C9561A"/>
                </a:solidFill>
                <a:latin typeface="Arial"/>
              </a:rPr>
              <a:t>FRICTION TODAY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92056" y="2386584"/>
            <a:ext cx="2261311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1E7A45"/>
                </a:solidFill>
                <a:latin typeface="Arial"/>
              </a:rPr>
              <a:t>OUTCOME (AFTER RESOLVING)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0040" y="2633471"/>
            <a:ext cx="11551615" cy="0"/>
          </a:xfrm>
          <a:prstGeom prst="line">
            <a:avLst/>
          </a:prstGeom>
          <a:ln w="9525">
            <a:solidFill>
              <a:srgbClr val="DCE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ersona:Customer"/>
          <p:cNvSpPr/>
          <p:nvPr/>
        </p:nvSpPr>
        <p:spPr>
          <a:xfrm>
            <a:off x="320040" y="2688335"/>
            <a:ext cx="2340864" cy="557784"/>
          </a:xfrm>
          <a:prstGeom prst="roundRect">
            <a:avLst>
              <a:gd name="adj" fmla="val 11475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0" descr="p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192" y="2743199"/>
            <a:ext cx="448056" cy="44805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32688" y="2724911"/>
            <a:ext cx="1655063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i="0">
                <a:solidFill>
                  <a:srgbClr val="0F4A2A"/>
                </a:solidFill>
                <a:latin typeface="Arial"/>
              </a:rPr>
              <a:t>Customer</a:t>
            </a:r>
          </a:p>
          <a:p>
            <a:pPr algn="l">
              <a:spcBef>
                <a:spcPts val="100"/>
              </a:spcBef>
            </a:pPr>
            <a:r>
              <a:rPr sz="660" b="0" i="0">
                <a:solidFill>
                  <a:srgbClr val="4A5260"/>
                </a:solidFill>
                <a:latin typeface="Calibri"/>
              </a:rPr>
              <a:t>Honest shopper &amp; potential abuser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Buys, returns and keeps shopping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185769" y="2852927"/>
            <a:ext cx="3101645" cy="0"/>
          </a:xfrm>
          <a:prstGeom prst="line">
            <a:avLst/>
          </a:prstGeom>
          <a:ln w="15875">
            <a:solidFill>
              <a:srgbClr val="B9D6C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wf disc"/>
          <p:cNvSpPr/>
          <p:nvPr/>
        </p:nvSpPr>
        <p:spPr>
          <a:xfrm>
            <a:off x="3057753" y="2724911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w00" descr="w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8901" y="2766059"/>
            <a:ext cx="173736" cy="17373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2825496" y="3008375"/>
            <a:ext cx="7205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Shop</a:t>
            </a:r>
          </a:p>
        </p:txBody>
      </p:sp>
      <p:sp>
        <p:nvSpPr>
          <p:cNvPr id="71" name="wf disc"/>
          <p:cNvSpPr/>
          <p:nvPr/>
        </p:nvSpPr>
        <p:spPr>
          <a:xfrm>
            <a:off x="3833164" y="2724911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w01" descr="w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4312" y="2766059"/>
            <a:ext cx="173736" cy="17373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3600907" y="3008375"/>
            <a:ext cx="7205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Raise return request</a:t>
            </a:r>
          </a:p>
        </p:txBody>
      </p:sp>
      <p:sp>
        <p:nvSpPr>
          <p:cNvPr id="74" name="wf disc"/>
          <p:cNvSpPr/>
          <p:nvPr/>
        </p:nvSpPr>
        <p:spPr>
          <a:xfrm>
            <a:off x="4608576" y="2724911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w02" descr="w0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9724" y="2766059"/>
            <a:ext cx="173736" cy="1737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4376318" y="3008375"/>
            <a:ext cx="7205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Ship item</a:t>
            </a:r>
          </a:p>
        </p:txBody>
      </p:sp>
      <p:sp>
        <p:nvSpPr>
          <p:cNvPr id="77" name="wf disc"/>
          <p:cNvSpPr/>
          <p:nvPr/>
        </p:nvSpPr>
        <p:spPr>
          <a:xfrm>
            <a:off x="5383987" y="2724911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w03" descr="w0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5135" y="2766059"/>
            <a:ext cx="173736" cy="17373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151729" y="3008375"/>
            <a:ext cx="7205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Track status</a:t>
            </a:r>
          </a:p>
        </p:txBody>
      </p:sp>
      <p:sp>
        <p:nvSpPr>
          <p:cNvPr id="80" name="wf disc"/>
          <p:cNvSpPr/>
          <p:nvPr/>
        </p:nvSpPr>
        <p:spPr>
          <a:xfrm>
            <a:off x="6159398" y="2724911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w04" descr="w0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0546" y="2766059"/>
            <a:ext cx="173736" cy="17373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927140" y="3008375"/>
            <a:ext cx="7205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Receive refund</a:t>
            </a:r>
          </a:p>
        </p:txBody>
      </p:sp>
      <p:sp>
        <p:nvSpPr>
          <p:cNvPr id="83" name="friction0"/>
          <p:cNvSpPr/>
          <p:nvPr/>
        </p:nvSpPr>
        <p:spPr>
          <a:xfrm>
            <a:off x="6812279" y="2688335"/>
            <a:ext cx="2615184" cy="557784"/>
          </a:xfrm>
          <a:prstGeom prst="roundRect">
            <a:avLst>
              <a:gd name="adj" fmla="val 11475"/>
            </a:avLst>
          </a:prstGeom>
          <a:solidFill>
            <a:srgbClr val="FEF4EC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alert"/>
          <p:cNvSpPr/>
          <p:nvPr/>
        </p:nvSpPr>
        <p:spPr>
          <a:xfrm>
            <a:off x="6903719" y="2857499"/>
            <a:ext cx="219456" cy="219456"/>
          </a:xfrm>
          <a:prstGeom prst="ellipse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903719" y="2857499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14616" y="2734055"/>
            <a:ext cx="2139696" cy="4663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Some users exploit easy returns</a:t>
            </a:r>
          </a:p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Genuine customers face delays or wrongful holds</a:t>
            </a:r>
          </a:p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Little visibility on return status</a:t>
            </a:r>
          </a:p>
        </p:txBody>
      </p:sp>
      <p:sp>
        <p:nvSpPr>
          <p:cNvPr id="87" name="outcome0"/>
          <p:cNvSpPr/>
          <p:nvPr/>
        </p:nvSpPr>
        <p:spPr>
          <a:xfrm>
            <a:off x="9518904" y="2688335"/>
            <a:ext cx="2352751" cy="557784"/>
          </a:xfrm>
          <a:prstGeom prst="roundRect">
            <a:avLst>
              <a:gd name="adj" fmla="val 11475"/>
            </a:avLst>
          </a:prstGeom>
          <a:solidFill>
            <a:srgbClr val="EEF8F1"/>
          </a:solidFill>
          <a:ln w="9525">
            <a:solidFill>
              <a:srgbClr val="C3E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goal0" descr="goal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10344" y="2848356"/>
            <a:ext cx="237744" cy="237744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939528" y="2734055"/>
            <a:ext cx="1858975" cy="4663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Smoother, faster returns for genuine users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High-risk users flagged early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More trust in the free-returns promise</a:t>
            </a:r>
          </a:p>
        </p:txBody>
      </p:sp>
      <p:sp>
        <p:nvSpPr>
          <p:cNvPr id="90" name="persona:Trust &amp; Safety Analyst"/>
          <p:cNvSpPr/>
          <p:nvPr/>
        </p:nvSpPr>
        <p:spPr>
          <a:xfrm>
            <a:off x="320040" y="3300983"/>
            <a:ext cx="2340864" cy="557784"/>
          </a:xfrm>
          <a:prstGeom prst="roundRect">
            <a:avLst>
              <a:gd name="adj" fmla="val 11475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1" name="p1" descr="p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3192" y="3355847"/>
            <a:ext cx="448056" cy="448056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932688" y="3337559"/>
            <a:ext cx="1655063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i="0">
                <a:solidFill>
                  <a:srgbClr val="0F4A2A"/>
                </a:solidFill>
                <a:latin typeface="Arial"/>
              </a:rPr>
              <a:t>Trust &amp; Safety Analyst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Investigates flagged returns and decides the action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282696" y="3465575"/>
            <a:ext cx="2907792" cy="0"/>
          </a:xfrm>
          <a:prstGeom prst="line">
            <a:avLst/>
          </a:prstGeom>
          <a:ln w="15875">
            <a:solidFill>
              <a:srgbClr val="B9D6C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wf disc"/>
          <p:cNvSpPr/>
          <p:nvPr/>
        </p:nvSpPr>
        <p:spPr>
          <a:xfrm>
            <a:off x="3154679" y="3337559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5" name="w10" descr="w1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95827" y="3378707"/>
            <a:ext cx="173736" cy="173736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2825495" y="3621023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Review alerts</a:t>
            </a:r>
          </a:p>
        </p:txBody>
      </p:sp>
      <p:sp>
        <p:nvSpPr>
          <p:cNvPr id="97" name="wf disc"/>
          <p:cNvSpPr/>
          <p:nvPr/>
        </p:nvSpPr>
        <p:spPr>
          <a:xfrm>
            <a:off x="4123944" y="3337559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w11" descr="w1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65092" y="3378707"/>
            <a:ext cx="173736" cy="173736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3794760" y="3621023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Check customer &amp; order history</a:t>
            </a:r>
          </a:p>
        </p:txBody>
      </p:sp>
      <p:sp>
        <p:nvSpPr>
          <p:cNvPr id="100" name="wf disc"/>
          <p:cNvSpPr/>
          <p:nvPr/>
        </p:nvSpPr>
        <p:spPr>
          <a:xfrm>
            <a:off x="5093208" y="3337559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1" name="w12" descr="w1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34356" y="3378707"/>
            <a:ext cx="173736" cy="173736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4764024" y="3621023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Analyse signals across systems</a:t>
            </a:r>
          </a:p>
        </p:txBody>
      </p:sp>
      <p:sp>
        <p:nvSpPr>
          <p:cNvPr id="103" name="wf disc"/>
          <p:cNvSpPr/>
          <p:nvPr/>
        </p:nvSpPr>
        <p:spPr>
          <a:xfrm>
            <a:off x="6062472" y="3337559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w13" descr="w1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03620" y="3378707"/>
            <a:ext cx="173736" cy="173736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733288" y="3621023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Recommend action</a:t>
            </a:r>
          </a:p>
        </p:txBody>
      </p:sp>
      <p:sp>
        <p:nvSpPr>
          <p:cNvPr id="106" name="friction1"/>
          <p:cNvSpPr/>
          <p:nvPr/>
        </p:nvSpPr>
        <p:spPr>
          <a:xfrm>
            <a:off x="6812279" y="3300983"/>
            <a:ext cx="2615184" cy="557784"/>
          </a:xfrm>
          <a:prstGeom prst="roundRect">
            <a:avLst>
              <a:gd name="adj" fmla="val 11475"/>
            </a:avLst>
          </a:prstGeom>
          <a:solidFill>
            <a:srgbClr val="FEF4EC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alert"/>
          <p:cNvSpPr/>
          <p:nvPr/>
        </p:nvSpPr>
        <p:spPr>
          <a:xfrm>
            <a:off x="6903719" y="3470147"/>
            <a:ext cx="219456" cy="219456"/>
          </a:xfrm>
          <a:prstGeom prst="ellipse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903719" y="347014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14616" y="3346703"/>
            <a:ext cx="2139696" cy="4663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Reviews only ~4% of returns</a:t>
            </a:r>
          </a:p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Data scattered across systems</a:t>
            </a:r>
          </a:p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Patterns visible only after many cycles</a:t>
            </a:r>
          </a:p>
        </p:txBody>
      </p:sp>
      <p:sp>
        <p:nvSpPr>
          <p:cNvPr id="110" name="outcome1"/>
          <p:cNvSpPr/>
          <p:nvPr/>
        </p:nvSpPr>
        <p:spPr>
          <a:xfrm>
            <a:off x="9518904" y="3300983"/>
            <a:ext cx="2352751" cy="557784"/>
          </a:xfrm>
          <a:prstGeom prst="roundRect">
            <a:avLst>
              <a:gd name="adj" fmla="val 11475"/>
            </a:avLst>
          </a:prstGeom>
          <a:solidFill>
            <a:srgbClr val="EEF8F1"/>
          </a:solidFill>
          <a:ln w="9525">
            <a:solidFill>
              <a:srgbClr val="C3E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goal1" descr="goal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10344" y="3461003"/>
            <a:ext cx="237744" cy="237744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39528" y="3346703"/>
            <a:ext cx="1858975" cy="4663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Early detection of emerging abuse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One consolidated customer view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Explainable recommendations</a:t>
            </a:r>
          </a:p>
        </p:txBody>
      </p:sp>
      <p:sp>
        <p:nvSpPr>
          <p:cNvPr id="113" name="persona:Warehouse / Operations"/>
          <p:cNvSpPr/>
          <p:nvPr/>
        </p:nvSpPr>
        <p:spPr>
          <a:xfrm>
            <a:off x="320040" y="3913631"/>
            <a:ext cx="2340864" cy="557784"/>
          </a:xfrm>
          <a:prstGeom prst="roundRect">
            <a:avLst>
              <a:gd name="adj" fmla="val 11475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4" name="p2" descr="p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3192" y="3968495"/>
            <a:ext cx="448056" cy="448056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932688" y="3950207"/>
            <a:ext cx="1655063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i="0">
                <a:solidFill>
                  <a:srgbClr val="0F4A2A"/>
                </a:solidFill>
                <a:latin typeface="Arial"/>
              </a:rPr>
              <a:t>Warehouse / Operations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Receives and verifies returned items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3282696" y="4078223"/>
            <a:ext cx="2907792" cy="0"/>
          </a:xfrm>
          <a:prstGeom prst="line">
            <a:avLst/>
          </a:prstGeom>
          <a:ln w="15875">
            <a:solidFill>
              <a:srgbClr val="B9D6C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wf disc"/>
          <p:cNvSpPr/>
          <p:nvPr/>
        </p:nvSpPr>
        <p:spPr>
          <a:xfrm>
            <a:off x="3154679" y="3950207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8" name="w20" descr="w2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95827" y="3991355"/>
            <a:ext cx="173736" cy="173736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2825495" y="423367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Receive package</a:t>
            </a:r>
          </a:p>
        </p:txBody>
      </p:sp>
      <p:sp>
        <p:nvSpPr>
          <p:cNvPr id="120" name="wf disc"/>
          <p:cNvSpPr/>
          <p:nvPr/>
        </p:nvSpPr>
        <p:spPr>
          <a:xfrm>
            <a:off x="4123944" y="3950207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1" name="w21" descr="w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5092" y="3991355"/>
            <a:ext cx="173736" cy="173736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3794760" y="423367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Scan item</a:t>
            </a:r>
          </a:p>
        </p:txBody>
      </p:sp>
      <p:sp>
        <p:nvSpPr>
          <p:cNvPr id="123" name="wf disc"/>
          <p:cNvSpPr/>
          <p:nvPr/>
        </p:nvSpPr>
        <p:spPr>
          <a:xfrm>
            <a:off x="5093208" y="3950207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4" name="w22" descr="w2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4356" y="3991355"/>
            <a:ext cx="173736" cy="173736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4764024" y="423367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Check condition</a:t>
            </a:r>
          </a:p>
        </p:txBody>
      </p:sp>
      <p:sp>
        <p:nvSpPr>
          <p:cNvPr id="126" name="wf disc"/>
          <p:cNvSpPr/>
          <p:nvPr/>
        </p:nvSpPr>
        <p:spPr>
          <a:xfrm>
            <a:off x="6062472" y="3950207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7" name="w23" descr="w23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03620" y="3991355"/>
            <a:ext cx="173736" cy="173736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5733288" y="423367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Update system</a:t>
            </a:r>
          </a:p>
        </p:txBody>
      </p:sp>
      <p:sp>
        <p:nvSpPr>
          <p:cNvPr id="129" name="friction2"/>
          <p:cNvSpPr/>
          <p:nvPr/>
        </p:nvSpPr>
        <p:spPr>
          <a:xfrm>
            <a:off x="6812279" y="3913631"/>
            <a:ext cx="2615184" cy="557784"/>
          </a:xfrm>
          <a:prstGeom prst="roundRect">
            <a:avLst>
              <a:gd name="adj" fmla="val 11475"/>
            </a:avLst>
          </a:prstGeom>
          <a:solidFill>
            <a:srgbClr val="FEF4EC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alert"/>
          <p:cNvSpPr/>
          <p:nvPr/>
        </p:nvSpPr>
        <p:spPr>
          <a:xfrm>
            <a:off x="6903719" y="4082796"/>
            <a:ext cx="219456" cy="219456"/>
          </a:xfrm>
          <a:prstGeom prst="ellipse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903719" y="408279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14616" y="3959351"/>
            <a:ext cx="2139696" cy="4663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Missing or inconsistent item data</a:t>
            </a:r>
          </a:p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Used or missing items hard to spot</a:t>
            </a:r>
          </a:p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Not linked to customer or order history</a:t>
            </a:r>
          </a:p>
        </p:txBody>
      </p:sp>
      <p:sp>
        <p:nvSpPr>
          <p:cNvPr id="133" name="outcome2"/>
          <p:cNvSpPr/>
          <p:nvPr/>
        </p:nvSpPr>
        <p:spPr>
          <a:xfrm>
            <a:off x="9518904" y="3913631"/>
            <a:ext cx="2352751" cy="557784"/>
          </a:xfrm>
          <a:prstGeom prst="roundRect">
            <a:avLst>
              <a:gd name="adj" fmla="val 11475"/>
            </a:avLst>
          </a:prstGeom>
          <a:solidFill>
            <a:srgbClr val="EEF8F1"/>
          </a:solidFill>
          <a:ln w="9525">
            <a:solidFill>
              <a:srgbClr val="C3E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4" name="goal2" descr="goal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10344" y="4073651"/>
            <a:ext cx="237744" cy="237744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9939528" y="3959351"/>
            <a:ext cx="1858975" cy="4663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Clear checks for high-risk returns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Fewer fraudulent refunds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Accurate, real-time item status</a:t>
            </a:r>
          </a:p>
        </p:txBody>
      </p:sp>
      <p:sp>
        <p:nvSpPr>
          <p:cNvPr id="136" name="persona:VP, Trust &amp; Safety"/>
          <p:cNvSpPr/>
          <p:nvPr/>
        </p:nvSpPr>
        <p:spPr>
          <a:xfrm>
            <a:off x="320040" y="4526280"/>
            <a:ext cx="2340864" cy="557784"/>
          </a:xfrm>
          <a:prstGeom prst="roundRect">
            <a:avLst>
              <a:gd name="adj" fmla="val 11475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7" name="p3" descr="p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3192" y="4581144"/>
            <a:ext cx="448056" cy="448056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932688" y="4562856"/>
            <a:ext cx="1655063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i="0">
                <a:solidFill>
                  <a:srgbClr val="0F4A2A"/>
                </a:solidFill>
                <a:latin typeface="Arial"/>
              </a:rPr>
              <a:t>VP, Trust &amp; Safety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Owns risk, customer trust and policy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3282696" y="4690872"/>
            <a:ext cx="2907792" cy="0"/>
          </a:xfrm>
          <a:prstGeom prst="line">
            <a:avLst/>
          </a:prstGeom>
          <a:ln w="15875">
            <a:solidFill>
              <a:srgbClr val="B9D6C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wf disc"/>
          <p:cNvSpPr/>
          <p:nvPr/>
        </p:nvSpPr>
        <p:spPr>
          <a:xfrm>
            <a:off x="3154679" y="456285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1" name="w30" descr="w3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5827" y="4604004"/>
            <a:ext cx="173736" cy="173736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2825495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Monitor trends</a:t>
            </a:r>
          </a:p>
        </p:txBody>
      </p:sp>
      <p:sp>
        <p:nvSpPr>
          <p:cNvPr id="143" name="wf disc"/>
          <p:cNvSpPr/>
          <p:nvPr/>
        </p:nvSpPr>
        <p:spPr>
          <a:xfrm>
            <a:off x="4123944" y="456285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4" name="w31" descr="w3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65092" y="4604004"/>
            <a:ext cx="173736" cy="173736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3794760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Review escalations</a:t>
            </a:r>
          </a:p>
        </p:txBody>
      </p:sp>
      <p:sp>
        <p:nvSpPr>
          <p:cNvPr id="146" name="wf disc"/>
          <p:cNvSpPr/>
          <p:nvPr/>
        </p:nvSpPr>
        <p:spPr>
          <a:xfrm>
            <a:off x="5093208" y="456285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7" name="w32" descr="w32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34356" y="4604004"/>
            <a:ext cx="173736" cy="173736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4764024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Assess impact</a:t>
            </a:r>
          </a:p>
        </p:txBody>
      </p:sp>
      <p:sp>
        <p:nvSpPr>
          <p:cNvPr id="149" name="wf disc"/>
          <p:cNvSpPr/>
          <p:nvPr/>
        </p:nvSpPr>
        <p:spPr>
          <a:xfrm>
            <a:off x="6062472" y="456285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7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0" name="w33" descr="w33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03620" y="4604004"/>
            <a:ext cx="173736" cy="173736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5733288" y="48463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Set policy &amp; safeguards</a:t>
            </a:r>
          </a:p>
        </p:txBody>
      </p:sp>
      <p:sp>
        <p:nvSpPr>
          <p:cNvPr id="152" name="friction3"/>
          <p:cNvSpPr/>
          <p:nvPr/>
        </p:nvSpPr>
        <p:spPr>
          <a:xfrm>
            <a:off x="6812279" y="4526280"/>
            <a:ext cx="2615184" cy="557784"/>
          </a:xfrm>
          <a:prstGeom prst="roundRect">
            <a:avLst>
              <a:gd name="adj" fmla="val 11475"/>
            </a:avLst>
          </a:prstGeom>
          <a:solidFill>
            <a:srgbClr val="FEF4EC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alert"/>
          <p:cNvSpPr/>
          <p:nvPr/>
        </p:nvSpPr>
        <p:spPr>
          <a:xfrm>
            <a:off x="6903719" y="4695444"/>
            <a:ext cx="219456" cy="219456"/>
          </a:xfrm>
          <a:prstGeom prst="ellipse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6903719" y="469544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214616" y="4572000"/>
            <a:ext cx="2139696" cy="4663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Rising losses from refund fraud</a:t>
            </a:r>
          </a:p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PR escalations from wrongful bans</a:t>
            </a:r>
          </a:p>
          <a:p>
            <a:pPr marL="91440" indent="-91440" algn="l">
              <a:buClr>
                <a:srgbClr val="F26A1B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Static rules soon become ineffective</a:t>
            </a:r>
          </a:p>
        </p:txBody>
      </p:sp>
      <p:sp>
        <p:nvSpPr>
          <p:cNvPr id="156" name="outcome3"/>
          <p:cNvSpPr/>
          <p:nvPr/>
        </p:nvSpPr>
        <p:spPr>
          <a:xfrm>
            <a:off x="9518904" y="4526280"/>
            <a:ext cx="2352751" cy="557784"/>
          </a:xfrm>
          <a:prstGeom prst="roundRect">
            <a:avLst>
              <a:gd name="adj" fmla="val 11475"/>
            </a:avLst>
          </a:prstGeom>
          <a:solidFill>
            <a:srgbClr val="EEF8F1"/>
          </a:solidFill>
          <a:ln w="9525">
            <a:solidFill>
              <a:srgbClr val="C3E4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7" name="goal3" descr="goal3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0344" y="4686300"/>
            <a:ext cx="237744" cy="237744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9939528" y="4572000"/>
            <a:ext cx="1858975" cy="4663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Lower preventable losses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Fewer complaints and PR issues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Adaptive, data-driven policies</a:t>
            </a:r>
          </a:p>
        </p:txBody>
      </p:sp>
      <p:sp>
        <p:nvSpPr>
          <p:cNvPr id="159" name="bar3"/>
          <p:cNvSpPr/>
          <p:nvPr/>
        </p:nvSpPr>
        <p:spPr>
          <a:xfrm>
            <a:off x="228600" y="5248656"/>
            <a:ext cx="5760720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283464" y="528523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57784" y="5248656"/>
            <a:ext cx="257535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KEY TECHNICAL SYSTEMS (CURRENT STATE)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242869" y="5321808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361741" y="5248656"/>
            <a:ext cx="253613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Signals exist, but are not joined today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28600" y="5568696"/>
            <a:ext cx="5760720" cy="1106424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sys:Order management"/>
          <p:cNvSpPr/>
          <p:nvPr/>
        </p:nvSpPr>
        <p:spPr>
          <a:xfrm>
            <a:off x="320040" y="5641848"/>
            <a:ext cx="1325880" cy="6857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6" name="sys0" descr="sys0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5819" y="5705856"/>
            <a:ext cx="274320" cy="274320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74904" y="6025896"/>
            <a:ext cx="1216152" cy="2468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Order management</a:t>
            </a:r>
          </a:p>
          <a:p>
            <a:pPr algn="ctr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Orders, items, return history</a:t>
            </a:r>
          </a:p>
        </p:txBody>
      </p:sp>
      <p:sp>
        <p:nvSpPr>
          <p:cNvPr id="168" name="sys:Payments"/>
          <p:cNvSpPr/>
          <p:nvPr/>
        </p:nvSpPr>
        <p:spPr>
          <a:xfrm>
            <a:off x="1737360" y="5641848"/>
            <a:ext cx="1325880" cy="6857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9" name="sys1" descr="sys1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63140" y="5705856"/>
            <a:ext cx="274320" cy="274320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1792224" y="6025896"/>
            <a:ext cx="1216152" cy="2468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Payments</a:t>
            </a:r>
          </a:p>
          <a:p>
            <a:pPr algn="ctr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Refund events, chargebacks</a:t>
            </a:r>
          </a:p>
        </p:txBody>
      </p:sp>
      <p:sp>
        <p:nvSpPr>
          <p:cNvPr id="171" name="sys:Customer support"/>
          <p:cNvSpPr/>
          <p:nvPr/>
        </p:nvSpPr>
        <p:spPr>
          <a:xfrm>
            <a:off x="3154680" y="5641848"/>
            <a:ext cx="1325880" cy="6857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2" name="sys2" descr="sys2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680459" y="5705856"/>
            <a:ext cx="274320" cy="274320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3209544" y="6025896"/>
            <a:ext cx="1216152" cy="2468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Customer support</a:t>
            </a:r>
          </a:p>
          <a:p>
            <a:pPr algn="ctr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Chat transcripts, complaints</a:t>
            </a:r>
          </a:p>
        </p:txBody>
      </p:sp>
      <p:sp>
        <p:nvSpPr>
          <p:cNvPr id="174" name="sys:Carrier tracking"/>
          <p:cNvSpPr/>
          <p:nvPr/>
        </p:nvSpPr>
        <p:spPr>
          <a:xfrm>
            <a:off x="4572000" y="5641848"/>
            <a:ext cx="1325880" cy="6857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5" name="sys3" descr="sy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7779" y="5705856"/>
            <a:ext cx="274320" cy="27432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4626864" y="6025896"/>
            <a:ext cx="1216152" cy="2468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Carrier tracking</a:t>
            </a:r>
          </a:p>
          <a:p>
            <a:pPr algn="ctr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Shipment status, return scans</a:t>
            </a:r>
          </a:p>
        </p:txBody>
      </p:sp>
      <p:sp>
        <p:nvSpPr>
          <p:cNvPr id="177" name="silo"/>
          <p:cNvSpPr/>
          <p:nvPr/>
        </p:nvSpPr>
        <p:spPr>
          <a:xfrm>
            <a:off x="320040" y="6382512"/>
            <a:ext cx="5577840" cy="219456"/>
          </a:xfrm>
          <a:prstGeom prst="roundRect">
            <a:avLst>
              <a:gd name="adj" fmla="val 25000"/>
            </a:avLst>
          </a:prstGeom>
          <a:solidFill>
            <a:srgbClr val="FEF4EC"/>
          </a:solidFill>
          <a:ln w="9525">
            <a:solidFill>
              <a:srgbClr val="F5CDA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8" name="link" descr="link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93192" y="6409944"/>
            <a:ext cx="164592" cy="164592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630936" y="6382512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C9561A"/>
                </a:solidFill>
                <a:latin typeface="Calibri"/>
              </a:rPr>
              <a:t>Disconnected data silos  →  </a:t>
            </a:r>
            <a:r>
              <a:rPr sz="700" b="0" i="0">
                <a:solidFill>
                  <a:srgbClr val="1C2330"/>
                </a:solidFill>
                <a:latin typeface="Calibri"/>
              </a:rPr>
              <a:t>no real-time view of customer behaviour or emerging patterns</a:t>
            </a:r>
          </a:p>
        </p:txBody>
      </p:sp>
      <p:sp>
        <p:nvSpPr>
          <p:cNvPr id="180" name="bar4"/>
          <p:cNvSpPr/>
          <p:nvPr/>
        </p:nvSpPr>
        <p:spPr>
          <a:xfrm>
            <a:off x="6080759" y="5248656"/>
            <a:ext cx="5882335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6135623" y="528523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409944" y="5248656"/>
            <a:ext cx="107663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VALUE UNLOCKED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596306" y="5321808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7715178" y="5248656"/>
            <a:ext cx="415647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One system that unifies data, detects abuse early and enables action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080759" y="5568696"/>
            <a:ext cx="5882335" cy="1106424"/>
          </a:xfrm>
          <a:prstGeom prst="roundRect">
            <a:avLst>
              <a:gd name="adj" fmla="val 5785"/>
            </a:avLst>
          </a:prstGeom>
          <a:solidFill>
            <a:srgbClr val="F6FBF7"/>
          </a:solidFill>
          <a:ln w="9525">
            <a:solidFill>
              <a:srgbClr val="CFE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vdisc"/>
          <p:cNvSpPr/>
          <p:nvPr/>
        </p:nvSpPr>
        <p:spPr>
          <a:xfrm>
            <a:off x="6433078" y="56601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E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7" name="val0" descr="val0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15374" y="5742431"/>
            <a:ext cx="292608" cy="292608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6172199" y="6172200"/>
            <a:ext cx="978956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60" b="1" i="0">
                <a:solidFill>
                  <a:srgbClr val="0F4A2A"/>
                </a:solidFill>
                <a:latin typeface="Arial"/>
              </a:rPr>
              <a:t>Unify data</a:t>
            </a:r>
          </a:p>
          <a:p>
            <a:pPr algn="ctr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across all systems</a:t>
            </a:r>
          </a:p>
        </p:txBody>
      </p:sp>
      <p:sp>
        <p:nvSpPr>
          <p:cNvPr id="189" name="Oval 188"/>
          <p:cNvSpPr/>
          <p:nvPr/>
        </p:nvSpPr>
        <p:spPr>
          <a:xfrm>
            <a:off x="7169444" y="5806440"/>
            <a:ext cx="164592" cy="164592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Freeform 189"/>
          <p:cNvSpPr/>
          <p:nvPr/>
        </p:nvSpPr>
        <p:spPr>
          <a:xfrm>
            <a:off x="7213884" y="5854171"/>
            <a:ext cx="92171" cy="69129"/>
          </a:xfrm>
          <a:custGeom>
            <a:avLst/>
            <a:gdLst/>
            <a:ahLst/>
            <a:cxnLst/>
            <a:rect l="l" t="t" r="r" b="b"/>
            <a:pathLst>
              <a:path w="92171" h="69129">
                <a:moveTo>
                  <a:pt x="92171" y="34565"/>
                </a:moveTo>
                <a:lnTo>
                  <a:pt x="0" y="69129"/>
                </a:lnTo>
                <a:lnTo>
                  <a:pt x="27651" y="345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vdisc"/>
          <p:cNvSpPr/>
          <p:nvPr/>
        </p:nvSpPr>
        <p:spPr>
          <a:xfrm>
            <a:off x="7613202" y="56601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E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2" name="val1" descr="val1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95498" y="5742431"/>
            <a:ext cx="292608" cy="292608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7352324" y="6172200"/>
            <a:ext cx="978956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60" b="1" i="0">
                <a:solidFill>
                  <a:srgbClr val="0F4A2A"/>
                </a:solidFill>
                <a:latin typeface="Arial"/>
              </a:rPr>
              <a:t>Detect</a:t>
            </a:r>
          </a:p>
          <a:p>
            <a:pPr algn="ctr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abuse patterns in real time</a:t>
            </a:r>
          </a:p>
        </p:txBody>
      </p:sp>
      <p:sp>
        <p:nvSpPr>
          <p:cNvPr id="194" name="Oval 193"/>
          <p:cNvSpPr/>
          <p:nvPr/>
        </p:nvSpPr>
        <p:spPr>
          <a:xfrm>
            <a:off x="8349569" y="5806440"/>
            <a:ext cx="164592" cy="164592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Freeform 194"/>
          <p:cNvSpPr/>
          <p:nvPr/>
        </p:nvSpPr>
        <p:spPr>
          <a:xfrm>
            <a:off x="8394009" y="5854171"/>
            <a:ext cx="92171" cy="69129"/>
          </a:xfrm>
          <a:custGeom>
            <a:avLst/>
            <a:gdLst/>
            <a:ahLst/>
            <a:cxnLst/>
            <a:rect l="l" t="t" r="r" b="b"/>
            <a:pathLst>
              <a:path w="92171" h="69129">
                <a:moveTo>
                  <a:pt x="92171" y="34565"/>
                </a:moveTo>
                <a:lnTo>
                  <a:pt x="0" y="69129"/>
                </a:lnTo>
                <a:lnTo>
                  <a:pt x="27651" y="345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vdisc"/>
          <p:cNvSpPr/>
          <p:nvPr/>
        </p:nvSpPr>
        <p:spPr>
          <a:xfrm>
            <a:off x="8793327" y="56601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E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7" name="val2" descr="val2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875623" y="5742431"/>
            <a:ext cx="292608" cy="292608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8532449" y="6172200"/>
            <a:ext cx="978956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60" b="1" i="0">
                <a:solidFill>
                  <a:srgbClr val="0F4A2A"/>
                </a:solidFill>
                <a:latin typeface="Arial"/>
              </a:rPr>
              <a:t>Generate</a:t>
            </a:r>
          </a:p>
          <a:p>
            <a:pPr algn="ctr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explainable recommendations</a:t>
            </a:r>
          </a:p>
        </p:txBody>
      </p:sp>
      <p:sp>
        <p:nvSpPr>
          <p:cNvPr id="199" name="Oval 198"/>
          <p:cNvSpPr/>
          <p:nvPr/>
        </p:nvSpPr>
        <p:spPr>
          <a:xfrm>
            <a:off x="9529693" y="5806440"/>
            <a:ext cx="164592" cy="164592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Freeform 199"/>
          <p:cNvSpPr/>
          <p:nvPr/>
        </p:nvSpPr>
        <p:spPr>
          <a:xfrm>
            <a:off x="9574133" y="5854171"/>
            <a:ext cx="92172" cy="69129"/>
          </a:xfrm>
          <a:custGeom>
            <a:avLst/>
            <a:gdLst/>
            <a:ahLst/>
            <a:cxnLst/>
            <a:rect l="l" t="t" r="r" b="b"/>
            <a:pathLst>
              <a:path w="92172" h="69129">
                <a:moveTo>
                  <a:pt x="92172" y="34565"/>
                </a:moveTo>
                <a:lnTo>
                  <a:pt x="0" y="69129"/>
                </a:lnTo>
                <a:lnTo>
                  <a:pt x="27652" y="345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vdisc"/>
          <p:cNvSpPr/>
          <p:nvPr/>
        </p:nvSpPr>
        <p:spPr>
          <a:xfrm>
            <a:off x="9973452" y="56601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E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2" name="val3" descr="val3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055748" y="5742431"/>
            <a:ext cx="292608" cy="292608"/>
          </a:xfrm>
          <a:prstGeom prst="rect">
            <a:avLst/>
          </a:prstGeom>
        </p:spPr>
      </p:pic>
      <p:sp>
        <p:nvSpPr>
          <p:cNvPr id="203" name="TextBox 202"/>
          <p:cNvSpPr txBox="1"/>
          <p:nvPr/>
        </p:nvSpPr>
        <p:spPr>
          <a:xfrm>
            <a:off x="9712573" y="6172200"/>
            <a:ext cx="978956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60" b="1" i="0">
                <a:solidFill>
                  <a:srgbClr val="0F4A2A"/>
                </a:solidFill>
                <a:latin typeface="Arial"/>
              </a:rPr>
              <a:t>Enable action</a:t>
            </a:r>
          </a:p>
          <a:p>
            <a:pPr algn="ctr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hold, review or ban</a:t>
            </a:r>
          </a:p>
        </p:txBody>
      </p:sp>
      <p:sp>
        <p:nvSpPr>
          <p:cNvPr id="204" name="Oval 203"/>
          <p:cNvSpPr/>
          <p:nvPr/>
        </p:nvSpPr>
        <p:spPr>
          <a:xfrm>
            <a:off x="10709818" y="5806440"/>
            <a:ext cx="164592" cy="164592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Freeform 204"/>
          <p:cNvSpPr/>
          <p:nvPr/>
        </p:nvSpPr>
        <p:spPr>
          <a:xfrm>
            <a:off x="10754258" y="5854171"/>
            <a:ext cx="92171" cy="69129"/>
          </a:xfrm>
          <a:custGeom>
            <a:avLst/>
            <a:gdLst/>
            <a:ahLst/>
            <a:cxnLst/>
            <a:rect l="l" t="t" r="r" b="b"/>
            <a:pathLst>
              <a:path w="92171" h="69129">
                <a:moveTo>
                  <a:pt x="92171" y="34565"/>
                </a:moveTo>
                <a:lnTo>
                  <a:pt x="0" y="69129"/>
                </a:lnTo>
                <a:lnTo>
                  <a:pt x="27651" y="345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vdisc"/>
          <p:cNvSpPr/>
          <p:nvPr/>
        </p:nvSpPr>
        <p:spPr>
          <a:xfrm>
            <a:off x="11153576" y="56601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E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7" name="val4" descr="val4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235872" y="5742431"/>
            <a:ext cx="292608" cy="292608"/>
          </a:xfrm>
          <a:prstGeom prst="rect">
            <a:avLst/>
          </a:prstGeom>
        </p:spPr>
      </p:pic>
      <p:sp>
        <p:nvSpPr>
          <p:cNvPr id="208" name="TextBox 207"/>
          <p:cNvSpPr txBox="1"/>
          <p:nvPr/>
        </p:nvSpPr>
        <p:spPr>
          <a:xfrm>
            <a:off x="10892698" y="6172200"/>
            <a:ext cx="978956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60" b="1" i="0">
                <a:solidFill>
                  <a:srgbClr val="0F4A2A"/>
                </a:solidFill>
                <a:latin typeface="Arial"/>
              </a:rPr>
              <a:t>Monitor &amp; adapt</a:t>
            </a:r>
          </a:p>
          <a:p>
            <a:pPr algn="ctr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to new patterns</a:t>
            </a:r>
          </a:p>
        </p:txBody>
      </p:sp>
      <p:sp>
        <p:nvSpPr>
          <p:cNvPr id="209" name="Oval 208"/>
          <p:cNvSpPr/>
          <p:nvPr/>
        </p:nvSpPr>
        <p:spPr>
          <a:xfrm>
            <a:off x="5925312" y="6012179"/>
            <a:ext cx="219456" cy="219456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Freeform 209"/>
          <p:cNvSpPr/>
          <p:nvPr/>
        </p:nvSpPr>
        <p:spPr>
          <a:xfrm>
            <a:off x="5984565" y="6075822"/>
            <a:ext cx="122895" cy="92171"/>
          </a:xfrm>
          <a:custGeom>
            <a:avLst/>
            <a:gdLst/>
            <a:ahLst/>
            <a:cxnLst/>
            <a:rect l="l" t="t" r="r" b="b"/>
            <a:pathLst>
              <a:path w="122895" h="92171">
                <a:moveTo>
                  <a:pt x="122895" y="46085"/>
                </a:moveTo>
                <a:lnTo>
                  <a:pt x="0" y="92171"/>
                </a:lnTo>
                <a:lnTo>
                  <a:pt x="36868" y="46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Deloitte logo" descr="deloitt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1511595" cy="292608"/>
          </a:xfrm>
          <a:prstGeom prst="rect">
            <a:avLst/>
          </a:prstGeom>
        </p:spPr>
      </p:pic>
      <p:pic>
        <p:nvPicPr>
          <p:cNvPr id="4" name="HashedIn logo" descr="hashedin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7215" y="214884"/>
            <a:ext cx="1425879" cy="246888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2194560" y="91440"/>
            <a:ext cx="7802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0F3D28"/>
                </a:solidFill>
                <a:latin typeface="Arial"/>
              </a:rPr>
              <a:t>Return</a:t>
            </a:r>
            <a:r>
              <a:rPr sz="2000" b="1" i="0">
                <a:solidFill>
                  <a:srgbClr val="F26A1B"/>
                </a:solidFill>
                <a:latin typeface="Arial"/>
              </a:rPr>
              <a:t>Lens</a:t>
            </a:r>
            <a:r>
              <a:rPr sz="2000" b="1" i="0">
                <a:solidFill>
                  <a:srgbClr val="7A8494"/>
                </a:solidFill>
                <a:latin typeface="Arial"/>
              </a:rPr>
              <a:t>  |  </a:t>
            </a:r>
            <a:r>
              <a:rPr sz="2000" b="1" i="0">
                <a:solidFill>
                  <a:srgbClr val="0F3D28"/>
                </a:solidFill>
                <a:latin typeface="Arial"/>
              </a:rPr>
              <a:t>Production Readiness &amp; Governance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1828800" y="429768"/>
            <a:ext cx="8534095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0" i="0">
                <a:solidFill>
                  <a:srgbClr val="3A4250"/>
                </a:solidFill>
                <a:latin typeface="Calibri"/>
              </a:rPr>
              <a:t>Production-ready, secure and responsibly governed to protect the free-returns promise.</a:t>
            </a:r>
          </a:p>
        </p:txBody>
      </p:sp>
      <p:sp>
        <p:nvSpPr>
          <p:cNvPr id="7" name="bar1"/>
          <p:cNvSpPr/>
          <p:nvPr/>
        </p:nvSpPr>
        <p:spPr>
          <a:xfrm>
            <a:off x="228600" y="768096"/>
            <a:ext cx="11734495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3464" y="80467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768096"/>
            <a:ext cx="238695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PRODUCTION READINESS &amp; SCALABILITY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4471" y="841247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73343" y="768096"/>
            <a:ext cx="86983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Built to handle peak volumes, stay reliable and reach production with minimal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1088136"/>
            <a:ext cx="11734495" cy="3264408"/>
          </a:xfrm>
          <a:prstGeom prst="roundRect">
            <a:avLst>
              <a:gd name="adj" fmla="val 196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1"/>
          <p:cNvSpPr/>
          <p:nvPr/>
        </p:nvSpPr>
        <p:spPr>
          <a:xfrm>
            <a:off x="320040" y="1179576"/>
            <a:ext cx="2670048" cy="3081527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2"/>
          <p:cNvSpPr/>
          <p:nvPr/>
        </p:nvSpPr>
        <p:spPr>
          <a:xfrm>
            <a:off x="3081528" y="1179576"/>
            <a:ext cx="3108960" cy="3081527"/>
          </a:xfrm>
          <a:prstGeom prst="roundRect">
            <a:avLst>
              <a:gd name="adj" fmla="val 2077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3"/>
          <p:cNvSpPr/>
          <p:nvPr/>
        </p:nvSpPr>
        <p:spPr>
          <a:xfrm>
            <a:off x="6281928" y="1179576"/>
            <a:ext cx="2834640" cy="3081527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4"/>
          <p:cNvSpPr/>
          <p:nvPr/>
        </p:nvSpPr>
        <p:spPr>
          <a:xfrm>
            <a:off x="9208008" y="1179576"/>
            <a:ext cx="2663647" cy="3081527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isc:Scales for real-world demand"/>
          <p:cNvSpPr/>
          <p:nvPr/>
        </p:nvSpPr>
        <p:spPr>
          <a:xfrm>
            <a:off x="429768" y="1289304"/>
            <a:ext cx="384048" cy="38404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_bars_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58" y="1373794"/>
            <a:ext cx="215066" cy="2150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5255" y="1271016"/>
            <a:ext cx="197510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60" b="1" i="0">
                <a:solidFill>
                  <a:srgbClr val="0F4A2A"/>
                </a:solidFill>
                <a:latin typeface="Arial"/>
              </a:rPr>
              <a:t>Scales for real-world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" y="1453896"/>
            <a:ext cx="1975103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Handles everyday traffic and 10× sale peaks without slowing refunds.</a:t>
            </a:r>
          </a:p>
        </p:txBody>
      </p:sp>
      <p:sp>
        <p:nvSpPr>
          <p:cNvPr id="21" name="barNormal day"/>
          <p:cNvSpPr/>
          <p:nvPr/>
        </p:nvSpPr>
        <p:spPr>
          <a:xfrm>
            <a:off x="457200" y="2967228"/>
            <a:ext cx="512064" cy="96012"/>
          </a:xfrm>
          <a:prstGeom prst="roundRect">
            <a:avLst>
              <a:gd name="adj" fmla="val 28571"/>
            </a:avLst>
          </a:prstGeom>
          <a:solidFill>
            <a:srgbClr val="86C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276606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00" b="1" i="0">
                <a:solidFill>
                  <a:srgbClr val="1C2330"/>
                </a:solidFill>
                <a:latin typeface="Calibri"/>
              </a:rPr>
              <a:t>~60K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" y="3108960"/>
            <a:ext cx="90525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1" i="0">
                <a:solidFill>
                  <a:srgbClr val="1C2330"/>
                </a:solidFill>
                <a:latin typeface="Calibri"/>
              </a:rPr>
              <a:t>Normal day</a:t>
            </a:r>
          </a:p>
          <a:p>
            <a:pPr algn="ctr"/>
            <a:r>
              <a:rPr sz="660" b="0" i="0">
                <a:solidFill>
                  <a:srgbClr val="4A5260"/>
                </a:solidFill>
                <a:latin typeface="Calibri"/>
              </a:rPr>
              <a:t>refunds / day</a:t>
            </a:r>
          </a:p>
        </p:txBody>
      </p:sp>
      <p:sp>
        <p:nvSpPr>
          <p:cNvPr id="24" name="peak range"/>
          <p:cNvSpPr/>
          <p:nvPr/>
        </p:nvSpPr>
        <p:spPr>
          <a:xfrm>
            <a:off x="1399032" y="2103120"/>
            <a:ext cx="512064" cy="960120"/>
          </a:xfrm>
          <a:prstGeom prst="roundRect">
            <a:avLst>
              <a:gd name="adj" fmla="val 5357"/>
            </a:avLst>
          </a:prstGeom>
          <a:solidFill>
            <a:srgbClr val="D6EEDC"/>
          </a:solidFill>
          <a:ln w="9525">
            <a:solidFill>
              <a:srgbClr val="9DD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arSale peak"/>
          <p:cNvSpPr/>
          <p:nvPr/>
        </p:nvSpPr>
        <p:spPr>
          <a:xfrm>
            <a:off x="1399032" y="2583180"/>
            <a:ext cx="512064" cy="480060"/>
          </a:xfrm>
          <a:prstGeom prst="roundRect">
            <a:avLst>
              <a:gd name="adj" fmla="val 5714"/>
            </a:avLst>
          </a:prstGeom>
          <a:solidFill>
            <a:srgbClr val="3F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9304" y="1901951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00" b="1" i="0">
                <a:solidFill>
                  <a:srgbClr val="1C2330"/>
                </a:solidFill>
                <a:latin typeface="Calibri"/>
              </a:rPr>
              <a:t>5–10×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2436" y="3108960"/>
            <a:ext cx="90525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1" i="0">
                <a:solidFill>
                  <a:srgbClr val="1C2330"/>
                </a:solidFill>
                <a:latin typeface="Calibri"/>
              </a:rPr>
              <a:t>Sale peak</a:t>
            </a:r>
          </a:p>
          <a:p>
            <a:pPr algn="ctr"/>
            <a:r>
              <a:rPr sz="660" b="0" i="0">
                <a:solidFill>
                  <a:srgbClr val="4A5260"/>
                </a:solidFill>
                <a:latin typeface="Calibri"/>
              </a:rPr>
              <a:t>up to 10× normal</a:t>
            </a:r>
          </a:p>
        </p:txBody>
      </p:sp>
      <p:sp>
        <p:nvSpPr>
          <p:cNvPr id="28" name="barPlanned capacity"/>
          <p:cNvSpPr/>
          <p:nvPr/>
        </p:nvSpPr>
        <p:spPr>
          <a:xfrm>
            <a:off x="2340864" y="2103120"/>
            <a:ext cx="512064" cy="960120"/>
          </a:xfrm>
          <a:prstGeom prst="roundRect">
            <a:avLst>
              <a:gd name="adj" fmla="val 5357"/>
            </a:avLst>
          </a:prstGeom>
          <a:solidFill>
            <a:srgbClr val="0F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31136" y="1901951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1000" b="1" i="0">
                <a:solidFill>
                  <a:srgbClr val="1C2330"/>
                </a:solidFill>
                <a:latin typeface="Calibri"/>
              </a:rPr>
              <a:t>~600K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4268" y="3108960"/>
            <a:ext cx="90525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1" i="0">
                <a:solidFill>
                  <a:srgbClr val="1C2330"/>
                </a:solidFill>
                <a:latin typeface="Calibri"/>
              </a:rPr>
              <a:t>Planned capacity</a:t>
            </a:r>
          </a:p>
          <a:p>
            <a:pPr algn="ctr"/>
            <a:r>
              <a:rPr sz="660" b="0" i="0">
                <a:solidFill>
                  <a:srgbClr val="4A5260"/>
                </a:solidFill>
                <a:latin typeface="Calibri"/>
              </a:rPr>
              <a:t>pre-scaled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79" y="3063240"/>
            <a:ext cx="2487169" cy="0"/>
          </a:xfrm>
          <a:prstGeom prst="line">
            <a:avLst/>
          </a:prstGeom>
          <a:ln w="9525">
            <a:solidFill>
              <a:srgbClr val="9A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p strip"/>
          <p:cNvSpPr/>
          <p:nvPr/>
        </p:nvSpPr>
        <p:spPr>
          <a:xfrm>
            <a:off x="411479" y="3410712"/>
            <a:ext cx="2487168" cy="758952"/>
          </a:xfrm>
          <a:prstGeom prst="roundRect">
            <a:avLst>
              <a:gd name="adj" fmla="val 7228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sc_cloud" descr="sc_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3" y="3483864"/>
            <a:ext cx="237744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48055" y="3758184"/>
            <a:ext cx="548640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Auto-scaling across regions</a:t>
            </a:r>
          </a:p>
        </p:txBody>
      </p:sp>
      <p:pic>
        <p:nvPicPr>
          <p:cNvPr id="35" name="sc_db" descr="sc_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295" y="3483864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69848" y="3758184"/>
            <a:ext cx="548640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In-memory feature store &lt; 10 ms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33271" y="3502152"/>
            <a:ext cx="0" cy="576072"/>
          </a:xfrm>
          <a:prstGeom prst="line">
            <a:avLst/>
          </a:prstGeom>
          <a:ln w="6350">
            <a:solidFill>
              <a:srgbClr val="D3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sc_bolt" descr="sc_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7088" y="3483864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691639" y="3758184"/>
            <a:ext cx="548640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Real-time scoring &lt; 150 ms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55063" y="3502152"/>
            <a:ext cx="0" cy="576072"/>
          </a:xfrm>
          <a:prstGeom prst="line">
            <a:avLst/>
          </a:prstGeom>
          <a:ln w="6350">
            <a:solidFill>
              <a:srgbClr val="D3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sc_gear" descr="sc_ge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8880" y="3483864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313432" y="3758184"/>
            <a:ext cx="548640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AI summaries on 1–2% of refunds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276856" y="3502152"/>
            <a:ext cx="0" cy="576072"/>
          </a:xfrm>
          <a:prstGeom prst="line">
            <a:avLst/>
          </a:prstGeom>
          <a:ln w="6350">
            <a:solidFill>
              <a:srgbClr val="D3E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sc:End-to-end observability"/>
          <p:cNvSpPr/>
          <p:nvPr/>
        </p:nvSpPr>
        <p:spPr>
          <a:xfrm>
            <a:off x="3191256" y="1289304"/>
            <a:ext cx="384048" cy="38404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p_search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5746" y="1373794"/>
            <a:ext cx="215066" cy="21506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666744" y="1271016"/>
            <a:ext cx="2414016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60" b="1" i="0">
                <a:solidFill>
                  <a:srgbClr val="0F4A2A"/>
                </a:solidFill>
                <a:latin typeface="Arial"/>
              </a:rPr>
              <a:t>End-to-end observability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66744" y="1453896"/>
            <a:ext cx="241401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Live dashboards across service, data, model and AI agent.</a:t>
            </a:r>
          </a:p>
        </p:txBody>
      </p:sp>
      <p:sp>
        <p:nvSpPr>
          <p:cNvPr id="48" name="mini:Service health"/>
          <p:cNvSpPr/>
          <p:nvPr/>
        </p:nvSpPr>
        <p:spPr>
          <a:xfrm>
            <a:off x="3191256" y="1764792"/>
            <a:ext cx="1408176" cy="827532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ob_pulse" descr="ob_pul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4408" y="1837944"/>
            <a:ext cx="155448" cy="1554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465576" y="1819656"/>
            <a:ext cx="1078992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Service health</a:t>
            </a:r>
          </a:p>
        </p:txBody>
      </p:sp>
      <p:sp>
        <p:nvSpPr>
          <p:cNvPr id="51" name="Freeform 50"/>
          <p:cNvSpPr/>
          <p:nvPr/>
        </p:nvSpPr>
        <p:spPr>
          <a:xfrm>
            <a:off x="3282696" y="2071801"/>
            <a:ext cx="1225296" cy="167336"/>
          </a:xfrm>
          <a:custGeom>
            <a:avLst/>
            <a:gdLst/>
            <a:ahLst/>
            <a:cxnLst/>
            <a:rect l="l" t="t" r="r" b="b"/>
            <a:pathLst>
              <a:path w="1225296" h="167336">
                <a:moveTo>
                  <a:pt x="0" y="167336"/>
                </a:moveTo>
                <a:lnTo>
                  <a:pt x="136144" y="153391"/>
                </a:lnTo>
                <a:lnTo>
                  <a:pt x="272288" y="158969"/>
                </a:lnTo>
                <a:lnTo>
                  <a:pt x="408432" y="119924"/>
                </a:lnTo>
                <a:lnTo>
                  <a:pt x="544576" y="125502"/>
                </a:lnTo>
                <a:lnTo>
                  <a:pt x="680720" y="83668"/>
                </a:lnTo>
                <a:lnTo>
                  <a:pt x="816864" y="92035"/>
                </a:lnTo>
                <a:lnTo>
                  <a:pt x="953008" y="52990"/>
                </a:lnTo>
                <a:lnTo>
                  <a:pt x="1089152" y="41834"/>
                </a:lnTo>
                <a:lnTo>
                  <a:pt x="1225296" y="0"/>
                </a:lnTo>
              </a:path>
            </a:pathLst>
          </a:custGeom>
          <a:noFill/>
          <a:ln w="1905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3282696" y="2308860"/>
            <a:ext cx="1225296" cy="0"/>
          </a:xfrm>
          <a:prstGeom prst="line">
            <a:avLst/>
          </a:prstGeom>
          <a:ln w="6350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282696" y="2327148"/>
            <a:ext cx="1243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" b="0" i="0">
                <a:solidFill>
                  <a:srgbClr val="4A5260"/>
                </a:solidFill>
                <a:latin typeface="Calibri"/>
              </a:rPr>
              <a:t>Latency, error rate, throughput, availability</a:t>
            </a:r>
          </a:p>
        </p:txBody>
      </p:sp>
      <p:sp>
        <p:nvSpPr>
          <p:cNvPr id="54" name="mini:Data quality"/>
          <p:cNvSpPr/>
          <p:nvPr/>
        </p:nvSpPr>
        <p:spPr>
          <a:xfrm>
            <a:off x="4672584" y="1764792"/>
            <a:ext cx="1408176" cy="827532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ob_db" descr="ob_d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5736" y="1837944"/>
            <a:ext cx="155448" cy="15544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946904" y="1819656"/>
            <a:ext cx="1078992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Data quality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04458" y="2183358"/>
            <a:ext cx="122529" cy="125501"/>
          </a:xfrm>
          <a:prstGeom prst="roundRect">
            <a:avLst>
              <a:gd name="adj" fmla="val 7462"/>
            </a:avLst>
          </a:prstGeom>
          <a:solidFill>
            <a:srgbClr val="3F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5008674" y="2169414"/>
            <a:ext cx="122529" cy="139446"/>
          </a:xfrm>
          <a:prstGeom prst="roundRect">
            <a:avLst>
              <a:gd name="adj" fmla="val 7462"/>
            </a:avLst>
          </a:prstGeom>
          <a:solidFill>
            <a:srgbClr val="3F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212890" y="2085746"/>
            <a:ext cx="122529" cy="223113"/>
          </a:xfrm>
          <a:prstGeom prst="roundRect">
            <a:avLst>
              <a:gd name="adj" fmla="val 7462"/>
            </a:avLst>
          </a:prstGeom>
          <a:solidFill>
            <a:srgbClr val="3F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417106" y="2169414"/>
            <a:ext cx="122529" cy="139446"/>
          </a:xfrm>
          <a:prstGeom prst="roundRect">
            <a:avLst>
              <a:gd name="adj" fmla="val 7462"/>
            </a:avLst>
          </a:prstGeom>
          <a:solidFill>
            <a:srgbClr val="3F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621322" y="2155469"/>
            <a:ext cx="122529" cy="153390"/>
          </a:xfrm>
          <a:prstGeom prst="roundRect">
            <a:avLst>
              <a:gd name="adj" fmla="val 7462"/>
            </a:avLst>
          </a:prstGeom>
          <a:solidFill>
            <a:srgbClr val="3F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825538" y="2043912"/>
            <a:ext cx="122529" cy="264947"/>
          </a:xfrm>
          <a:prstGeom prst="roundRect">
            <a:avLst>
              <a:gd name="adj" fmla="val 7462"/>
            </a:avLst>
          </a:prstGeom>
          <a:solidFill>
            <a:srgbClr val="3F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Connector 62"/>
          <p:cNvCxnSpPr/>
          <p:nvPr/>
        </p:nvCxnSpPr>
        <p:spPr>
          <a:xfrm>
            <a:off x="4764024" y="2308860"/>
            <a:ext cx="1225296" cy="0"/>
          </a:xfrm>
          <a:prstGeom prst="line">
            <a:avLst/>
          </a:prstGeom>
          <a:ln w="6350">
            <a:solidFill>
              <a:srgbClr val="C9D8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764024" y="2327148"/>
            <a:ext cx="1243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" b="0" i="0">
                <a:solidFill>
                  <a:srgbClr val="4A5260"/>
                </a:solidFill>
                <a:latin typeface="Calibri"/>
              </a:rPr>
              <a:t>Freshness and completeness of all five feeds</a:t>
            </a:r>
          </a:p>
        </p:txBody>
      </p:sp>
      <p:sp>
        <p:nvSpPr>
          <p:cNvPr id="65" name="mini:Model performance"/>
          <p:cNvSpPr/>
          <p:nvPr/>
        </p:nvSpPr>
        <p:spPr>
          <a:xfrm>
            <a:off x="3191256" y="2665476"/>
            <a:ext cx="1408176" cy="827532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ob_bars" descr="ob_bar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4408" y="2738628"/>
            <a:ext cx="155448" cy="15544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465576" y="2720340"/>
            <a:ext cx="1078992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Model performance</a:t>
            </a:r>
          </a:p>
        </p:txBody>
      </p:sp>
      <p:sp>
        <p:nvSpPr>
          <p:cNvPr id="68" name="Freeform 67"/>
          <p:cNvSpPr/>
          <p:nvPr/>
        </p:nvSpPr>
        <p:spPr>
          <a:xfrm>
            <a:off x="3282696" y="2944596"/>
            <a:ext cx="1225296" cy="264947"/>
          </a:xfrm>
          <a:custGeom>
            <a:avLst/>
            <a:gdLst/>
            <a:ahLst/>
            <a:cxnLst/>
            <a:rect l="l" t="t" r="r" b="b"/>
            <a:pathLst>
              <a:path w="1225296" h="264947">
                <a:moveTo>
                  <a:pt x="0" y="257882"/>
                </a:moveTo>
                <a:lnTo>
                  <a:pt x="30632" y="253307"/>
                </a:lnTo>
                <a:lnTo>
                  <a:pt x="61264" y="246465"/>
                </a:lnTo>
                <a:lnTo>
                  <a:pt x="91897" y="236669"/>
                </a:lnTo>
                <a:lnTo>
                  <a:pt x="122529" y="223251"/>
                </a:lnTo>
                <a:lnTo>
                  <a:pt x="153162" y="205698"/>
                </a:lnTo>
                <a:lnTo>
                  <a:pt x="183794" y="183814"/>
                </a:lnTo>
                <a:lnTo>
                  <a:pt x="214426" y="157879"/>
                </a:lnTo>
                <a:lnTo>
                  <a:pt x="245059" y="128785"/>
                </a:lnTo>
                <a:lnTo>
                  <a:pt x="275691" y="98071"/>
                </a:lnTo>
                <a:lnTo>
                  <a:pt x="306324" y="67855"/>
                </a:lnTo>
                <a:lnTo>
                  <a:pt x="336956" y="40619"/>
                </a:lnTo>
                <a:lnTo>
                  <a:pt x="367588" y="18890"/>
                </a:lnTo>
                <a:lnTo>
                  <a:pt x="398221" y="4854"/>
                </a:lnTo>
                <a:lnTo>
                  <a:pt x="428853" y="0"/>
                </a:lnTo>
                <a:lnTo>
                  <a:pt x="459486" y="4854"/>
                </a:lnTo>
                <a:lnTo>
                  <a:pt x="490118" y="18890"/>
                </a:lnTo>
                <a:lnTo>
                  <a:pt x="520750" y="40619"/>
                </a:lnTo>
                <a:lnTo>
                  <a:pt x="551383" y="67855"/>
                </a:lnTo>
                <a:lnTo>
                  <a:pt x="582015" y="98071"/>
                </a:lnTo>
                <a:lnTo>
                  <a:pt x="612648" y="128785"/>
                </a:lnTo>
                <a:lnTo>
                  <a:pt x="643280" y="157879"/>
                </a:lnTo>
                <a:lnTo>
                  <a:pt x="673912" y="183814"/>
                </a:lnTo>
                <a:lnTo>
                  <a:pt x="704545" y="205698"/>
                </a:lnTo>
                <a:lnTo>
                  <a:pt x="735177" y="223251"/>
                </a:lnTo>
                <a:lnTo>
                  <a:pt x="765810" y="236669"/>
                </a:lnTo>
                <a:lnTo>
                  <a:pt x="796442" y="246465"/>
                </a:lnTo>
                <a:lnTo>
                  <a:pt x="827074" y="253307"/>
                </a:lnTo>
                <a:lnTo>
                  <a:pt x="857707" y="257882"/>
                </a:lnTo>
                <a:lnTo>
                  <a:pt x="888339" y="260814"/>
                </a:lnTo>
                <a:lnTo>
                  <a:pt x="918972" y="262618"/>
                </a:lnTo>
                <a:lnTo>
                  <a:pt x="949604" y="263682"/>
                </a:lnTo>
                <a:lnTo>
                  <a:pt x="980236" y="264285"/>
                </a:lnTo>
                <a:lnTo>
                  <a:pt x="1010869" y="264613"/>
                </a:lnTo>
                <a:lnTo>
                  <a:pt x="1041501" y="264785"/>
                </a:lnTo>
                <a:lnTo>
                  <a:pt x="1072134" y="264871"/>
                </a:lnTo>
                <a:lnTo>
                  <a:pt x="1102766" y="264913"/>
                </a:lnTo>
                <a:lnTo>
                  <a:pt x="1133398" y="264933"/>
                </a:lnTo>
                <a:lnTo>
                  <a:pt x="1164031" y="264941"/>
                </a:lnTo>
                <a:lnTo>
                  <a:pt x="1194663" y="264945"/>
                </a:lnTo>
                <a:lnTo>
                  <a:pt x="1225296" y="264947"/>
                </a:lnTo>
              </a:path>
            </a:pathLst>
          </a:custGeom>
          <a:noFill/>
          <a:ln w="15875">
            <a:solidFill>
              <a:srgbClr val="E27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Freeform 68"/>
          <p:cNvSpPr/>
          <p:nvPr/>
        </p:nvSpPr>
        <p:spPr>
          <a:xfrm>
            <a:off x="3282696" y="2944596"/>
            <a:ext cx="1225296" cy="264830"/>
          </a:xfrm>
          <a:custGeom>
            <a:avLst/>
            <a:gdLst/>
            <a:ahLst/>
            <a:cxnLst/>
            <a:rect l="l" t="t" r="r" b="b"/>
            <a:pathLst>
              <a:path w="1225296" h="264830">
                <a:moveTo>
                  <a:pt x="0" y="264830"/>
                </a:moveTo>
                <a:lnTo>
                  <a:pt x="30632" y="264713"/>
                </a:lnTo>
                <a:lnTo>
                  <a:pt x="61264" y="264497"/>
                </a:lnTo>
                <a:lnTo>
                  <a:pt x="91897" y="264109"/>
                </a:lnTo>
                <a:lnTo>
                  <a:pt x="122529" y="263435"/>
                </a:lnTo>
                <a:lnTo>
                  <a:pt x="153162" y="262305"/>
                </a:lnTo>
                <a:lnTo>
                  <a:pt x="183794" y="260475"/>
                </a:lnTo>
                <a:lnTo>
                  <a:pt x="214426" y="257616"/>
                </a:lnTo>
                <a:lnTo>
                  <a:pt x="245059" y="253307"/>
                </a:lnTo>
                <a:lnTo>
                  <a:pt x="275691" y="247044"/>
                </a:lnTo>
                <a:lnTo>
                  <a:pt x="306324" y="238276"/>
                </a:lnTo>
                <a:lnTo>
                  <a:pt x="336956" y="226460"/>
                </a:lnTo>
                <a:lnTo>
                  <a:pt x="367588" y="211154"/>
                </a:lnTo>
                <a:lnTo>
                  <a:pt x="398221" y="192121"/>
                </a:lnTo>
                <a:lnTo>
                  <a:pt x="428853" y="169448"/>
                </a:lnTo>
                <a:lnTo>
                  <a:pt x="459486" y="143646"/>
                </a:lnTo>
                <a:lnTo>
                  <a:pt x="490118" y="115708"/>
                </a:lnTo>
                <a:lnTo>
                  <a:pt x="520750" y="87099"/>
                </a:lnTo>
                <a:lnTo>
                  <a:pt x="551383" y="59656"/>
                </a:lnTo>
                <a:lnTo>
                  <a:pt x="582015" y="35417"/>
                </a:lnTo>
                <a:lnTo>
                  <a:pt x="612648" y="16370"/>
                </a:lnTo>
                <a:lnTo>
                  <a:pt x="643280" y="4191"/>
                </a:lnTo>
                <a:lnTo>
                  <a:pt x="673912" y="0"/>
                </a:lnTo>
                <a:lnTo>
                  <a:pt x="704545" y="4191"/>
                </a:lnTo>
                <a:lnTo>
                  <a:pt x="735177" y="16370"/>
                </a:lnTo>
                <a:lnTo>
                  <a:pt x="765810" y="35417"/>
                </a:lnTo>
                <a:lnTo>
                  <a:pt x="796442" y="59656"/>
                </a:lnTo>
                <a:lnTo>
                  <a:pt x="827074" y="87099"/>
                </a:lnTo>
                <a:lnTo>
                  <a:pt x="857707" y="115708"/>
                </a:lnTo>
                <a:lnTo>
                  <a:pt x="888339" y="143646"/>
                </a:lnTo>
                <a:lnTo>
                  <a:pt x="918972" y="169448"/>
                </a:lnTo>
                <a:lnTo>
                  <a:pt x="949604" y="192121"/>
                </a:lnTo>
                <a:lnTo>
                  <a:pt x="980236" y="211154"/>
                </a:lnTo>
                <a:lnTo>
                  <a:pt x="1010869" y="226460"/>
                </a:lnTo>
                <a:lnTo>
                  <a:pt x="1041501" y="238276"/>
                </a:lnTo>
                <a:lnTo>
                  <a:pt x="1072134" y="247044"/>
                </a:lnTo>
                <a:lnTo>
                  <a:pt x="1102766" y="253307"/>
                </a:lnTo>
                <a:lnTo>
                  <a:pt x="1133398" y="257616"/>
                </a:lnTo>
                <a:lnTo>
                  <a:pt x="1164031" y="260475"/>
                </a:lnTo>
                <a:lnTo>
                  <a:pt x="1194663" y="262305"/>
                </a:lnTo>
                <a:lnTo>
                  <a:pt x="1225296" y="263435"/>
                </a:lnTo>
              </a:path>
            </a:pathLst>
          </a:custGeom>
          <a:noFill/>
          <a:ln w="15875">
            <a:solidFill>
              <a:srgbClr val="1C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Freeform 69"/>
          <p:cNvSpPr/>
          <p:nvPr/>
        </p:nvSpPr>
        <p:spPr>
          <a:xfrm>
            <a:off x="3282696" y="3084081"/>
            <a:ext cx="1225296" cy="124435"/>
          </a:xfrm>
          <a:custGeom>
            <a:avLst/>
            <a:gdLst/>
            <a:ahLst/>
            <a:cxnLst/>
            <a:rect l="l" t="t" r="r" b="b"/>
            <a:pathLst>
              <a:path w="1225296" h="124435">
                <a:moveTo>
                  <a:pt x="0" y="124435"/>
                </a:moveTo>
                <a:lnTo>
                  <a:pt x="30632" y="123960"/>
                </a:lnTo>
                <a:lnTo>
                  <a:pt x="61264" y="123300"/>
                </a:lnTo>
                <a:lnTo>
                  <a:pt x="91897" y="122399"/>
                </a:lnTo>
                <a:lnTo>
                  <a:pt x="122529" y="121189"/>
                </a:lnTo>
                <a:lnTo>
                  <a:pt x="153162" y="119595"/>
                </a:lnTo>
                <a:lnTo>
                  <a:pt x="183794" y="117529"/>
                </a:lnTo>
                <a:lnTo>
                  <a:pt x="214426" y="114903"/>
                </a:lnTo>
                <a:lnTo>
                  <a:pt x="245059" y="111626"/>
                </a:lnTo>
                <a:lnTo>
                  <a:pt x="275691" y="107612"/>
                </a:lnTo>
                <a:lnTo>
                  <a:pt x="306324" y="102792"/>
                </a:lnTo>
                <a:lnTo>
                  <a:pt x="336956" y="97116"/>
                </a:lnTo>
                <a:lnTo>
                  <a:pt x="367588" y="90568"/>
                </a:lnTo>
                <a:lnTo>
                  <a:pt x="398221" y="83174"/>
                </a:lnTo>
                <a:lnTo>
                  <a:pt x="428853" y="75008"/>
                </a:lnTo>
                <a:lnTo>
                  <a:pt x="459486" y="66198"/>
                </a:lnTo>
                <a:lnTo>
                  <a:pt x="490118" y="56929"/>
                </a:lnTo>
                <a:lnTo>
                  <a:pt x="520750" y="47439"/>
                </a:lnTo>
                <a:lnTo>
                  <a:pt x="551383" y="38013"/>
                </a:lnTo>
                <a:lnTo>
                  <a:pt x="582015" y="28966"/>
                </a:lnTo>
                <a:lnTo>
                  <a:pt x="612648" y="20635"/>
                </a:lnTo>
                <a:lnTo>
                  <a:pt x="643280" y="13350"/>
                </a:lnTo>
                <a:lnTo>
                  <a:pt x="673912" y="7417"/>
                </a:lnTo>
                <a:lnTo>
                  <a:pt x="704545" y="3098"/>
                </a:lnTo>
                <a:lnTo>
                  <a:pt x="735177" y="587"/>
                </a:lnTo>
                <a:lnTo>
                  <a:pt x="765810" y="0"/>
                </a:lnTo>
                <a:lnTo>
                  <a:pt x="796442" y="1365"/>
                </a:lnTo>
                <a:lnTo>
                  <a:pt x="827074" y="4618"/>
                </a:lnTo>
                <a:lnTo>
                  <a:pt x="857707" y="9610"/>
                </a:lnTo>
                <a:lnTo>
                  <a:pt x="888339" y="16118"/>
                </a:lnTo>
                <a:lnTo>
                  <a:pt x="918972" y="23860"/>
                </a:lnTo>
                <a:lnTo>
                  <a:pt x="949604" y="32518"/>
                </a:lnTo>
                <a:lnTo>
                  <a:pt x="980236" y="41756"/>
                </a:lnTo>
                <a:lnTo>
                  <a:pt x="1010869" y="51245"/>
                </a:lnTo>
                <a:lnTo>
                  <a:pt x="1041501" y="60678"/>
                </a:lnTo>
                <a:lnTo>
                  <a:pt x="1072134" y="69789"/>
                </a:lnTo>
                <a:lnTo>
                  <a:pt x="1102766" y="78360"/>
                </a:lnTo>
                <a:lnTo>
                  <a:pt x="1133398" y="86230"/>
                </a:lnTo>
                <a:lnTo>
                  <a:pt x="1164031" y="93291"/>
                </a:lnTo>
                <a:lnTo>
                  <a:pt x="1194663" y="99491"/>
                </a:lnTo>
                <a:lnTo>
                  <a:pt x="1225296" y="104821"/>
                </a:lnTo>
              </a:path>
            </a:pathLst>
          </a:custGeom>
          <a:noFill/>
          <a:ln w="15875">
            <a:solidFill>
              <a:srgbClr val="3FA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82696" y="3227832"/>
            <a:ext cx="1243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" b="0" i="0">
                <a:solidFill>
                  <a:srgbClr val="4A5260"/>
                </a:solidFill>
                <a:latin typeface="Calibri"/>
              </a:rPr>
              <a:t>Score distribution, precision, drift, fairness</a:t>
            </a:r>
          </a:p>
        </p:txBody>
      </p:sp>
      <p:sp>
        <p:nvSpPr>
          <p:cNvPr id="72" name="mini:AI agent monitoring"/>
          <p:cNvSpPr/>
          <p:nvPr/>
        </p:nvSpPr>
        <p:spPr>
          <a:xfrm>
            <a:off x="4672584" y="2665476"/>
            <a:ext cx="1408176" cy="827532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3" name="ob_robot" descr="ob_robo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45736" y="2738628"/>
            <a:ext cx="155448" cy="15544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946904" y="2720340"/>
            <a:ext cx="1078992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AI agent monitoring</a:t>
            </a:r>
          </a:p>
        </p:txBody>
      </p:sp>
      <p:sp>
        <p:nvSpPr>
          <p:cNvPr id="75" name="Freeform 74"/>
          <p:cNvSpPr/>
          <p:nvPr/>
        </p:nvSpPr>
        <p:spPr>
          <a:xfrm>
            <a:off x="4800637" y="2930652"/>
            <a:ext cx="278770" cy="278656"/>
          </a:xfrm>
          <a:custGeom>
            <a:avLst/>
            <a:gdLst/>
            <a:ahLst/>
            <a:cxnLst/>
            <a:rect l="l" t="t" r="r" b="b"/>
            <a:pathLst>
              <a:path w="278770" h="278656">
                <a:moveTo>
                  <a:pt x="139409" y="0"/>
                </a:moveTo>
                <a:lnTo>
                  <a:pt x="157208" y="1140"/>
                </a:lnTo>
                <a:lnTo>
                  <a:pt x="174716" y="4543"/>
                </a:lnTo>
                <a:lnTo>
                  <a:pt x="191646" y="10153"/>
                </a:lnTo>
                <a:lnTo>
                  <a:pt x="207722" y="17879"/>
                </a:lnTo>
                <a:lnTo>
                  <a:pt x="222680" y="27593"/>
                </a:lnTo>
                <a:lnTo>
                  <a:pt x="236276" y="39136"/>
                </a:lnTo>
                <a:lnTo>
                  <a:pt x="248287" y="52321"/>
                </a:lnTo>
                <a:lnTo>
                  <a:pt x="258517" y="66931"/>
                </a:lnTo>
                <a:lnTo>
                  <a:pt x="266799" y="82728"/>
                </a:lnTo>
                <a:lnTo>
                  <a:pt x="272996" y="99452"/>
                </a:lnTo>
                <a:lnTo>
                  <a:pt x="277008" y="116830"/>
                </a:lnTo>
                <a:lnTo>
                  <a:pt x="278770" y="134579"/>
                </a:lnTo>
                <a:lnTo>
                  <a:pt x="278251" y="152407"/>
                </a:lnTo>
                <a:lnTo>
                  <a:pt x="275461" y="170023"/>
                </a:lnTo>
                <a:lnTo>
                  <a:pt x="270445" y="187139"/>
                </a:lnTo>
                <a:lnTo>
                  <a:pt x="263285" y="203474"/>
                </a:lnTo>
                <a:lnTo>
                  <a:pt x="254099" y="218763"/>
                </a:lnTo>
                <a:lnTo>
                  <a:pt x="243037" y="232753"/>
                </a:lnTo>
                <a:lnTo>
                  <a:pt x="230279" y="245217"/>
                </a:lnTo>
                <a:lnTo>
                  <a:pt x="216035" y="255951"/>
                </a:lnTo>
                <a:lnTo>
                  <a:pt x="200538" y="264779"/>
                </a:lnTo>
                <a:lnTo>
                  <a:pt x="184040" y="271556"/>
                </a:lnTo>
                <a:lnTo>
                  <a:pt x="166812" y="276172"/>
                </a:lnTo>
                <a:lnTo>
                  <a:pt x="149136" y="278552"/>
                </a:lnTo>
                <a:lnTo>
                  <a:pt x="131300" y="278656"/>
                </a:lnTo>
                <a:lnTo>
                  <a:pt x="113598" y="276482"/>
                </a:lnTo>
                <a:lnTo>
                  <a:pt x="96317" y="272067"/>
                </a:lnTo>
                <a:lnTo>
                  <a:pt x="79742" y="265482"/>
                </a:lnTo>
                <a:lnTo>
                  <a:pt x="64142" y="256835"/>
                </a:lnTo>
                <a:lnTo>
                  <a:pt x="49774" y="246267"/>
                </a:lnTo>
                <a:lnTo>
                  <a:pt x="36873" y="233953"/>
                </a:lnTo>
                <a:lnTo>
                  <a:pt x="25648" y="220092"/>
                </a:lnTo>
                <a:lnTo>
                  <a:pt x="16285" y="204911"/>
                </a:lnTo>
                <a:lnTo>
                  <a:pt x="8936" y="188660"/>
                </a:lnTo>
                <a:lnTo>
                  <a:pt x="3721" y="171604"/>
                </a:lnTo>
                <a:lnTo>
                  <a:pt x="726" y="154022"/>
                </a:lnTo>
                <a:lnTo>
                  <a:pt x="0" y="136201"/>
                </a:lnTo>
                <a:lnTo>
                  <a:pt x="1555" y="118433"/>
                </a:lnTo>
                <a:lnTo>
                  <a:pt x="5364" y="101009"/>
                </a:lnTo>
                <a:lnTo>
                  <a:pt x="11367" y="84214"/>
                </a:lnTo>
                <a:lnTo>
                  <a:pt x="19464" y="68322"/>
                </a:lnTo>
                <a:lnTo>
                  <a:pt x="29524" y="53594"/>
                </a:lnTo>
                <a:lnTo>
                  <a:pt x="41381" y="40270"/>
                </a:lnTo>
                <a:lnTo>
                  <a:pt x="54841" y="28569"/>
                </a:lnTo>
                <a:lnTo>
                  <a:pt x="69686" y="18682"/>
                </a:lnTo>
                <a:lnTo>
                  <a:pt x="85670" y="10770"/>
                </a:lnTo>
                <a:lnTo>
                  <a:pt x="102534" y="4963"/>
                </a:lnTo>
                <a:lnTo>
                  <a:pt x="120001" y="1357"/>
                </a:lnTo>
                <a:lnTo>
                  <a:pt x="127376" y="53830"/>
                </a:lnTo>
                <a:lnTo>
                  <a:pt x="116546" y="56067"/>
                </a:lnTo>
                <a:lnTo>
                  <a:pt x="106091" y="59667"/>
                </a:lnTo>
                <a:lnTo>
                  <a:pt x="96180" y="64572"/>
                </a:lnTo>
                <a:lnTo>
                  <a:pt x="86977" y="70702"/>
                </a:lnTo>
                <a:lnTo>
                  <a:pt x="78631" y="77957"/>
                </a:lnTo>
                <a:lnTo>
                  <a:pt x="71280" y="86218"/>
                </a:lnTo>
                <a:lnTo>
                  <a:pt x="65043" y="95349"/>
                </a:lnTo>
                <a:lnTo>
                  <a:pt x="60023" y="105202"/>
                </a:lnTo>
                <a:lnTo>
                  <a:pt x="56301" y="115615"/>
                </a:lnTo>
                <a:lnTo>
                  <a:pt x="53939" y="126418"/>
                </a:lnTo>
                <a:lnTo>
                  <a:pt x="52975" y="137434"/>
                </a:lnTo>
                <a:lnTo>
                  <a:pt x="53426" y="148483"/>
                </a:lnTo>
                <a:lnTo>
                  <a:pt x="55282" y="159384"/>
                </a:lnTo>
                <a:lnTo>
                  <a:pt x="58515" y="169959"/>
                </a:lnTo>
                <a:lnTo>
                  <a:pt x="63072" y="180034"/>
                </a:lnTo>
                <a:lnTo>
                  <a:pt x="68877" y="189446"/>
                </a:lnTo>
                <a:lnTo>
                  <a:pt x="75836" y="198040"/>
                </a:lnTo>
                <a:lnTo>
                  <a:pt x="83835" y="205675"/>
                </a:lnTo>
                <a:lnTo>
                  <a:pt x="92744" y="212227"/>
                </a:lnTo>
                <a:lnTo>
                  <a:pt x="102415" y="217588"/>
                </a:lnTo>
                <a:lnTo>
                  <a:pt x="112692" y="221671"/>
                </a:lnTo>
                <a:lnTo>
                  <a:pt x="123406" y="224408"/>
                </a:lnTo>
                <a:lnTo>
                  <a:pt x="134382" y="225756"/>
                </a:lnTo>
                <a:lnTo>
                  <a:pt x="145439" y="225691"/>
                </a:lnTo>
                <a:lnTo>
                  <a:pt x="156399" y="224216"/>
                </a:lnTo>
                <a:lnTo>
                  <a:pt x="167080" y="221354"/>
                </a:lnTo>
                <a:lnTo>
                  <a:pt x="177309" y="217152"/>
                </a:lnTo>
                <a:lnTo>
                  <a:pt x="186917" y="211679"/>
                </a:lnTo>
                <a:lnTo>
                  <a:pt x="195749" y="205024"/>
                </a:lnTo>
                <a:lnTo>
                  <a:pt x="203658" y="197296"/>
                </a:lnTo>
                <a:lnTo>
                  <a:pt x="210517" y="188622"/>
                </a:lnTo>
                <a:lnTo>
                  <a:pt x="216212" y="179143"/>
                </a:lnTo>
                <a:lnTo>
                  <a:pt x="220651" y="169015"/>
                </a:lnTo>
                <a:lnTo>
                  <a:pt x="223761" y="158404"/>
                </a:lnTo>
                <a:lnTo>
                  <a:pt x="225491" y="147482"/>
                </a:lnTo>
                <a:lnTo>
                  <a:pt x="225812" y="136428"/>
                </a:lnTo>
                <a:lnTo>
                  <a:pt x="224720" y="125424"/>
                </a:lnTo>
                <a:lnTo>
                  <a:pt x="222233" y="114649"/>
                </a:lnTo>
                <a:lnTo>
                  <a:pt x="218390" y="104280"/>
                </a:lnTo>
                <a:lnTo>
                  <a:pt x="213256" y="94487"/>
                </a:lnTo>
                <a:lnTo>
                  <a:pt x="206913" y="85428"/>
                </a:lnTo>
                <a:lnTo>
                  <a:pt x="199466" y="77254"/>
                </a:lnTo>
                <a:lnTo>
                  <a:pt x="191037" y="70097"/>
                </a:lnTo>
                <a:lnTo>
                  <a:pt x="181763" y="64074"/>
                </a:lnTo>
                <a:lnTo>
                  <a:pt x="171796" y="59284"/>
                </a:lnTo>
                <a:lnTo>
                  <a:pt x="161299" y="55806"/>
                </a:lnTo>
                <a:lnTo>
                  <a:pt x="150444" y="53696"/>
                </a:lnTo>
                <a:lnTo>
                  <a:pt x="139409" y="52989"/>
                </a:lnTo>
                <a:close/>
              </a:path>
            </a:pathLst>
          </a:cu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Freeform 75"/>
          <p:cNvSpPr/>
          <p:nvPr/>
        </p:nvSpPr>
        <p:spPr>
          <a:xfrm>
            <a:off x="4923051" y="2930736"/>
            <a:ext cx="13977" cy="53549"/>
          </a:xfrm>
          <a:custGeom>
            <a:avLst/>
            <a:gdLst/>
            <a:ahLst/>
            <a:cxnLst/>
            <a:rect l="l" t="t" r="r" b="b"/>
            <a:pathLst>
              <a:path w="13977" h="53549">
                <a:moveTo>
                  <a:pt x="0" y="955"/>
                </a:moveTo>
                <a:lnTo>
                  <a:pt x="2015" y="722"/>
                </a:lnTo>
                <a:lnTo>
                  <a:pt x="4033" y="519"/>
                </a:lnTo>
                <a:lnTo>
                  <a:pt x="6054" y="345"/>
                </a:lnTo>
                <a:lnTo>
                  <a:pt x="8077" y="201"/>
                </a:lnTo>
                <a:lnTo>
                  <a:pt x="10102" y="86"/>
                </a:lnTo>
                <a:lnTo>
                  <a:pt x="12128" y="0"/>
                </a:lnTo>
                <a:lnTo>
                  <a:pt x="13977" y="52958"/>
                </a:lnTo>
                <a:lnTo>
                  <a:pt x="12721" y="53011"/>
                </a:lnTo>
                <a:lnTo>
                  <a:pt x="11465" y="53082"/>
                </a:lnTo>
                <a:lnTo>
                  <a:pt x="10211" y="53171"/>
                </a:lnTo>
                <a:lnTo>
                  <a:pt x="8958" y="53279"/>
                </a:lnTo>
                <a:lnTo>
                  <a:pt x="7707" y="53405"/>
                </a:lnTo>
                <a:lnTo>
                  <a:pt x="6458" y="53549"/>
                </a:lnTo>
                <a:close/>
              </a:path>
            </a:pathLst>
          </a:cu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Freeform 76"/>
          <p:cNvSpPr/>
          <p:nvPr/>
        </p:nvSpPr>
        <p:spPr>
          <a:xfrm>
            <a:off x="4936395" y="2930655"/>
            <a:ext cx="3047" cy="53016"/>
          </a:xfrm>
          <a:custGeom>
            <a:avLst/>
            <a:gdLst/>
            <a:ahLst/>
            <a:cxnLst/>
            <a:rect l="l" t="t" r="r" b="b"/>
            <a:pathLst>
              <a:path w="3047" h="53016">
                <a:moveTo>
                  <a:pt x="0" y="44"/>
                </a:moveTo>
                <a:lnTo>
                  <a:pt x="892" y="24"/>
                </a:lnTo>
                <a:lnTo>
                  <a:pt x="1785" y="9"/>
                </a:lnTo>
                <a:lnTo>
                  <a:pt x="2677" y="0"/>
                </a:lnTo>
                <a:lnTo>
                  <a:pt x="3047" y="52988"/>
                </a:lnTo>
                <a:lnTo>
                  <a:pt x="2494" y="52994"/>
                </a:lnTo>
                <a:lnTo>
                  <a:pt x="1940" y="53003"/>
                </a:lnTo>
                <a:lnTo>
                  <a:pt x="1387" y="53016"/>
                </a:lnTo>
                <a:close/>
              </a:path>
            </a:pathLst>
          </a:custGeom>
          <a:solidFill>
            <a:srgbClr val="C9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00600" y="2996946"/>
            <a:ext cx="278892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40" b="1" i="0">
                <a:solidFill>
                  <a:srgbClr val="1C2330"/>
                </a:solidFill>
                <a:latin typeface="Calibri"/>
              </a:rPr>
              <a:t>99%</a:t>
            </a:r>
          </a:p>
        </p:txBody>
      </p:sp>
      <p:sp>
        <p:nvSpPr>
          <p:cNvPr id="79" name="Oval 78"/>
          <p:cNvSpPr/>
          <p:nvPr/>
        </p:nvSpPr>
        <p:spPr>
          <a:xfrm>
            <a:off x="5207507" y="2978658"/>
            <a:ext cx="54864" cy="5486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289803" y="2951226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0" i="0">
                <a:solidFill>
                  <a:srgbClr val="1C2330"/>
                </a:solidFill>
                <a:latin typeface="Calibri"/>
              </a:rPr>
              <a:t>Valid</a:t>
            </a:r>
          </a:p>
        </p:txBody>
      </p:sp>
      <p:sp>
        <p:nvSpPr>
          <p:cNvPr id="81" name="Oval 80"/>
          <p:cNvSpPr/>
          <p:nvPr/>
        </p:nvSpPr>
        <p:spPr>
          <a:xfrm>
            <a:off x="5591555" y="2978658"/>
            <a:ext cx="54864" cy="5486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673851" y="2951226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0" i="0">
                <a:solidFill>
                  <a:srgbClr val="1C2330"/>
                </a:solidFill>
                <a:latin typeface="Calibri"/>
              </a:rPr>
              <a:t>Fallback</a:t>
            </a:r>
          </a:p>
        </p:txBody>
      </p:sp>
      <p:sp>
        <p:nvSpPr>
          <p:cNvPr id="83" name="Oval 82"/>
          <p:cNvSpPr/>
          <p:nvPr/>
        </p:nvSpPr>
        <p:spPr>
          <a:xfrm>
            <a:off x="5207507" y="3106674"/>
            <a:ext cx="54864" cy="54864"/>
          </a:xfrm>
          <a:prstGeom prst="ellipse">
            <a:avLst/>
          </a:prstGeom>
          <a:solidFill>
            <a:srgbClr val="C95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289803" y="3079242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0" i="0">
                <a:solidFill>
                  <a:srgbClr val="1C2330"/>
                </a:solidFill>
                <a:latin typeface="Calibri"/>
              </a:rPr>
              <a:t>Failed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64024" y="3227832"/>
            <a:ext cx="124358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" b="0" i="0">
                <a:solidFill>
                  <a:srgbClr val="4A5260"/>
                </a:solidFill>
                <a:latin typeface="Calibri"/>
              </a:rPr>
              <a:t>Response time, tool usage and success rate</a:t>
            </a:r>
          </a:p>
        </p:txBody>
      </p:sp>
      <p:sp>
        <p:nvSpPr>
          <p:cNvPr id="86" name="key targets"/>
          <p:cNvSpPr/>
          <p:nvPr/>
        </p:nvSpPr>
        <p:spPr>
          <a:xfrm>
            <a:off x="3191256" y="3566160"/>
            <a:ext cx="2889504" cy="603504"/>
          </a:xfrm>
          <a:prstGeom prst="roundRect">
            <a:avLst>
              <a:gd name="adj" fmla="val 9090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282696" y="3611880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0F4A2A"/>
                </a:solidFill>
                <a:latin typeface="Arial"/>
              </a:rPr>
              <a:t>KEY TARGETS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27832" y="3767328"/>
            <a:ext cx="6492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1E7A45"/>
                </a:solidFill>
                <a:latin typeface="Calibri"/>
              </a:rPr>
              <a:t>99.95%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27832" y="3959352"/>
            <a:ext cx="64922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monthly uptime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50208" y="3767328"/>
            <a:ext cx="6492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1E7A45"/>
                </a:solidFill>
                <a:latin typeface="Calibri"/>
              </a:rPr>
              <a:t>≥ 90%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50208" y="3959352"/>
            <a:ext cx="64922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audited precision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913632" y="3785616"/>
            <a:ext cx="0" cy="310896"/>
          </a:xfrm>
          <a:prstGeom prst="line">
            <a:avLst/>
          </a:prstGeom>
          <a:ln w="6350">
            <a:solidFill>
              <a:srgbClr val="C9E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672584" y="3767328"/>
            <a:ext cx="6492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1E7A45"/>
                </a:solidFill>
                <a:latin typeface="Calibri"/>
              </a:rPr>
              <a:t>&lt; 0.2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72584" y="3959352"/>
            <a:ext cx="64922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PSI drift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636008" y="3785616"/>
            <a:ext cx="0" cy="310896"/>
          </a:xfrm>
          <a:prstGeom prst="line">
            <a:avLst/>
          </a:prstGeom>
          <a:ln w="6350">
            <a:solidFill>
              <a:srgbClr val="C9E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394960" y="3767328"/>
            <a:ext cx="6492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1E7A45"/>
                </a:solidFill>
                <a:latin typeface="Calibri"/>
              </a:rPr>
              <a:t>0.80–1.25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94960" y="3959352"/>
            <a:ext cx="64922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60" b="0" i="0">
                <a:solidFill>
                  <a:srgbClr val="1C2330"/>
                </a:solidFill>
                <a:latin typeface="Calibri"/>
              </a:rPr>
              <a:t>fairness ratio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358384" y="3785616"/>
            <a:ext cx="0" cy="310896"/>
          </a:xfrm>
          <a:prstGeom prst="line">
            <a:avLst/>
          </a:prstGeom>
          <a:ln w="6350">
            <a:solidFill>
              <a:srgbClr val="C9E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disc:Reliable &amp; fail-safe by design"/>
          <p:cNvSpPr/>
          <p:nvPr/>
        </p:nvSpPr>
        <p:spPr>
          <a:xfrm>
            <a:off x="6391656" y="1289304"/>
            <a:ext cx="384048" cy="38404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0" name="Picture 99" descr="p_shield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6146" y="1373794"/>
            <a:ext cx="215066" cy="215066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867144" y="1271016"/>
            <a:ext cx="2139696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60" b="1" i="0">
                <a:solidFill>
                  <a:srgbClr val="0F4A2A"/>
                </a:solidFill>
                <a:latin typeface="Arial"/>
              </a:rPr>
              <a:t>Reliable &amp; fail-safe by design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67144" y="1453896"/>
            <a:ext cx="213969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Clear fallbacks, so customers never pay for a failure.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91656" y="1764792"/>
            <a:ext cx="1243584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4A5260"/>
                </a:solidFill>
                <a:latin typeface="Arial"/>
              </a:rPr>
              <a:t>SCENARIO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91271" y="1764792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1E7A45"/>
                </a:solidFill>
                <a:latin typeface="Arial"/>
              </a:rPr>
              <a:t>SYSTEM RESPONSE</a:t>
            </a:r>
          </a:p>
        </p:txBody>
      </p:sp>
      <p:pic>
        <p:nvPicPr>
          <p:cNvPr id="105" name="fs_warn" descr="fs_war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1656" y="2101977"/>
            <a:ext cx="237744" cy="237744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6702552" y="1965960"/>
            <a:ext cx="932688" cy="50977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Scoring service slow or down</a:t>
            </a:r>
          </a:p>
        </p:txBody>
      </p:sp>
      <p:sp>
        <p:nvSpPr>
          <p:cNvPr id="107" name="Oval 106"/>
          <p:cNvSpPr/>
          <p:nvPr/>
        </p:nvSpPr>
        <p:spPr>
          <a:xfrm>
            <a:off x="7685531" y="2143125"/>
            <a:ext cx="155448" cy="155448"/>
          </a:xfrm>
          <a:prstGeom prst="ellipse">
            <a:avLst/>
          </a:prstGeom>
          <a:solidFill>
            <a:srgbClr val="3FA45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Freeform 107"/>
          <p:cNvSpPr/>
          <p:nvPr/>
        </p:nvSpPr>
        <p:spPr>
          <a:xfrm>
            <a:off x="7727502" y="2188204"/>
            <a:ext cx="87051" cy="65289"/>
          </a:xfrm>
          <a:custGeom>
            <a:avLst/>
            <a:gdLst/>
            <a:ahLst/>
            <a:cxnLst/>
            <a:rect l="l" t="t" r="r" b="b"/>
            <a:pathLst>
              <a:path w="87051" h="65289">
                <a:moveTo>
                  <a:pt x="87051" y="32645"/>
                </a:moveTo>
                <a:lnTo>
                  <a:pt x="0" y="65289"/>
                </a:lnTo>
                <a:lnTo>
                  <a:pt x="26116" y="326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sp0"/>
          <p:cNvSpPr/>
          <p:nvPr/>
        </p:nvSpPr>
        <p:spPr>
          <a:xfrm>
            <a:off x="7891271" y="1965960"/>
            <a:ext cx="1115568" cy="509778"/>
          </a:xfrm>
          <a:prstGeom prst="roundRect">
            <a:avLst>
              <a:gd name="adj" fmla="val 10762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982711" y="1965960"/>
            <a:ext cx="950976" cy="50977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Refund proceeds as today </a:t>
            </a:r>
            <a:r>
              <a:rPr sz="720" b="0" i="0">
                <a:solidFill>
                  <a:srgbClr val="4A5260"/>
                </a:solidFill>
                <a:latin typeface="Calibri"/>
              </a:rPr>
              <a:t>(fail open)</a:t>
            </a:r>
          </a:p>
        </p:txBody>
      </p:sp>
      <p:pic>
        <p:nvPicPr>
          <p:cNvPr id="111" name="fs_db" descr="fs_db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1656" y="2666619"/>
            <a:ext cx="237744" cy="237744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6702552" y="2530602"/>
            <a:ext cx="932688" cy="50977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A data feed is late</a:t>
            </a:r>
          </a:p>
        </p:txBody>
      </p:sp>
      <p:sp>
        <p:nvSpPr>
          <p:cNvPr id="113" name="Oval 112"/>
          <p:cNvSpPr/>
          <p:nvPr/>
        </p:nvSpPr>
        <p:spPr>
          <a:xfrm>
            <a:off x="7685531" y="2707767"/>
            <a:ext cx="155448" cy="155448"/>
          </a:xfrm>
          <a:prstGeom prst="ellipse">
            <a:avLst/>
          </a:prstGeom>
          <a:solidFill>
            <a:srgbClr val="3FA45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Freeform 113"/>
          <p:cNvSpPr/>
          <p:nvPr/>
        </p:nvSpPr>
        <p:spPr>
          <a:xfrm>
            <a:off x="7727502" y="2752846"/>
            <a:ext cx="87051" cy="65289"/>
          </a:xfrm>
          <a:custGeom>
            <a:avLst/>
            <a:gdLst/>
            <a:ahLst/>
            <a:cxnLst/>
            <a:rect l="l" t="t" r="r" b="b"/>
            <a:pathLst>
              <a:path w="87051" h="65289">
                <a:moveTo>
                  <a:pt x="87051" y="32645"/>
                </a:moveTo>
                <a:lnTo>
                  <a:pt x="0" y="65289"/>
                </a:lnTo>
                <a:lnTo>
                  <a:pt x="26116" y="326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sp1"/>
          <p:cNvSpPr/>
          <p:nvPr/>
        </p:nvSpPr>
        <p:spPr>
          <a:xfrm>
            <a:off x="7891271" y="2530602"/>
            <a:ext cx="1115568" cy="509778"/>
          </a:xfrm>
          <a:prstGeom prst="roundRect">
            <a:avLst>
              <a:gd name="adj" fmla="val 10762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982711" y="2530602"/>
            <a:ext cx="950976" cy="50977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Low-confidence score; </a:t>
            </a:r>
            <a:r>
              <a:rPr sz="720" b="0" i="0">
                <a:solidFill>
                  <a:srgbClr val="4A5260"/>
                </a:solidFill>
                <a:latin typeface="Calibri"/>
              </a:rPr>
              <a:t>no auto hold</a:t>
            </a:r>
          </a:p>
        </p:txBody>
      </p:sp>
      <p:pic>
        <p:nvPicPr>
          <p:cNvPr id="117" name="fs_gear" descr="fs_gea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91656" y="3231261"/>
            <a:ext cx="237744" cy="237744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6702552" y="3095244"/>
            <a:ext cx="932688" cy="50977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Bad model or rules release</a:t>
            </a:r>
          </a:p>
        </p:txBody>
      </p:sp>
      <p:sp>
        <p:nvSpPr>
          <p:cNvPr id="119" name="Oval 118"/>
          <p:cNvSpPr/>
          <p:nvPr/>
        </p:nvSpPr>
        <p:spPr>
          <a:xfrm>
            <a:off x="7685531" y="3272409"/>
            <a:ext cx="155448" cy="155448"/>
          </a:xfrm>
          <a:prstGeom prst="ellipse">
            <a:avLst/>
          </a:prstGeom>
          <a:solidFill>
            <a:srgbClr val="3FA45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Freeform 119"/>
          <p:cNvSpPr/>
          <p:nvPr/>
        </p:nvSpPr>
        <p:spPr>
          <a:xfrm>
            <a:off x="7727502" y="3317488"/>
            <a:ext cx="87051" cy="65289"/>
          </a:xfrm>
          <a:custGeom>
            <a:avLst/>
            <a:gdLst/>
            <a:ahLst/>
            <a:cxnLst/>
            <a:rect l="l" t="t" r="r" b="b"/>
            <a:pathLst>
              <a:path w="87051" h="65289">
                <a:moveTo>
                  <a:pt x="87051" y="32645"/>
                </a:moveTo>
                <a:lnTo>
                  <a:pt x="0" y="65289"/>
                </a:lnTo>
                <a:lnTo>
                  <a:pt x="26116" y="326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sp2"/>
          <p:cNvSpPr/>
          <p:nvPr/>
        </p:nvSpPr>
        <p:spPr>
          <a:xfrm>
            <a:off x="7891271" y="3095244"/>
            <a:ext cx="1115568" cy="509778"/>
          </a:xfrm>
          <a:prstGeom prst="roundRect">
            <a:avLst>
              <a:gd name="adj" fmla="val 10762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982711" y="3095244"/>
            <a:ext cx="950976" cy="50977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One-click rollback to the last approved version</a:t>
            </a:r>
          </a:p>
        </p:txBody>
      </p:sp>
      <p:pic>
        <p:nvPicPr>
          <p:cNvPr id="123" name="fs_robot" descr="fs_robo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1656" y="3795903"/>
            <a:ext cx="237744" cy="237744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6702552" y="3659886"/>
            <a:ext cx="932688" cy="50977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AI agent unavailable or invalid output</a:t>
            </a:r>
          </a:p>
        </p:txBody>
      </p:sp>
      <p:sp>
        <p:nvSpPr>
          <p:cNvPr id="125" name="Oval 124"/>
          <p:cNvSpPr/>
          <p:nvPr/>
        </p:nvSpPr>
        <p:spPr>
          <a:xfrm>
            <a:off x="7685531" y="3837051"/>
            <a:ext cx="155448" cy="155448"/>
          </a:xfrm>
          <a:prstGeom prst="ellipse">
            <a:avLst/>
          </a:prstGeom>
          <a:solidFill>
            <a:srgbClr val="3FA45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Freeform 125"/>
          <p:cNvSpPr/>
          <p:nvPr/>
        </p:nvSpPr>
        <p:spPr>
          <a:xfrm>
            <a:off x="7727502" y="3882130"/>
            <a:ext cx="87051" cy="65289"/>
          </a:xfrm>
          <a:custGeom>
            <a:avLst/>
            <a:gdLst/>
            <a:ahLst/>
            <a:cxnLst/>
            <a:rect l="l" t="t" r="r" b="b"/>
            <a:pathLst>
              <a:path w="87051" h="65289">
                <a:moveTo>
                  <a:pt x="87051" y="32645"/>
                </a:moveTo>
                <a:lnTo>
                  <a:pt x="0" y="65289"/>
                </a:lnTo>
                <a:lnTo>
                  <a:pt x="26116" y="326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sp3"/>
          <p:cNvSpPr/>
          <p:nvPr/>
        </p:nvSpPr>
        <p:spPr>
          <a:xfrm>
            <a:off x="7891271" y="3659886"/>
            <a:ext cx="1115568" cy="509778"/>
          </a:xfrm>
          <a:prstGeom prst="roundRect">
            <a:avLst>
              <a:gd name="adj" fmla="val 10762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982711" y="3659886"/>
            <a:ext cx="950976" cy="50977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Non-AI flow takes over; </a:t>
            </a:r>
            <a:r>
              <a:rPr sz="720" b="0" i="0">
                <a:solidFill>
                  <a:srgbClr val="4A5260"/>
                </a:solidFill>
                <a:latin typeface="Calibri"/>
              </a:rPr>
              <a:t>refunds unaffected</a:t>
            </a:r>
          </a:p>
        </p:txBody>
      </p:sp>
      <p:sp>
        <p:nvSpPr>
          <p:cNvPr id="129" name="disc:Path to production"/>
          <p:cNvSpPr/>
          <p:nvPr/>
        </p:nvSpPr>
        <p:spPr>
          <a:xfrm>
            <a:off x="9317736" y="1289304"/>
            <a:ext cx="384048" cy="38404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0" name="Picture 129" descr="p_rocket_g_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02226" y="1373794"/>
            <a:ext cx="215066" cy="215066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9793224" y="1271016"/>
            <a:ext cx="1968703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60" b="1" i="0">
                <a:solidFill>
                  <a:srgbClr val="0F4A2A"/>
                </a:solidFill>
                <a:latin typeface="Arial"/>
              </a:rPr>
              <a:t>Path to production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793224" y="1453896"/>
            <a:ext cx="1968703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Gated rollout with validation and rollback.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9390888" y="1983333"/>
            <a:ext cx="0" cy="1967789"/>
          </a:xfrm>
          <a:prstGeom prst="line">
            <a:avLst/>
          </a:prstGeom>
          <a:ln w="19050">
            <a:solidFill>
              <a:srgbClr val="8CC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9336024" y="1928469"/>
            <a:ext cx="109728" cy="1097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FA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stage0"/>
          <p:cNvSpPr/>
          <p:nvPr/>
        </p:nvSpPr>
        <p:spPr>
          <a:xfrm>
            <a:off x="9537192" y="1764792"/>
            <a:ext cx="2224735" cy="437083"/>
          </a:xfrm>
          <a:prstGeom prst="roundRect">
            <a:avLst>
              <a:gd name="adj" fmla="val 12552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6" name="pp_laptop" descr="pp_laptop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10344" y="1855317"/>
            <a:ext cx="256032" cy="256032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9957816" y="1801368"/>
            <a:ext cx="1730959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DEV &amp; UNIT TEST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957816" y="1929384"/>
            <a:ext cx="1730959" cy="2542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Build and unit test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Synthetic / masked data</a:t>
            </a:r>
          </a:p>
        </p:txBody>
      </p:sp>
      <p:sp>
        <p:nvSpPr>
          <p:cNvPr id="139" name="Oval 138"/>
          <p:cNvSpPr/>
          <p:nvPr/>
        </p:nvSpPr>
        <p:spPr>
          <a:xfrm>
            <a:off x="9336024" y="2420416"/>
            <a:ext cx="109728" cy="1097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FA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stage1"/>
          <p:cNvSpPr/>
          <p:nvPr/>
        </p:nvSpPr>
        <p:spPr>
          <a:xfrm>
            <a:off x="9537192" y="2256739"/>
            <a:ext cx="2224735" cy="437083"/>
          </a:xfrm>
          <a:prstGeom prst="roundRect">
            <a:avLst>
              <a:gd name="adj" fmla="val 12552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1" name="pp_flask" descr="pp_flas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10344" y="2347264"/>
            <a:ext cx="256032" cy="256032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9957816" y="2293315"/>
            <a:ext cx="1730959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STAGING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957816" y="2421331"/>
            <a:ext cx="1730959" cy="2542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End-to-end testing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UAT with analysts</a:t>
            </a:r>
          </a:p>
        </p:txBody>
      </p:sp>
      <p:sp>
        <p:nvSpPr>
          <p:cNvPr id="144" name="Oval 143"/>
          <p:cNvSpPr/>
          <p:nvPr/>
        </p:nvSpPr>
        <p:spPr>
          <a:xfrm>
            <a:off x="9336024" y="2912364"/>
            <a:ext cx="109728" cy="1097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FA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stage2"/>
          <p:cNvSpPr/>
          <p:nvPr/>
        </p:nvSpPr>
        <p:spPr>
          <a:xfrm>
            <a:off x="9537192" y="2748686"/>
            <a:ext cx="2224735" cy="437083"/>
          </a:xfrm>
          <a:prstGeom prst="roundRect">
            <a:avLst>
              <a:gd name="adj" fmla="val 12552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6" name="pp_people" descr="pp_peopl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10344" y="2839212"/>
            <a:ext cx="256032" cy="256032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957816" y="2785262"/>
            <a:ext cx="1730959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LIMITED LAUNCH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957816" y="2913278"/>
            <a:ext cx="1730959" cy="2542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Small % of traffic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Monitored closely</a:t>
            </a:r>
          </a:p>
        </p:txBody>
      </p:sp>
      <p:sp>
        <p:nvSpPr>
          <p:cNvPr id="149" name="Oval 148"/>
          <p:cNvSpPr/>
          <p:nvPr/>
        </p:nvSpPr>
        <p:spPr>
          <a:xfrm>
            <a:off x="9336024" y="3404311"/>
            <a:ext cx="109728" cy="1097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FA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stage3"/>
          <p:cNvSpPr/>
          <p:nvPr/>
        </p:nvSpPr>
        <p:spPr>
          <a:xfrm>
            <a:off x="9537192" y="3240633"/>
            <a:ext cx="2224735" cy="437083"/>
          </a:xfrm>
          <a:prstGeom prst="roundRect">
            <a:avLst>
              <a:gd name="adj" fmla="val 12552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1" name="pp_bars" descr="pp_bar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10344" y="3331159"/>
            <a:ext cx="256032" cy="256032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9957816" y="3277209"/>
            <a:ext cx="1730959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RAMP UP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57816" y="3405225"/>
            <a:ext cx="1730959" cy="2542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Traffic 25% → 50%</a:t>
            </a:r>
          </a:p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Track performance and impact</a:t>
            </a:r>
          </a:p>
        </p:txBody>
      </p:sp>
      <p:sp>
        <p:nvSpPr>
          <p:cNvPr id="154" name="Oval 153"/>
          <p:cNvSpPr/>
          <p:nvPr/>
        </p:nvSpPr>
        <p:spPr>
          <a:xfrm>
            <a:off x="9336024" y="3896258"/>
            <a:ext cx="109728" cy="1097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stage4"/>
          <p:cNvSpPr/>
          <p:nvPr/>
        </p:nvSpPr>
        <p:spPr>
          <a:xfrm>
            <a:off x="9537192" y="3732580"/>
            <a:ext cx="2224735" cy="437083"/>
          </a:xfrm>
          <a:prstGeom prst="roundRect">
            <a:avLst>
              <a:gd name="adj" fmla="val 12552"/>
            </a:avLst>
          </a:prstGeom>
          <a:solidFill>
            <a:srgbClr val="FEF4EC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6" name="pp_flag" descr="pp_flag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10344" y="3823106"/>
            <a:ext cx="256032" cy="256032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9957816" y="3769156"/>
            <a:ext cx="1730959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1" i="0">
                <a:solidFill>
                  <a:srgbClr val="C9561A"/>
                </a:solidFill>
                <a:latin typeface="Arial"/>
              </a:rPr>
              <a:t>FULL ROLLOUT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957816" y="3897172"/>
            <a:ext cx="1730959" cy="2542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C9561A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100% with ongoing monitoring</a:t>
            </a:r>
          </a:p>
          <a:p>
            <a:pPr marL="91440" indent="-91440" algn="l">
              <a:buClr>
                <a:srgbClr val="C9561A"/>
              </a:buClr>
              <a:buFont typeface="Arial"/>
              <a:buChar char="•"/>
            </a:pPr>
            <a:r>
              <a:rPr sz="680" b="0" i="0">
                <a:solidFill>
                  <a:srgbClr val="1C2330"/>
                </a:solidFill>
                <a:latin typeface="Calibri"/>
              </a:rPr>
              <a:t>Rollback in minutes if needed</a:t>
            </a:r>
          </a:p>
        </p:txBody>
      </p:sp>
      <p:sp>
        <p:nvSpPr>
          <p:cNvPr id="159" name="bar2"/>
          <p:cNvSpPr/>
          <p:nvPr/>
        </p:nvSpPr>
        <p:spPr>
          <a:xfrm>
            <a:off x="228600" y="4443983"/>
            <a:ext cx="11734495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283464" y="4480559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57784" y="4443983"/>
            <a:ext cx="356623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SECURITY, COMPLIANCE, RESPONSIBLE AI AND GOVERNANCE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233743" y="4517136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4352615" y="4443983"/>
            <a:ext cx="751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Protect customer data, meet regulation and keep every decision fair and explainable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28600" y="4764023"/>
            <a:ext cx="11734495" cy="1911096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g1"/>
          <p:cNvSpPr/>
          <p:nvPr/>
        </p:nvSpPr>
        <p:spPr>
          <a:xfrm>
            <a:off x="320040" y="4855463"/>
            <a:ext cx="2542032" cy="1728216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disc:Security"/>
          <p:cNvSpPr/>
          <p:nvPr/>
        </p:nvSpPr>
        <p:spPr>
          <a:xfrm>
            <a:off x="429768" y="4965191"/>
            <a:ext cx="384048" cy="38404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7" name="Picture 166" descr="g_lock_w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4258" y="5049682"/>
            <a:ext cx="215066" cy="215066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905255" y="4946903"/>
            <a:ext cx="1847088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60" b="1" i="0">
                <a:solidFill>
                  <a:srgbClr val="0F4A2A"/>
                </a:solidFill>
                <a:latin typeface="Arial"/>
              </a:rPr>
              <a:t>Security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05255" y="5129783"/>
            <a:ext cx="1847088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Keep customer and transaction data safe.</a:t>
            </a:r>
          </a:p>
        </p:txBody>
      </p:sp>
      <p:pic>
        <p:nvPicPr>
          <p:cNvPr id="170" name="sec_shield" descr="sec_shiel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6344" y="5473826"/>
            <a:ext cx="201168" cy="201168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777240" y="5440679"/>
            <a:ext cx="1993391" cy="267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Encrypted in transit and at rest</a:t>
            </a:r>
          </a:p>
        </p:txBody>
      </p:sp>
      <p:pic>
        <p:nvPicPr>
          <p:cNvPr id="172" name="sec_card" descr="sec_car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6344" y="5741289"/>
            <a:ext cx="201168" cy="201168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777240" y="5708142"/>
            <a:ext cx="1993391" cy="267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Tokenised card data; no raw customer IDs</a:t>
            </a:r>
          </a:p>
        </p:txBody>
      </p:sp>
      <p:pic>
        <p:nvPicPr>
          <p:cNvPr id="174" name="sec_person" descr="sec_person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6344" y="6008750"/>
            <a:ext cx="201168" cy="201168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777240" y="5975603"/>
            <a:ext cx="1993391" cy="267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Least-privilege access and SSO</a:t>
            </a:r>
          </a:p>
        </p:txBody>
      </p:sp>
      <p:pic>
        <p:nvPicPr>
          <p:cNvPr id="176" name="sec_cloud" descr="sec_clou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6344" y="6276212"/>
            <a:ext cx="201168" cy="201168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777240" y="6243065"/>
            <a:ext cx="1993391" cy="267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LLM gateway: zero data retention, prompt-injection defences</a:t>
            </a:r>
          </a:p>
        </p:txBody>
      </p:sp>
      <p:sp>
        <p:nvSpPr>
          <p:cNvPr id="178" name="g2"/>
          <p:cNvSpPr/>
          <p:nvPr/>
        </p:nvSpPr>
        <p:spPr>
          <a:xfrm>
            <a:off x="2953512" y="4855463"/>
            <a:ext cx="2706624" cy="1728216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disc:Compliance"/>
          <p:cNvSpPr/>
          <p:nvPr/>
        </p:nvSpPr>
        <p:spPr>
          <a:xfrm>
            <a:off x="3063240" y="4965191"/>
            <a:ext cx="384048" cy="38404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0" name="Picture 179" descr="g_doc_w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47730" y="5049682"/>
            <a:ext cx="215066" cy="215066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3538728" y="4946903"/>
            <a:ext cx="2011680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60" b="1" i="0">
                <a:solidFill>
                  <a:srgbClr val="0F4A2A"/>
                </a:solidFill>
                <a:latin typeface="Arial"/>
              </a:rPr>
              <a:t>Compliance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538728" y="5129783"/>
            <a:ext cx="201168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Meets regulatory and industry requirements.</a:t>
            </a:r>
          </a:p>
        </p:txBody>
      </p:sp>
      <p:pic>
        <p:nvPicPr>
          <p:cNvPr id="183" name="cmp_doc" descr="cmp_doc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099816" y="5473826"/>
            <a:ext cx="201168" cy="201168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3410712" y="5440679"/>
            <a:ext cx="2157984" cy="267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India DPDP Act and GDPR: purpose limits, notice, right to contest</a:t>
            </a:r>
          </a:p>
        </p:txBody>
      </p:sp>
      <p:pic>
        <p:nvPicPr>
          <p:cNvPr id="185" name="cmp_shield" descr="cmp_shiel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099816" y="5741289"/>
            <a:ext cx="201168" cy="201168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3410712" y="5708142"/>
            <a:ext cx="2157984" cy="267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No solely automated significant decisions</a:t>
            </a:r>
          </a:p>
        </p:txBody>
      </p:sp>
      <p:pic>
        <p:nvPicPr>
          <p:cNvPr id="187" name="cmp_card" descr="cmp_car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099816" y="6008750"/>
            <a:ext cx="201168" cy="201168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3410712" y="5975603"/>
            <a:ext cx="2157984" cy="267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PCI DSS for card data</a:t>
            </a:r>
          </a:p>
        </p:txBody>
      </p:sp>
      <p:pic>
        <p:nvPicPr>
          <p:cNvPr id="189" name="cmp_clip" descr="cmp_clip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099816" y="6276212"/>
            <a:ext cx="201168" cy="201168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3410712" y="6243065"/>
            <a:ext cx="2157984" cy="2674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Full audit log of every decision</a:t>
            </a:r>
          </a:p>
        </p:txBody>
      </p:sp>
      <p:sp>
        <p:nvSpPr>
          <p:cNvPr id="191" name="g3"/>
          <p:cNvSpPr/>
          <p:nvPr/>
        </p:nvSpPr>
        <p:spPr>
          <a:xfrm>
            <a:off x="5751576" y="4855463"/>
            <a:ext cx="3675887" cy="1728216"/>
          </a:xfrm>
          <a:prstGeom prst="roundRect">
            <a:avLst>
              <a:gd name="adj" fmla="val 3703"/>
            </a:avLst>
          </a:prstGeom>
          <a:solidFill>
            <a:srgbClr val="FEF4EC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g4"/>
          <p:cNvSpPr/>
          <p:nvPr/>
        </p:nvSpPr>
        <p:spPr>
          <a:xfrm>
            <a:off x="9518904" y="4855463"/>
            <a:ext cx="2352751" cy="1728216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disc:Governance once live"/>
          <p:cNvSpPr/>
          <p:nvPr/>
        </p:nvSpPr>
        <p:spPr>
          <a:xfrm>
            <a:off x="9628632" y="4965191"/>
            <a:ext cx="384048" cy="38404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4" name="Picture 193" descr="g_gear_w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713122" y="5049682"/>
            <a:ext cx="215066" cy="215066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10104119" y="4946903"/>
            <a:ext cx="1657807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60" b="1" i="0">
                <a:solidFill>
                  <a:srgbClr val="0F4A2A"/>
                </a:solidFill>
                <a:latin typeface="Arial"/>
              </a:rPr>
              <a:t>Governance once live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104119" y="5129783"/>
            <a:ext cx="1657807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Clear ownership, oversight and monitoring.</a:t>
            </a:r>
          </a:p>
        </p:txBody>
      </p:sp>
      <p:pic>
        <p:nvPicPr>
          <p:cNvPr id="197" name="gov_people" descr="gov_peopl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665208" y="5447080"/>
            <a:ext cx="201168" cy="201168"/>
          </a:xfrm>
          <a:prstGeom prst="rect">
            <a:avLst/>
          </a:prstGeom>
        </p:spPr>
      </p:pic>
      <p:sp>
        <p:nvSpPr>
          <p:cNvPr id="198" name="TextBox 197"/>
          <p:cNvSpPr txBox="1"/>
          <p:nvPr/>
        </p:nvSpPr>
        <p:spPr>
          <a:xfrm>
            <a:off x="9976104" y="5440679"/>
            <a:ext cx="1804111" cy="2139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Named owner for each model and prompt</a:t>
            </a:r>
          </a:p>
        </p:txBody>
      </p:sp>
      <p:pic>
        <p:nvPicPr>
          <p:cNvPr id="199" name="gov_people2" descr="gov_people2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665208" y="5661050"/>
            <a:ext cx="201168" cy="201168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976104" y="5654649"/>
            <a:ext cx="1804111" cy="2139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Monthly model risk committee</a:t>
            </a:r>
          </a:p>
        </p:txBody>
      </p:sp>
      <p:pic>
        <p:nvPicPr>
          <p:cNvPr id="201" name="gov_list" descr="gov_list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665208" y="5875019"/>
            <a:ext cx="201168" cy="201168"/>
          </a:xfrm>
          <a:prstGeom prst="rect">
            <a:avLst/>
          </a:prstGeom>
        </p:spPr>
      </p:pic>
      <p:sp>
        <p:nvSpPr>
          <p:cNvPr id="202" name="TextBox 201"/>
          <p:cNvSpPr txBox="1"/>
          <p:nvPr/>
        </p:nvSpPr>
        <p:spPr>
          <a:xfrm>
            <a:off x="9976104" y="5868619"/>
            <a:ext cx="1804111" cy="2139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No change without registry approval</a:t>
            </a:r>
          </a:p>
        </p:txBody>
      </p:sp>
      <p:pic>
        <p:nvPicPr>
          <p:cNvPr id="203" name="gov_search" descr="gov_search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65208" y="6088989"/>
            <a:ext cx="201168" cy="201168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9976104" y="6082588"/>
            <a:ext cx="1804111" cy="2139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Quarterly independent audit</a:t>
            </a:r>
          </a:p>
        </p:txBody>
      </p:sp>
      <p:pic>
        <p:nvPicPr>
          <p:cNvPr id="205" name="gov_pulse" descr="gov_puls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665208" y="6302959"/>
            <a:ext cx="201168" cy="201168"/>
          </a:xfrm>
          <a:prstGeom prst="rect">
            <a:avLst/>
          </a:prstGeom>
        </p:spPr>
      </p:pic>
      <p:sp>
        <p:nvSpPr>
          <p:cNvPr id="206" name="TextBox 205"/>
          <p:cNvSpPr txBox="1"/>
          <p:nvPr/>
        </p:nvSpPr>
        <p:spPr>
          <a:xfrm>
            <a:off x="9976104" y="6296558"/>
            <a:ext cx="1804111" cy="2139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Kill switch owned by VP, Trust &amp; Safety</a:t>
            </a:r>
          </a:p>
        </p:txBody>
      </p:sp>
      <p:sp>
        <p:nvSpPr>
          <p:cNvPr id="207" name="disc:Responsible AI"/>
          <p:cNvSpPr/>
          <p:nvPr/>
        </p:nvSpPr>
        <p:spPr>
          <a:xfrm>
            <a:off x="5861304" y="4965191"/>
            <a:ext cx="384048" cy="38404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8" name="Picture 207" descr="g_people_w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945794" y="5049682"/>
            <a:ext cx="215066" cy="215066"/>
          </a:xfrm>
          <a:prstGeom prst="rect">
            <a:avLst/>
          </a:prstGeom>
        </p:spPr>
      </p:pic>
      <p:sp>
        <p:nvSpPr>
          <p:cNvPr id="209" name="TextBox 208"/>
          <p:cNvSpPr txBox="1"/>
          <p:nvPr/>
        </p:nvSpPr>
        <p:spPr>
          <a:xfrm>
            <a:off x="6336792" y="4946903"/>
            <a:ext cx="298094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60" b="1" i="0">
                <a:solidFill>
                  <a:srgbClr val="0F4A2A"/>
                </a:solidFill>
                <a:latin typeface="Arial"/>
              </a:rPr>
              <a:t>Responsible AI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336792" y="5129783"/>
            <a:ext cx="2980944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Fair, explainable and contestable by design.</a:t>
            </a:r>
          </a:p>
        </p:txBody>
      </p:sp>
      <p:pic>
        <p:nvPicPr>
          <p:cNvPr id="211" name="rai_scale" descr="rai_scal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183630" y="5458967"/>
            <a:ext cx="219456" cy="219456"/>
          </a:xfrm>
          <a:prstGeom prst="rect">
            <a:avLst/>
          </a:prstGeom>
        </p:spPr>
      </p:pic>
      <p:sp>
        <p:nvSpPr>
          <p:cNvPr id="212" name="TextBox 211"/>
          <p:cNvSpPr txBox="1"/>
          <p:nvPr/>
        </p:nvSpPr>
        <p:spPr>
          <a:xfrm>
            <a:off x="5907024" y="5714999"/>
            <a:ext cx="77266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Behaviour signals only; no sensitive attributes</a:t>
            </a:r>
          </a:p>
        </p:txBody>
      </p:sp>
      <p:pic>
        <p:nvPicPr>
          <p:cNvPr id="213" name="rai_doc" descr="rai_doc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047738" y="5458967"/>
            <a:ext cx="219456" cy="219456"/>
          </a:xfrm>
          <a:prstGeom prst="rect">
            <a:avLst/>
          </a:prstGeom>
        </p:spPr>
      </p:pic>
      <p:sp>
        <p:nvSpPr>
          <p:cNvPr id="214" name="TextBox 213"/>
          <p:cNvSpPr txBox="1"/>
          <p:nvPr/>
        </p:nvSpPr>
        <p:spPr>
          <a:xfrm>
            <a:off x="6771132" y="5714999"/>
            <a:ext cx="77266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Monthly fairness testing across groups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6725412" y="5477255"/>
            <a:ext cx="0" cy="548640"/>
          </a:xfrm>
          <a:prstGeom prst="line">
            <a:avLst/>
          </a:prstGeom>
          <a:ln w="6350">
            <a:solidFill>
              <a:srgbClr val="F0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6" name="rai_chat" descr="rai_chat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911846" y="5458967"/>
            <a:ext cx="219456" cy="219456"/>
          </a:xfrm>
          <a:prstGeom prst="rect">
            <a:avLst/>
          </a:prstGeom>
        </p:spPr>
      </p:pic>
      <p:sp>
        <p:nvSpPr>
          <p:cNvPr id="217" name="TextBox 216"/>
          <p:cNvSpPr txBox="1"/>
          <p:nvPr/>
        </p:nvSpPr>
        <p:spPr>
          <a:xfrm>
            <a:off x="7635240" y="5714999"/>
            <a:ext cx="77266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Human-readable reason for every action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7589520" y="5477255"/>
            <a:ext cx="0" cy="548640"/>
          </a:xfrm>
          <a:prstGeom prst="line">
            <a:avLst/>
          </a:prstGeom>
          <a:ln w="6350">
            <a:solidFill>
              <a:srgbClr val="F0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9" name="rai_person" descr="rai_person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775954" y="5458967"/>
            <a:ext cx="219456" cy="219456"/>
          </a:xfrm>
          <a:prstGeom prst="rect">
            <a:avLst/>
          </a:prstGeom>
        </p:spPr>
      </p:pic>
      <p:sp>
        <p:nvSpPr>
          <p:cNvPr id="220" name="TextBox 219"/>
          <p:cNvSpPr txBox="1"/>
          <p:nvPr/>
        </p:nvSpPr>
        <p:spPr>
          <a:xfrm>
            <a:off x="8499348" y="5714999"/>
            <a:ext cx="772667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Human review for serious cases; customers can appeal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8453628" y="5477255"/>
            <a:ext cx="0" cy="548640"/>
          </a:xfrm>
          <a:prstGeom prst="line">
            <a:avLst/>
          </a:prstGeom>
          <a:ln w="6350">
            <a:solidFill>
              <a:srgbClr val="F0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never used"/>
          <p:cNvSpPr/>
          <p:nvPr/>
        </p:nvSpPr>
        <p:spPr>
          <a:xfrm>
            <a:off x="5861304" y="6080759"/>
            <a:ext cx="3456431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5952744" y="6135623"/>
            <a:ext cx="327355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C9561A"/>
                </a:solidFill>
                <a:latin typeface="Arial"/>
              </a:rPr>
              <a:t>NEVER USED IN THE SCORE</a:t>
            </a:r>
          </a:p>
        </p:txBody>
      </p:sp>
      <p:sp>
        <p:nvSpPr>
          <p:cNvPr id="224" name="chip:Name"/>
          <p:cNvSpPr/>
          <p:nvPr/>
        </p:nvSpPr>
        <p:spPr>
          <a:xfrm>
            <a:off x="5952744" y="6309359"/>
            <a:ext cx="337088" cy="173736"/>
          </a:xfrm>
          <a:prstGeom prst="roundRect">
            <a:avLst>
              <a:gd name="adj" fmla="val 50000"/>
            </a:avLst>
          </a:prstGeom>
          <a:solidFill>
            <a:srgbClr val="FD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5952744" y="6309359"/>
            <a:ext cx="337088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80" b="0" i="0">
                <a:solidFill>
                  <a:srgbClr val="C9561A"/>
                </a:solidFill>
                <a:latin typeface="Calibri"/>
              </a:rPr>
              <a:t>Name</a:t>
            </a:r>
          </a:p>
        </p:txBody>
      </p:sp>
      <p:sp>
        <p:nvSpPr>
          <p:cNvPr id="226" name="chip:Gender"/>
          <p:cNvSpPr/>
          <p:nvPr/>
        </p:nvSpPr>
        <p:spPr>
          <a:xfrm>
            <a:off x="6335552" y="6309359"/>
            <a:ext cx="389295" cy="173736"/>
          </a:xfrm>
          <a:prstGeom prst="roundRect">
            <a:avLst>
              <a:gd name="adj" fmla="val 50000"/>
            </a:avLst>
          </a:prstGeom>
          <a:solidFill>
            <a:srgbClr val="FD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6335552" y="6309359"/>
            <a:ext cx="389295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80" b="0" i="0">
                <a:solidFill>
                  <a:srgbClr val="C9561A"/>
                </a:solidFill>
                <a:latin typeface="Calibri"/>
              </a:rPr>
              <a:t>Gender</a:t>
            </a:r>
          </a:p>
        </p:txBody>
      </p:sp>
      <p:sp>
        <p:nvSpPr>
          <p:cNvPr id="228" name="chip:Age"/>
          <p:cNvSpPr/>
          <p:nvPr/>
        </p:nvSpPr>
        <p:spPr>
          <a:xfrm>
            <a:off x="6770567" y="6309359"/>
            <a:ext cx="260888" cy="173736"/>
          </a:xfrm>
          <a:prstGeom prst="roundRect">
            <a:avLst>
              <a:gd name="adj" fmla="val 50000"/>
            </a:avLst>
          </a:prstGeom>
          <a:solidFill>
            <a:srgbClr val="FD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6770567" y="6309359"/>
            <a:ext cx="260888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80" b="0" i="0">
                <a:solidFill>
                  <a:srgbClr val="C9561A"/>
                </a:solidFill>
                <a:latin typeface="Calibri"/>
              </a:rPr>
              <a:t>Age</a:t>
            </a:r>
          </a:p>
        </p:txBody>
      </p:sp>
      <p:sp>
        <p:nvSpPr>
          <p:cNvPr id="230" name="chip:Location"/>
          <p:cNvSpPr/>
          <p:nvPr/>
        </p:nvSpPr>
        <p:spPr>
          <a:xfrm>
            <a:off x="7077176" y="6309359"/>
            <a:ext cx="425283" cy="173736"/>
          </a:xfrm>
          <a:prstGeom prst="roundRect">
            <a:avLst>
              <a:gd name="adj" fmla="val 50000"/>
            </a:avLst>
          </a:prstGeom>
          <a:solidFill>
            <a:srgbClr val="FD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7077176" y="6309359"/>
            <a:ext cx="425283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80" b="0" i="0">
                <a:solidFill>
                  <a:srgbClr val="C9561A"/>
                </a:solidFill>
                <a:latin typeface="Calibri"/>
              </a:rPr>
              <a:t>Location</a:t>
            </a:r>
          </a:p>
        </p:txBody>
      </p:sp>
      <p:sp>
        <p:nvSpPr>
          <p:cNvPr id="232" name="chip:Language"/>
          <p:cNvSpPr/>
          <p:nvPr/>
        </p:nvSpPr>
        <p:spPr>
          <a:xfrm>
            <a:off x="7548179" y="6309359"/>
            <a:ext cx="461392" cy="173736"/>
          </a:xfrm>
          <a:prstGeom prst="roundRect">
            <a:avLst>
              <a:gd name="adj" fmla="val 50000"/>
            </a:avLst>
          </a:prstGeom>
          <a:solidFill>
            <a:srgbClr val="FD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7548179" y="6309359"/>
            <a:ext cx="461392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80" b="0" i="0">
                <a:solidFill>
                  <a:srgbClr val="C9561A"/>
                </a:solidFill>
                <a:latin typeface="Calibri"/>
              </a:rPr>
              <a:t>Language</a:t>
            </a:r>
          </a:p>
        </p:txBody>
      </p:sp>
      <p:sp>
        <p:nvSpPr>
          <p:cNvPr id="234" name="chip:Device"/>
          <p:cNvSpPr/>
          <p:nvPr/>
        </p:nvSpPr>
        <p:spPr>
          <a:xfrm>
            <a:off x="8055292" y="6309359"/>
            <a:ext cx="362011" cy="173736"/>
          </a:xfrm>
          <a:prstGeom prst="roundRect">
            <a:avLst>
              <a:gd name="adj" fmla="val 50000"/>
            </a:avLst>
          </a:prstGeom>
          <a:solidFill>
            <a:srgbClr val="FD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8055292" y="6309359"/>
            <a:ext cx="362011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80" b="0" i="0">
                <a:solidFill>
                  <a:srgbClr val="C9561A"/>
                </a:solidFill>
                <a:latin typeface="Calibri"/>
              </a:rPr>
              <a:t>Device</a:t>
            </a:r>
          </a:p>
        </p:txBody>
      </p:sp>
      <p:sp>
        <p:nvSpPr>
          <p:cNvPr id="236" name="chip:Payment type"/>
          <p:cNvSpPr/>
          <p:nvPr/>
        </p:nvSpPr>
        <p:spPr>
          <a:xfrm>
            <a:off x="8463023" y="6309359"/>
            <a:ext cx="610997" cy="173736"/>
          </a:xfrm>
          <a:prstGeom prst="roundRect">
            <a:avLst>
              <a:gd name="adj" fmla="val 50000"/>
            </a:avLst>
          </a:prstGeom>
          <a:solidFill>
            <a:srgbClr val="FD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8463023" y="6309359"/>
            <a:ext cx="610997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80" b="0" i="0">
                <a:solidFill>
                  <a:srgbClr val="C9561A"/>
                </a:solidFill>
                <a:latin typeface="Calibri"/>
              </a:rPr>
              <a:t>Payment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Deloitte logo" descr="deloitt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1511595" cy="292608"/>
          </a:xfrm>
          <a:prstGeom prst="rect">
            <a:avLst/>
          </a:prstGeom>
        </p:spPr>
      </p:pic>
      <p:pic>
        <p:nvPicPr>
          <p:cNvPr id="4" name="HashedIn logo" descr="hashedin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7215" y="214884"/>
            <a:ext cx="1425879" cy="246888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2194560" y="91440"/>
            <a:ext cx="7802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0F3D28"/>
                </a:solidFill>
                <a:latin typeface="Arial"/>
              </a:rPr>
              <a:t>Return</a:t>
            </a:r>
            <a:r>
              <a:rPr sz="2000" b="1" i="0">
                <a:solidFill>
                  <a:srgbClr val="F26A1B"/>
                </a:solidFill>
                <a:latin typeface="Arial"/>
              </a:rPr>
              <a:t>Lens</a:t>
            </a:r>
            <a:r>
              <a:rPr sz="2000" b="1" i="0">
                <a:solidFill>
                  <a:srgbClr val="7A8494"/>
                </a:solidFill>
                <a:latin typeface="Arial"/>
              </a:rPr>
              <a:t>  |  </a:t>
            </a:r>
            <a:r>
              <a:rPr sz="2000" b="1" i="0">
                <a:solidFill>
                  <a:srgbClr val="0F3D28"/>
                </a:solidFill>
                <a:latin typeface="Arial"/>
              </a:rPr>
              <a:t>MVP-First Roadmap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1828800" y="429768"/>
            <a:ext cx="8534095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0" i="0">
                <a:solidFill>
                  <a:srgbClr val="3A4250"/>
                </a:solidFill>
                <a:latin typeface="Calibri"/>
              </a:rPr>
              <a:t>From a single return to enterprise-wide impact — detect abuse, reduce losses and protect genuine customers.</a:t>
            </a:r>
          </a:p>
        </p:txBody>
      </p:sp>
      <p:sp>
        <p:nvSpPr>
          <p:cNvPr id="7" name="bar1"/>
          <p:cNvSpPr/>
          <p:nvPr/>
        </p:nvSpPr>
        <p:spPr>
          <a:xfrm>
            <a:off x="228600" y="768096"/>
            <a:ext cx="11734495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3464" y="80467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768096"/>
            <a:ext cx="1116943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PHASED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4455" y="841247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03327" y="768096"/>
            <a:ext cx="99683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Start focused with the MVP, then scale to more abuse patterns and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1088136"/>
            <a:ext cx="11734495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hase0"/>
          <p:cNvSpPr/>
          <p:nvPr/>
        </p:nvSpPr>
        <p:spPr>
          <a:xfrm>
            <a:off x="320040" y="1179576"/>
            <a:ext cx="3127248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h_head0"/>
          <p:cNvSpPr/>
          <p:nvPr/>
        </p:nvSpPr>
        <p:spPr>
          <a:xfrm>
            <a:off x="374904" y="1234440"/>
            <a:ext cx="3017520" cy="420624"/>
          </a:xfrm>
          <a:prstGeom prst="roundRect">
            <a:avLst>
              <a:gd name="adj" fmla="val 13043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isc"/>
          <p:cNvSpPr/>
          <p:nvPr/>
        </p:nvSpPr>
        <p:spPr>
          <a:xfrm>
            <a:off x="448056" y="1298448"/>
            <a:ext cx="292608" cy="29260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ph_d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29" y="1362821"/>
            <a:ext cx="163860" cy="1638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6" y="1271016"/>
            <a:ext cx="24871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4A5260"/>
                </a:solidFill>
                <a:latin typeface="Arial"/>
              </a:rPr>
              <a:t>MONTHS 0–2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1408176"/>
            <a:ext cx="2487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40" b="1" i="0">
                <a:solidFill>
                  <a:srgbClr val="0F4A2A"/>
                </a:solidFill>
                <a:latin typeface="Arial"/>
              </a:rPr>
              <a:t>Foundations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3424428" y="2016252"/>
            <a:ext cx="201168" cy="201168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3478743" y="2074590"/>
            <a:ext cx="112654" cy="84491"/>
          </a:xfrm>
          <a:custGeom>
            <a:avLst/>
            <a:gdLst/>
            <a:ahLst/>
            <a:cxnLst/>
            <a:rect l="l" t="t" r="r" b="b"/>
            <a:pathLst>
              <a:path w="112654" h="84491">
                <a:moveTo>
                  <a:pt x="112654" y="42246"/>
                </a:moveTo>
                <a:lnTo>
                  <a:pt x="0" y="84491"/>
                </a:lnTo>
                <a:lnTo>
                  <a:pt x="33796" y="422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hase1"/>
          <p:cNvSpPr/>
          <p:nvPr/>
        </p:nvSpPr>
        <p:spPr>
          <a:xfrm>
            <a:off x="3602736" y="1179576"/>
            <a:ext cx="343814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h_head1"/>
          <p:cNvSpPr/>
          <p:nvPr/>
        </p:nvSpPr>
        <p:spPr>
          <a:xfrm>
            <a:off x="3657600" y="1234440"/>
            <a:ext cx="3328415" cy="420624"/>
          </a:xfrm>
          <a:prstGeom prst="roundRect">
            <a:avLst>
              <a:gd name="adj" fmla="val 13043"/>
            </a:avLst>
          </a:prstGeom>
          <a:solidFill>
            <a:srgbClr val="0F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730752" y="1298448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5-Point Star 23"/>
          <p:cNvSpPr/>
          <p:nvPr/>
        </p:nvSpPr>
        <p:spPr>
          <a:xfrm>
            <a:off x="3785615" y="1348740"/>
            <a:ext cx="182880" cy="182880"/>
          </a:xfrm>
          <a:prstGeom prst="star5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96512" y="1271016"/>
            <a:ext cx="2798063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BFE3CB"/>
                </a:solidFill>
                <a:latin typeface="Arial"/>
              </a:rPr>
              <a:t>MONTHS 2–5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1408176"/>
            <a:ext cx="27980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Arial"/>
              </a:rPr>
              <a:t>MVP (live)</a:t>
            </a:r>
          </a:p>
        </p:txBody>
      </p:sp>
      <p:sp>
        <p:nvSpPr>
          <p:cNvPr id="27" name="Oval 26"/>
          <p:cNvSpPr/>
          <p:nvPr/>
        </p:nvSpPr>
        <p:spPr>
          <a:xfrm>
            <a:off x="7018019" y="2016252"/>
            <a:ext cx="201168" cy="201168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reeform 27"/>
          <p:cNvSpPr/>
          <p:nvPr/>
        </p:nvSpPr>
        <p:spPr>
          <a:xfrm>
            <a:off x="7072335" y="2074590"/>
            <a:ext cx="112654" cy="84491"/>
          </a:xfrm>
          <a:custGeom>
            <a:avLst/>
            <a:gdLst/>
            <a:ahLst/>
            <a:cxnLst/>
            <a:rect l="l" t="t" r="r" b="b"/>
            <a:pathLst>
              <a:path w="112654" h="84491">
                <a:moveTo>
                  <a:pt x="112654" y="42246"/>
                </a:moveTo>
                <a:lnTo>
                  <a:pt x="0" y="84491"/>
                </a:lnTo>
                <a:lnTo>
                  <a:pt x="33796" y="422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hase2"/>
          <p:cNvSpPr/>
          <p:nvPr/>
        </p:nvSpPr>
        <p:spPr>
          <a:xfrm>
            <a:off x="7196327" y="1179576"/>
            <a:ext cx="2724912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ph_head2"/>
          <p:cNvSpPr/>
          <p:nvPr/>
        </p:nvSpPr>
        <p:spPr>
          <a:xfrm>
            <a:off x="7251191" y="1234440"/>
            <a:ext cx="2615184" cy="420624"/>
          </a:xfrm>
          <a:prstGeom prst="roundRect">
            <a:avLst>
              <a:gd name="adj" fmla="val 13043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isc"/>
          <p:cNvSpPr/>
          <p:nvPr/>
        </p:nvSpPr>
        <p:spPr>
          <a:xfrm>
            <a:off x="7324344" y="1298448"/>
            <a:ext cx="292608" cy="29260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ph_ge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717" y="1362821"/>
            <a:ext cx="163860" cy="1638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690104" y="1271016"/>
            <a:ext cx="208483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4A5260"/>
                </a:solidFill>
                <a:latin typeface="Arial"/>
              </a:rPr>
              <a:t>MONTHS 6–9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0104" y="1408176"/>
            <a:ext cx="208483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40" b="1" i="0">
                <a:solidFill>
                  <a:srgbClr val="0F4A2A"/>
                </a:solidFill>
                <a:latin typeface="Arial"/>
              </a:rPr>
              <a:t>Version 2</a:t>
            </a:r>
          </a:p>
        </p:txBody>
      </p:sp>
      <p:sp>
        <p:nvSpPr>
          <p:cNvPr id="35" name="Oval 34"/>
          <p:cNvSpPr/>
          <p:nvPr/>
        </p:nvSpPr>
        <p:spPr>
          <a:xfrm>
            <a:off x="9898380" y="2016252"/>
            <a:ext cx="201168" cy="201168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9952695" y="2074590"/>
            <a:ext cx="112654" cy="84491"/>
          </a:xfrm>
          <a:custGeom>
            <a:avLst/>
            <a:gdLst/>
            <a:ahLst/>
            <a:cxnLst/>
            <a:rect l="l" t="t" r="r" b="b"/>
            <a:pathLst>
              <a:path w="112654" h="84491">
                <a:moveTo>
                  <a:pt x="112654" y="42246"/>
                </a:moveTo>
                <a:lnTo>
                  <a:pt x="0" y="84491"/>
                </a:lnTo>
                <a:lnTo>
                  <a:pt x="33796" y="422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hase3"/>
          <p:cNvSpPr/>
          <p:nvPr/>
        </p:nvSpPr>
        <p:spPr>
          <a:xfrm>
            <a:off x="10076688" y="1179576"/>
            <a:ext cx="1794967" cy="1874519"/>
          </a:xfrm>
          <a:prstGeom prst="roundRect">
            <a:avLst>
              <a:gd name="adj" fmla="val 4075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h_head3"/>
          <p:cNvSpPr/>
          <p:nvPr/>
        </p:nvSpPr>
        <p:spPr>
          <a:xfrm>
            <a:off x="10131552" y="1234440"/>
            <a:ext cx="1685239" cy="420624"/>
          </a:xfrm>
          <a:prstGeom prst="roundRect">
            <a:avLst>
              <a:gd name="adj" fmla="val 13043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isc"/>
          <p:cNvSpPr/>
          <p:nvPr/>
        </p:nvSpPr>
        <p:spPr>
          <a:xfrm>
            <a:off x="10204704" y="1298448"/>
            <a:ext cx="292608" cy="292608"/>
          </a:xfrm>
          <a:prstGeom prst="ellipse">
            <a:avLst/>
          </a:prstGeom>
          <a:solidFill>
            <a:srgbClr val="0A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ph_cha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9077" y="1362821"/>
            <a:ext cx="163860" cy="1638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570463" y="1271016"/>
            <a:ext cx="1154887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4A5260"/>
                </a:solidFill>
                <a:latin typeface="Arial"/>
              </a:rPr>
              <a:t>MONTHS 10–15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70463" y="1408176"/>
            <a:ext cx="115488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40" b="1" i="0">
                <a:solidFill>
                  <a:srgbClr val="0F4A2A"/>
                </a:solidFill>
                <a:latin typeface="Arial"/>
              </a:rPr>
              <a:t>Version 3</a:t>
            </a:r>
          </a:p>
        </p:txBody>
      </p:sp>
      <p:pic>
        <p:nvPicPr>
          <p:cNvPr id="43" name="f_db" descr="f_d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1764792"/>
            <a:ext cx="237744" cy="23774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58952" y="1746504"/>
            <a:ext cx="1115568" cy="4459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Connect 6 systems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Orders, payments, carrier, warehouse, accounts, support chat</a:t>
            </a:r>
          </a:p>
        </p:txBody>
      </p:sp>
      <p:pic>
        <p:nvPicPr>
          <p:cNvPr id="45" name="f_growth" descr="f_growt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2321623"/>
            <a:ext cx="237744" cy="23774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58952" y="2303335"/>
            <a:ext cx="1115568" cy="2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Build golden dataset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Label real and abusive cases</a:t>
            </a:r>
          </a:p>
        </p:txBody>
      </p:sp>
      <p:pic>
        <p:nvPicPr>
          <p:cNvPr id="47" name="f_shield" descr="f_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768" y="2667736"/>
            <a:ext cx="237744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58952" y="2649448"/>
            <a:ext cx="1115568" cy="340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Legal and policy sign-off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Define guardrails and approval rules</a:t>
            </a:r>
          </a:p>
        </p:txBody>
      </p:sp>
      <p:sp>
        <p:nvSpPr>
          <p:cNvPr id="49" name="hub panel"/>
          <p:cNvSpPr/>
          <p:nvPr/>
        </p:nvSpPr>
        <p:spPr>
          <a:xfrm>
            <a:off x="1947672" y="1746504"/>
            <a:ext cx="1408176" cy="1234439"/>
          </a:xfrm>
          <a:prstGeom prst="roundRect">
            <a:avLst>
              <a:gd name="adj" fmla="val 4444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2203703" y="2148840"/>
            <a:ext cx="0" cy="86868"/>
          </a:xfrm>
          <a:prstGeom prst="line">
            <a:avLst/>
          </a:prstGeom>
          <a:ln w="9525">
            <a:solidFill>
              <a:srgbClr val="5DAE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hip:Orders"/>
          <p:cNvSpPr/>
          <p:nvPr/>
        </p:nvSpPr>
        <p:spPr>
          <a:xfrm>
            <a:off x="1993391" y="1819656"/>
            <a:ext cx="420623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dh_orders" descr="dh_ord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5123" y="1856232"/>
            <a:ext cx="137160" cy="1371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002535" y="2002536"/>
            <a:ext cx="402335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Orders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651760" y="2148840"/>
            <a:ext cx="0" cy="86868"/>
          </a:xfrm>
          <a:prstGeom prst="line">
            <a:avLst/>
          </a:prstGeom>
          <a:ln w="9525">
            <a:solidFill>
              <a:srgbClr val="5DAE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ip:Payments"/>
          <p:cNvSpPr/>
          <p:nvPr/>
        </p:nvSpPr>
        <p:spPr>
          <a:xfrm>
            <a:off x="2441448" y="1819656"/>
            <a:ext cx="420623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dh_pay" descr="dh_p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83179" y="1856232"/>
            <a:ext cx="137160" cy="1371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450591" y="2002536"/>
            <a:ext cx="402335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Payments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099815" y="2148840"/>
            <a:ext cx="0" cy="86868"/>
          </a:xfrm>
          <a:prstGeom prst="line">
            <a:avLst/>
          </a:prstGeom>
          <a:ln w="9525">
            <a:solidFill>
              <a:srgbClr val="5DAE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hip:Carrier"/>
          <p:cNvSpPr/>
          <p:nvPr/>
        </p:nvSpPr>
        <p:spPr>
          <a:xfrm>
            <a:off x="2889503" y="1819656"/>
            <a:ext cx="420623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dh_carrier" descr="dh_carri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31235" y="1856232"/>
            <a:ext cx="137160" cy="13716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898647" y="2002536"/>
            <a:ext cx="402335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Carrier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203703" y="2510027"/>
            <a:ext cx="0" cy="68581"/>
          </a:xfrm>
          <a:prstGeom prst="line">
            <a:avLst/>
          </a:prstGeom>
          <a:ln w="9525">
            <a:solidFill>
              <a:srgbClr val="5DAE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hip:Warehouse"/>
          <p:cNvSpPr/>
          <p:nvPr/>
        </p:nvSpPr>
        <p:spPr>
          <a:xfrm>
            <a:off x="1993391" y="2578608"/>
            <a:ext cx="420623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dh_wh" descr="dh_w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35123" y="2615184"/>
            <a:ext cx="137160" cy="13716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2002535" y="2761488"/>
            <a:ext cx="402335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Warehouse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651760" y="2510027"/>
            <a:ext cx="0" cy="68581"/>
          </a:xfrm>
          <a:prstGeom prst="line">
            <a:avLst/>
          </a:prstGeom>
          <a:ln w="9525">
            <a:solidFill>
              <a:srgbClr val="5DAE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ip:Accounts"/>
          <p:cNvSpPr/>
          <p:nvPr/>
        </p:nvSpPr>
        <p:spPr>
          <a:xfrm>
            <a:off x="2441448" y="2578608"/>
            <a:ext cx="420623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dh_acc" descr="dh_ac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83179" y="2615184"/>
            <a:ext cx="137160" cy="13716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450591" y="2761488"/>
            <a:ext cx="402335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Accounts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099815" y="2510027"/>
            <a:ext cx="0" cy="68581"/>
          </a:xfrm>
          <a:prstGeom prst="line">
            <a:avLst/>
          </a:prstGeom>
          <a:ln w="9525">
            <a:solidFill>
              <a:srgbClr val="5DAE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chip:Support"/>
          <p:cNvSpPr/>
          <p:nvPr/>
        </p:nvSpPr>
        <p:spPr>
          <a:xfrm>
            <a:off x="2889503" y="2578608"/>
            <a:ext cx="420623" cy="329184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dh_chat" descr="dh_cha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31235" y="2615184"/>
            <a:ext cx="137160" cy="13716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898647" y="2761488"/>
            <a:ext cx="402335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Support</a:t>
            </a:r>
          </a:p>
        </p:txBody>
      </p:sp>
      <p:sp>
        <p:nvSpPr>
          <p:cNvPr id="74" name="hub"/>
          <p:cNvSpPr/>
          <p:nvPr/>
        </p:nvSpPr>
        <p:spPr>
          <a:xfrm>
            <a:off x="2215225" y="2180844"/>
            <a:ext cx="873069" cy="365760"/>
          </a:xfrm>
          <a:prstGeom prst="can">
            <a:avLst/>
          </a:prstGeom>
          <a:solidFill>
            <a:srgbClr val="0F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215225" y="2253996"/>
            <a:ext cx="873069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Data Hub</a:t>
            </a:r>
          </a:p>
        </p:txBody>
      </p:sp>
      <p:pic>
        <p:nvPicPr>
          <p:cNvPr id="76" name="m_doc" descr="m_doc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2463" y="1764792"/>
            <a:ext cx="237744" cy="2377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041647" y="1746504"/>
            <a:ext cx="1335023" cy="2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Refund without return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Items never came back</a:t>
            </a:r>
          </a:p>
        </p:txBody>
      </p:sp>
      <p:pic>
        <p:nvPicPr>
          <p:cNvPr id="78" name="m_net" descr="m_ne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12463" y="2100893"/>
            <a:ext cx="237744" cy="23774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041647" y="2082605"/>
            <a:ext cx="1335023" cy="2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Reseller rings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Linked accounts, shared addresses</a:t>
            </a:r>
          </a:p>
        </p:txBody>
      </p:sp>
      <p:pic>
        <p:nvPicPr>
          <p:cNvPr id="80" name="m_monitor" descr="m_monito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12463" y="2436994"/>
            <a:ext cx="237744" cy="23774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4041647" y="2418706"/>
            <a:ext cx="1335023" cy="2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Review Console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Score, reasons and AI summary</a:t>
            </a:r>
          </a:p>
        </p:txBody>
      </p:sp>
      <p:pic>
        <p:nvPicPr>
          <p:cNvPr id="82" name="m_shield" descr="m_shiel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12463" y="2773095"/>
            <a:ext cx="237744" cy="237744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041647" y="2754807"/>
            <a:ext cx="1335023" cy="2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Evidence Agent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Citations and clear explanations</a:t>
            </a:r>
          </a:p>
        </p:txBody>
      </p:sp>
      <p:sp>
        <p:nvSpPr>
          <p:cNvPr id="84" name="risk card"/>
          <p:cNvSpPr/>
          <p:nvPr/>
        </p:nvSpPr>
        <p:spPr>
          <a:xfrm>
            <a:off x="5431536" y="1746504"/>
            <a:ext cx="1517904" cy="1234439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522975" y="1792224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1" i="0">
                <a:solidFill>
                  <a:srgbClr val="0F3D28"/>
                </a:solidFill>
                <a:latin typeface="Arial"/>
              </a:rPr>
              <a:t>Return</a:t>
            </a:r>
            <a:r>
              <a:rPr sz="700" b="1" i="0">
                <a:solidFill>
                  <a:srgbClr val="F26A1B"/>
                </a:solidFill>
                <a:latin typeface="Arial"/>
              </a:rPr>
              <a:t>Lens</a:t>
            </a:r>
          </a:p>
        </p:txBody>
      </p:sp>
      <p:sp>
        <p:nvSpPr>
          <p:cNvPr id="86" name="flag tag"/>
          <p:cNvSpPr/>
          <p:nvPr/>
        </p:nvSpPr>
        <p:spPr>
          <a:xfrm>
            <a:off x="6419088" y="1792224"/>
            <a:ext cx="438912" cy="128016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19088" y="1792224"/>
            <a:ext cx="438912" cy="128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50" b="1" i="0">
                <a:solidFill>
                  <a:srgbClr val="1E7A45"/>
                </a:solidFill>
                <a:latin typeface="Calibri"/>
              </a:rPr>
              <a:t>Held</a:t>
            </a:r>
          </a:p>
        </p:txBody>
      </p:sp>
      <p:pic>
        <p:nvPicPr>
          <p:cNvPr id="88" name="rl_boot" descr="rl_boo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22975" y="1993392"/>
            <a:ext cx="237744" cy="237744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5815583" y="1975104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1C2330"/>
                </a:solidFill>
                <a:latin typeface="Calibri"/>
              </a:rPr>
              <a:t>Ankle boots</a:t>
            </a:r>
          </a:p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$129 refund</a:t>
            </a:r>
          </a:p>
        </p:txBody>
      </p:sp>
      <p:sp>
        <p:nvSpPr>
          <p:cNvPr id="90" name="score"/>
          <p:cNvSpPr/>
          <p:nvPr/>
        </p:nvSpPr>
        <p:spPr>
          <a:xfrm>
            <a:off x="6455664" y="1956816"/>
            <a:ext cx="402336" cy="310896"/>
          </a:xfrm>
          <a:prstGeom prst="roundRect">
            <a:avLst>
              <a:gd name="adj" fmla="val 14705"/>
            </a:avLst>
          </a:prstGeom>
          <a:solidFill>
            <a:srgbClr val="FEF4EC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455664" y="1956816"/>
            <a:ext cx="402336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C9561A"/>
                </a:solidFill>
                <a:latin typeface="Calibri"/>
              </a:rPr>
              <a:t>95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55664" y="2139696"/>
            <a:ext cx="402336" cy="109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50" b="1" i="0">
                <a:solidFill>
                  <a:srgbClr val="C9561A"/>
                </a:solidFill>
                <a:latin typeface="Calibri"/>
              </a:rPr>
              <a:t>High risk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504688" y="2331720"/>
            <a:ext cx="1371600" cy="0"/>
          </a:xfrm>
          <a:prstGeom prst="line">
            <a:avLst/>
          </a:prstGeom>
          <a:ln w="6350">
            <a:solidFill>
              <a:srgbClr val="E3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522975" y="2331720"/>
            <a:ext cx="109728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50992" y="2331720"/>
            <a:ext cx="932688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0" i="0">
                <a:solidFill>
                  <a:srgbClr val="1C2330"/>
                </a:solidFill>
                <a:latin typeface="Calibri"/>
              </a:rPr>
              <a:t>Items never came back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79" y="2331720"/>
            <a:ext cx="274320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660" b="1" i="0">
                <a:solidFill>
                  <a:srgbClr val="1C2330"/>
                </a:solidFill>
                <a:latin typeface="Calibri"/>
              </a:rPr>
              <a:t>+30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504688" y="2450592"/>
            <a:ext cx="1371600" cy="0"/>
          </a:xfrm>
          <a:prstGeom prst="line">
            <a:avLst/>
          </a:prstGeom>
          <a:ln w="6350">
            <a:solidFill>
              <a:srgbClr val="E3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22975" y="2450592"/>
            <a:ext cx="109728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50992" y="2450592"/>
            <a:ext cx="932688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0" i="0">
                <a:solidFill>
                  <a:srgbClr val="1C2330"/>
                </a:solidFill>
                <a:latin typeface="Calibri"/>
              </a:rPr>
              <a:t>Missing in last 60 days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83679" y="2450592"/>
            <a:ext cx="274320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660" b="1" i="0">
                <a:solidFill>
                  <a:srgbClr val="1C2330"/>
                </a:solidFill>
                <a:latin typeface="Calibri"/>
              </a:rPr>
              <a:t>+25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504688" y="2569464"/>
            <a:ext cx="1371600" cy="0"/>
          </a:xfrm>
          <a:prstGeom prst="line">
            <a:avLst/>
          </a:prstGeom>
          <a:ln w="6350">
            <a:solidFill>
              <a:srgbClr val="E3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5522975" y="2569464"/>
            <a:ext cx="109728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50992" y="2569464"/>
            <a:ext cx="932688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0" i="0">
                <a:solidFill>
                  <a:srgbClr val="1C2330"/>
                </a:solidFill>
                <a:latin typeface="Calibri"/>
              </a:rPr>
              <a:t>Links to known abusers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79" y="2569464"/>
            <a:ext cx="274320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660" b="1" i="0">
                <a:solidFill>
                  <a:srgbClr val="1C2330"/>
                </a:solidFill>
                <a:latin typeface="Calibri"/>
              </a:rPr>
              <a:t>+30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504688" y="2688336"/>
            <a:ext cx="1371600" cy="0"/>
          </a:xfrm>
          <a:prstGeom prst="line">
            <a:avLst/>
          </a:prstGeom>
          <a:ln w="6350">
            <a:solidFill>
              <a:srgbClr val="E3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5522975" y="2688336"/>
            <a:ext cx="109728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50992" y="2688336"/>
            <a:ext cx="932688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0" i="0">
                <a:solidFill>
                  <a:srgbClr val="1C2330"/>
                </a:solidFill>
                <a:latin typeface="Calibri"/>
              </a:rPr>
              <a:t>New account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83679" y="2688336"/>
            <a:ext cx="274320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660" b="1" i="0">
                <a:solidFill>
                  <a:srgbClr val="1C2330"/>
                </a:solidFill>
                <a:latin typeface="Calibri"/>
              </a:rPr>
              <a:t>+5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5504688" y="2807208"/>
            <a:ext cx="1371600" cy="0"/>
          </a:xfrm>
          <a:prstGeom prst="line">
            <a:avLst/>
          </a:prstGeom>
          <a:ln w="6350">
            <a:solidFill>
              <a:srgbClr val="E3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5522975" y="2807208"/>
            <a:ext cx="109728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50992" y="2807208"/>
            <a:ext cx="932688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0" i="0">
                <a:solidFill>
                  <a:srgbClr val="1C2330"/>
                </a:solidFill>
                <a:latin typeface="Calibri"/>
              </a:rPr>
              <a:t>Keeps items briefly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83679" y="2807208"/>
            <a:ext cx="274320" cy="118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660" b="1" i="0">
                <a:solidFill>
                  <a:srgbClr val="1C2330"/>
                </a:solidFill>
                <a:latin typeface="Calibri"/>
              </a:rPr>
              <a:t>+5</a:t>
            </a:r>
          </a:p>
        </p:txBody>
      </p:sp>
      <p:pic>
        <p:nvPicPr>
          <p:cNvPr id="113" name="v2_dress" descr="v2_dres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06055" y="1764792"/>
            <a:ext cx="237744" cy="237744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7635240" y="1746504"/>
            <a:ext cx="1353311" cy="2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Wardrobing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Worn, then returned as new</a:t>
            </a:r>
          </a:p>
        </p:txBody>
      </p:sp>
      <p:pic>
        <p:nvPicPr>
          <p:cNvPr id="115" name="v2_box" descr="v2_box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06055" y="2118944"/>
            <a:ext cx="237744" cy="237744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7635240" y="2100656"/>
            <a:ext cx="1353311" cy="340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Damaged-on-arrival claims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Marked “damaged” or “not as described”</a:t>
            </a:r>
          </a:p>
        </p:txBody>
      </p:sp>
      <p:pic>
        <p:nvPicPr>
          <p:cNvPr id="117" name="v2_doc" descr="v2_doc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06055" y="2578455"/>
            <a:ext cx="237744" cy="237744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7635240" y="2560167"/>
            <a:ext cx="1353311" cy="2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Warehouse grading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Condition-based assessment</a:t>
            </a:r>
          </a:p>
        </p:txBody>
      </p:sp>
      <p:sp>
        <p:nvSpPr>
          <p:cNvPr id="119" name="dress card"/>
          <p:cNvSpPr/>
          <p:nvPr/>
        </p:nvSpPr>
        <p:spPr>
          <a:xfrm>
            <a:off x="9025127" y="1746504"/>
            <a:ext cx="804672" cy="1234439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9079991" y="1792224"/>
            <a:ext cx="694944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1" i="0">
                <a:solidFill>
                  <a:srgbClr val="0F4A2A"/>
                </a:solidFill>
                <a:latin typeface="Arial"/>
              </a:rPr>
              <a:t>Wardrobing</a:t>
            </a:r>
          </a:p>
        </p:txBody>
      </p:sp>
      <p:pic>
        <p:nvPicPr>
          <p:cNvPr id="121" name="dress" descr="ill_dress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71432" y="1965960"/>
            <a:ext cx="512064" cy="512064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9079991" y="2505456"/>
            <a:ext cx="91440" cy="140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80575" y="2505456"/>
            <a:ext cx="621792" cy="140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Repeat returns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79991" y="2645664"/>
            <a:ext cx="91440" cy="140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80575" y="2645664"/>
            <a:ext cx="621792" cy="140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Similar items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79991" y="2785872"/>
            <a:ext cx="91440" cy="140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80575" y="2785872"/>
            <a:ext cx="621792" cy="140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Kept briefly</a:t>
            </a:r>
          </a:p>
        </p:txBody>
      </p:sp>
      <p:pic>
        <p:nvPicPr>
          <p:cNvPr id="128" name="v3_person" descr="v3_person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86415" y="1764792"/>
            <a:ext cx="237744" cy="237744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0515599" y="1746504"/>
            <a:ext cx="1246327" cy="2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More product categories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Apparel, footwear, accessories</a:t>
            </a:r>
          </a:p>
        </p:txBody>
      </p:sp>
      <p:pic>
        <p:nvPicPr>
          <p:cNvPr id="130" name="v3_share" descr="v3_shar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86415" y="2108187"/>
            <a:ext cx="237744" cy="237744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10515599" y="2089899"/>
            <a:ext cx="1246327" cy="4487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Automated pattern discovery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New patterns found from fresh data</a:t>
            </a:r>
          </a:p>
        </p:txBody>
      </p:sp>
      <p:pic>
        <p:nvPicPr>
          <p:cNvPr id="132" name="v3_user" descr="v3_user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186415" y="2665018"/>
            <a:ext cx="237744" cy="237744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10515599" y="2646730"/>
            <a:ext cx="1246327" cy="3433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Real-time customer experience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4A5260"/>
                </a:solidFill>
                <a:latin typeface="Calibri"/>
              </a:rPr>
              <a:t>Instant refunds for trusted users</a:t>
            </a:r>
          </a:p>
        </p:txBody>
      </p:sp>
      <p:sp>
        <p:nvSpPr>
          <p:cNvPr id="134" name="bar2"/>
          <p:cNvSpPr/>
          <p:nvPr/>
        </p:nvSpPr>
        <p:spPr>
          <a:xfrm>
            <a:off x="228600" y="3236976"/>
            <a:ext cx="6967728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283464" y="327355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57784" y="3236976"/>
            <a:ext cx="95197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BUSINESS CASE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619488" y="3310128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738360" y="3236976"/>
            <a:ext cx="536652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Fewer abusive refunds, less analyst effort, better experience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28600" y="3557015"/>
            <a:ext cx="6967728" cy="1527048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56615" y="3648456"/>
            <a:ext cx="2121408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4A5260"/>
                </a:solidFill>
                <a:latin typeface="Arial"/>
              </a:rPr>
              <a:t>WHY THERE IS VALUE</a:t>
            </a:r>
          </a:p>
        </p:txBody>
      </p:sp>
      <p:sp>
        <p:nvSpPr>
          <p:cNvPr id="141" name="val0"/>
          <p:cNvSpPr/>
          <p:nvPr/>
        </p:nvSpPr>
        <p:spPr>
          <a:xfrm>
            <a:off x="320040" y="3849624"/>
            <a:ext cx="2121408" cy="344424"/>
          </a:xfrm>
          <a:prstGeom prst="roundRect">
            <a:avLst>
              <a:gd name="adj" fmla="val 15929"/>
            </a:avLst>
          </a:prstGeom>
          <a:solidFill>
            <a:srgbClr val="FE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2" name="bc_x" descr="bc_x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3192" y="3902964"/>
            <a:ext cx="237744" cy="237744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704088" y="3849624"/>
            <a:ext cx="1664207" cy="3444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C9561A"/>
                </a:solidFill>
                <a:latin typeface="Arial"/>
              </a:rPr>
              <a:t>Abusive refunds cost money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Items never return or feed reseller rings.</a:t>
            </a:r>
          </a:p>
        </p:txBody>
      </p:sp>
      <p:sp>
        <p:nvSpPr>
          <p:cNvPr id="144" name="val1"/>
          <p:cNvSpPr/>
          <p:nvPr/>
        </p:nvSpPr>
        <p:spPr>
          <a:xfrm>
            <a:off x="320040" y="4248912"/>
            <a:ext cx="2121408" cy="344424"/>
          </a:xfrm>
          <a:prstGeom prst="roundRect">
            <a:avLst>
              <a:gd name="adj" fmla="val 15929"/>
            </a:avLst>
          </a:prstGeom>
          <a:solidFill>
            <a:srgbClr val="FE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5" name="bc_people" descr="bc_peopl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93192" y="4302252"/>
            <a:ext cx="237744" cy="237744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704088" y="4248912"/>
            <a:ext cx="1664207" cy="3444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C9561A"/>
                </a:solidFill>
                <a:latin typeface="Arial"/>
              </a:rPr>
              <a:t>Analysts work manually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They review many low-value cases today.</a:t>
            </a:r>
          </a:p>
        </p:txBody>
      </p:sp>
      <p:sp>
        <p:nvSpPr>
          <p:cNvPr id="147" name="val2"/>
          <p:cNvSpPr/>
          <p:nvPr/>
        </p:nvSpPr>
        <p:spPr>
          <a:xfrm>
            <a:off x="320040" y="4648200"/>
            <a:ext cx="2121408" cy="344424"/>
          </a:xfrm>
          <a:prstGeom prst="roundRect">
            <a:avLst>
              <a:gd name="adj" fmla="val 15929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8" name="bc_shield" descr="bc_shiel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3192" y="4701540"/>
            <a:ext cx="237744" cy="237744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704088" y="4648200"/>
            <a:ext cx="1664207" cy="3444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Genuine customers pay</a:t>
            </a:r>
          </a:p>
          <a:p>
            <a:pPr algn="l">
              <a:spcBef>
                <a:spcPts val="100"/>
              </a:spcBef>
            </a:pPr>
            <a:r>
              <a:rPr sz="680" b="0" i="0">
                <a:solidFill>
                  <a:srgbClr val="1C2330"/>
                </a:solidFill>
                <a:latin typeface="Calibri"/>
              </a:rPr>
              <a:t>Abuse brings stricter rules, slower refunds.</a:t>
            </a:r>
          </a:p>
        </p:txBody>
      </p:sp>
      <p:sp>
        <p:nvSpPr>
          <p:cNvPr id="150" name="chart card"/>
          <p:cNvSpPr/>
          <p:nvPr/>
        </p:nvSpPr>
        <p:spPr>
          <a:xfrm>
            <a:off x="2532888" y="3648456"/>
            <a:ext cx="2651760" cy="1344168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2624328" y="3703320"/>
            <a:ext cx="2468879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1" i="0">
                <a:solidFill>
                  <a:srgbClr val="1C2330"/>
                </a:solidFill>
                <a:latin typeface="Calibri"/>
              </a:rPr>
              <a:t>Estimated financial impact </a:t>
            </a:r>
            <a:r>
              <a:rPr sz="700" b="0" i="0">
                <a:solidFill>
                  <a:srgbClr val="4A5260"/>
                </a:solidFill>
                <a:latin typeface="Calibri"/>
              </a:rPr>
              <a:t>(illustrative, prototype metrics)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2880360" y="4773168"/>
            <a:ext cx="2194560" cy="0"/>
          </a:xfrm>
          <a:prstGeom prst="line">
            <a:avLst/>
          </a:prstGeom>
          <a:ln w="9525">
            <a:solidFill>
              <a:srgbClr val="9AA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2606040" y="4718304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650" b="0" i="0">
                <a:solidFill>
                  <a:srgbClr val="4A5260"/>
                </a:solidFill>
                <a:latin typeface="Calibri"/>
              </a:rPr>
              <a:t>0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2880360" y="4631436"/>
            <a:ext cx="2194560" cy="0"/>
          </a:xfrm>
          <a:prstGeom prst="line">
            <a:avLst/>
          </a:prstGeom>
          <a:ln w="6350">
            <a:solidFill>
              <a:srgbClr val="E3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2606040" y="457657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650" b="0" i="0">
                <a:solidFill>
                  <a:srgbClr val="4A5260"/>
                </a:solidFill>
                <a:latin typeface="Calibri"/>
              </a:rPr>
              <a:t>20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2880360" y="4489704"/>
            <a:ext cx="2194560" cy="0"/>
          </a:xfrm>
          <a:prstGeom prst="line">
            <a:avLst/>
          </a:prstGeom>
          <a:ln w="6350">
            <a:solidFill>
              <a:srgbClr val="E3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2606040" y="4434840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650" b="0" i="0">
                <a:solidFill>
                  <a:srgbClr val="4A5260"/>
                </a:solidFill>
                <a:latin typeface="Calibri"/>
              </a:rPr>
              <a:t>40</a:t>
            </a:r>
          </a:p>
        </p:txBody>
      </p:sp>
      <p:sp>
        <p:nvSpPr>
          <p:cNvPr id="158" name="barYear 1"/>
          <p:cNvSpPr/>
          <p:nvPr/>
        </p:nvSpPr>
        <p:spPr>
          <a:xfrm>
            <a:off x="3035808" y="4702302"/>
            <a:ext cx="420624" cy="70866"/>
          </a:xfrm>
          <a:prstGeom prst="roundRect">
            <a:avLst>
              <a:gd name="adj" fmla="val 38709"/>
            </a:avLst>
          </a:prstGeom>
          <a:solidFill>
            <a:srgbClr val="7CC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880360" y="4510278"/>
            <a:ext cx="731519" cy="173736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950" b="1" i="0">
                <a:solidFill>
                  <a:srgbClr val="1C2330"/>
                </a:solidFill>
                <a:latin typeface="Calibri"/>
              </a:rPr>
              <a:t>$10M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880360" y="4809744"/>
            <a:ext cx="731519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1" i="0">
                <a:solidFill>
                  <a:srgbClr val="1C2330"/>
                </a:solidFill>
                <a:latin typeface="Calibri"/>
              </a:rPr>
              <a:t>Year 1</a:t>
            </a:r>
          </a:p>
        </p:txBody>
      </p:sp>
      <p:sp>
        <p:nvSpPr>
          <p:cNvPr id="161" name="drvYear 1"/>
          <p:cNvSpPr/>
          <p:nvPr/>
        </p:nvSpPr>
        <p:spPr>
          <a:xfrm>
            <a:off x="2907791" y="3858768"/>
            <a:ext cx="676656" cy="384048"/>
          </a:xfrm>
          <a:prstGeom prst="roundRect">
            <a:avLst>
              <a:gd name="adj" fmla="val 11904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944368" y="3858768"/>
            <a:ext cx="6035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Fewer abusive refunds + less analyst effort</a:t>
            </a:r>
          </a:p>
        </p:txBody>
      </p:sp>
      <p:sp>
        <p:nvSpPr>
          <p:cNvPr id="163" name="barYear 2"/>
          <p:cNvSpPr/>
          <p:nvPr/>
        </p:nvSpPr>
        <p:spPr>
          <a:xfrm>
            <a:off x="3767327" y="4588916"/>
            <a:ext cx="420624" cy="184251"/>
          </a:xfrm>
          <a:prstGeom prst="roundRect">
            <a:avLst>
              <a:gd name="adj" fmla="val 14888"/>
            </a:avLst>
          </a:prstGeom>
          <a:solidFill>
            <a:srgbClr val="3FA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3611879" y="4396892"/>
            <a:ext cx="731519" cy="173736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950" b="1" i="0">
                <a:solidFill>
                  <a:srgbClr val="1C2330"/>
                </a:solidFill>
                <a:latin typeface="Calibri"/>
              </a:rPr>
              <a:t>$26M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611879" y="4809744"/>
            <a:ext cx="731519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1" i="0">
                <a:solidFill>
                  <a:srgbClr val="1C2330"/>
                </a:solidFill>
                <a:latin typeface="Calibri"/>
              </a:rPr>
              <a:t>Year 2</a:t>
            </a:r>
          </a:p>
        </p:txBody>
      </p:sp>
      <p:sp>
        <p:nvSpPr>
          <p:cNvPr id="166" name="drvYear 2"/>
          <p:cNvSpPr/>
          <p:nvPr/>
        </p:nvSpPr>
        <p:spPr>
          <a:xfrm>
            <a:off x="3639311" y="3858768"/>
            <a:ext cx="676656" cy="384048"/>
          </a:xfrm>
          <a:prstGeom prst="roundRect">
            <a:avLst>
              <a:gd name="adj" fmla="val 11904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3675887" y="3858768"/>
            <a:ext cx="6035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Scale to more patterns and categories</a:t>
            </a:r>
          </a:p>
        </p:txBody>
      </p:sp>
      <p:sp>
        <p:nvSpPr>
          <p:cNvPr id="168" name="barYear 3"/>
          <p:cNvSpPr/>
          <p:nvPr/>
        </p:nvSpPr>
        <p:spPr>
          <a:xfrm>
            <a:off x="4498847" y="4510963"/>
            <a:ext cx="420624" cy="262204"/>
          </a:xfrm>
          <a:prstGeom prst="roundRect">
            <a:avLst>
              <a:gd name="adj" fmla="val 10462"/>
            </a:avLst>
          </a:prstGeom>
          <a:solidFill>
            <a:srgbClr val="0F4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4343399" y="4318939"/>
            <a:ext cx="731519" cy="173736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sz="950" b="1" i="0">
                <a:solidFill>
                  <a:srgbClr val="1C2330"/>
                </a:solidFill>
                <a:latin typeface="Calibri"/>
              </a:rPr>
              <a:t>$37M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343399" y="4809744"/>
            <a:ext cx="731519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1" i="0">
                <a:solidFill>
                  <a:srgbClr val="1C2330"/>
                </a:solidFill>
                <a:latin typeface="Calibri"/>
              </a:rPr>
              <a:t>Year 3</a:t>
            </a:r>
          </a:p>
        </p:txBody>
      </p:sp>
      <p:sp>
        <p:nvSpPr>
          <p:cNvPr id="171" name="drvYear 3"/>
          <p:cNvSpPr/>
          <p:nvPr/>
        </p:nvSpPr>
        <p:spPr>
          <a:xfrm>
            <a:off x="4370831" y="3858768"/>
            <a:ext cx="676656" cy="384048"/>
          </a:xfrm>
          <a:prstGeom prst="roundRect">
            <a:avLst>
              <a:gd name="adj" fmla="val 11904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4407407" y="3858768"/>
            <a:ext cx="603503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Full rollout with automated detection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312664" y="364845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4A5260"/>
                </a:solidFill>
                <a:latin typeface="Arial"/>
              </a:rPr>
              <a:t>KEY ASSUMPTIONS</a:t>
            </a:r>
          </a:p>
        </p:txBody>
      </p:sp>
      <p:pic>
        <p:nvPicPr>
          <p:cNvPr id="174" name="ka_sync" descr="ka_sync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94376" y="3857244"/>
            <a:ext cx="201168" cy="201168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5568696" y="3849624"/>
            <a:ext cx="1517904" cy="2164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Abusive refund cycles cut from 6 to 3 on targeted cases</a:t>
            </a:r>
          </a:p>
        </p:txBody>
      </p:sp>
      <p:pic>
        <p:nvPicPr>
          <p:cNvPr id="176" name="ka_people" descr="ka_peopl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94376" y="4073652"/>
            <a:ext cx="201168" cy="201168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5568696" y="4066032"/>
            <a:ext cx="1517904" cy="2164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Team of ~12, plus cloud and tools</a:t>
            </a:r>
          </a:p>
        </p:txBody>
      </p:sp>
      <p:pic>
        <p:nvPicPr>
          <p:cNvPr id="178" name="ka_doc" descr="ka_doc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294376" y="4290060"/>
            <a:ext cx="201168" cy="201168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5568696" y="4282440"/>
            <a:ext cx="1517904" cy="2164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AI evidence summaries cost &lt; $10K a year (1–2% of refunds)</a:t>
            </a:r>
          </a:p>
        </p:txBody>
      </p:sp>
      <p:sp>
        <p:nvSpPr>
          <p:cNvPr id="180" name="payback"/>
          <p:cNvSpPr/>
          <p:nvPr/>
        </p:nvSpPr>
        <p:spPr>
          <a:xfrm>
            <a:off x="5276088" y="4572000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1" name="ka_cal" descr="ka_cal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367528" y="4654296"/>
            <a:ext cx="256032" cy="256032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5696712" y="4599432"/>
            <a:ext cx="135331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E7A45"/>
                </a:solidFill>
                <a:latin typeface="Calibri"/>
              </a:rPr>
              <a:t>~4 months</a:t>
            </a:r>
          </a:p>
          <a:p>
            <a:pPr algn="l"/>
            <a:r>
              <a:rPr sz="700" b="1" i="0">
                <a:solidFill>
                  <a:srgbClr val="0F4A2A"/>
                </a:solidFill>
                <a:latin typeface="Calibri"/>
              </a:rPr>
              <a:t>payback period</a:t>
            </a:r>
          </a:p>
        </p:txBody>
      </p:sp>
      <p:sp>
        <p:nvSpPr>
          <p:cNvPr id="183" name="bar3"/>
          <p:cNvSpPr/>
          <p:nvPr/>
        </p:nvSpPr>
        <p:spPr>
          <a:xfrm>
            <a:off x="7287768" y="3236976"/>
            <a:ext cx="4675327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7342631" y="327355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616952" y="3236976"/>
            <a:ext cx="111699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SUCCESS METRICS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843676" y="3310128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8962548" y="3236976"/>
            <a:ext cx="290910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Measurable gains for the business and customers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7287768" y="3557015"/>
            <a:ext cx="4675327" cy="1527048"/>
          </a:xfrm>
          <a:prstGeom prst="roundRect">
            <a:avLst>
              <a:gd name="adj" fmla="val 4191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head"/>
          <p:cNvSpPr/>
          <p:nvPr/>
        </p:nvSpPr>
        <p:spPr>
          <a:xfrm>
            <a:off x="7379208" y="3648456"/>
            <a:ext cx="4492447" cy="274320"/>
          </a:xfrm>
          <a:prstGeom prst="roundRect">
            <a:avLst>
              <a:gd name="adj" fmla="val 16666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7726679" y="3648456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1" i="0">
                <a:solidFill>
                  <a:srgbClr val="0F4A2A"/>
                </a:solidFill>
                <a:latin typeface="Arial"/>
              </a:rPr>
              <a:t>Metric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970263" y="3648456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80" b="1" i="0">
                <a:solidFill>
                  <a:srgbClr val="0F4A2A"/>
                </a:solidFill>
                <a:latin typeface="Arial"/>
              </a:rPr>
              <a:t>Today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610343" y="3648456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80" b="1" i="0">
                <a:solidFill>
                  <a:srgbClr val="1E7A45"/>
                </a:solidFill>
                <a:latin typeface="Arial"/>
              </a:rPr>
              <a:t>With ReturnLens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396727" y="3648456"/>
            <a:ext cx="1438351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1" i="0">
                <a:solidFill>
                  <a:srgbClr val="0F4A2A"/>
                </a:solidFill>
                <a:latin typeface="Arial"/>
              </a:rPr>
              <a:t>Why it matters</a:t>
            </a:r>
          </a:p>
        </p:txBody>
      </p:sp>
      <p:pic>
        <p:nvPicPr>
          <p:cNvPr id="194" name="sm_sync" descr="sm_sync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424928" y="3981069"/>
            <a:ext cx="219456" cy="219456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7726679" y="3959352"/>
            <a:ext cx="1170432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Abusive refund cycles before loss stops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933688" y="3959352"/>
            <a:ext cx="640080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C2330"/>
                </a:solidFill>
                <a:latin typeface="Calibri"/>
              </a:rPr>
              <a:t>6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573767" y="3959352"/>
            <a:ext cx="786384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E7A45"/>
                </a:solidFill>
                <a:latin typeface="Calibri"/>
              </a:rPr>
              <a:t>3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396727" y="3959352"/>
            <a:ext cx="1438351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Stops repeat abuse earlier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7379208" y="4222242"/>
            <a:ext cx="4492447" cy="0"/>
          </a:xfrm>
          <a:prstGeom prst="line">
            <a:avLst/>
          </a:prstGeom>
          <a:ln w="6350">
            <a:solidFill>
              <a:srgbClr val="E3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0" name="sm_chart" descr="sm_chart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24928" y="4243958"/>
            <a:ext cx="219456" cy="219456"/>
          </a:xfrm>
          <a:prstGeom prst="rect">
            <a:avLst/>
          </a:prstGeom>
        </p:spPr>
      </p:pic>
      <p:sp>
        <p:nvSpPr>
          <p:cNvPr id="201" name="TextBox 200"/>
          <p:cNvSpPr txBox="1"/>
          <p:nvPr/>
        </p:nvSpPr>
        <p:spPr>
          <a:xfrm>
            <a:off x="7726679" y="4222242"/>
            <a:ext cx="1170432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Analyst reviews that find real abuse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933688" y="4222242"/>
            <a:ext cx="640080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C2330"/>
                </a:solidFill>
                <a:latin typeface="Calibri"/>
              </a:rPr>
              <a:t>10%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573767" y="4222242"/>
            <a:ext cx="786384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E7A45"/>
                </a:solidFill>
                <a:latin typeface="Calibri"/>
              </a:rPr>
              <a:t>50%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396727" y="4222242"/>
            <a:ext cx="1438351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Analysts focus on real cases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7379208" y="4485132"/>
            <a:ext cx="4492447" cy="0"/>
          </a:xfrm>
          <a:prstGeom prst="line">
            <a:avLst/>
          </a:prstGeom>
          <a:ln w="6350">
            <a:solidFill>
              <a:srgbClr val="E3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6" name="sm_down" descr="sm_down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424928" y="4506849"/>
            <a:ext cx="219456" cy="219456"/>
          </a:xfrm>
          <a:prstGeom prst="rect">
            <a:avLst/>
          </a:prstGeom>
        </p:spPr>
      </p:pic>
      <p:sp>
        <p:nvSpPr>
          <p:cNvPr id="207" name="TextBox 206"/>
          <p:cNvSpPr txBox="1"/>
          <p:nvPr/>
        </p:nvSpPr>
        <p:spPr>
          <a:xfrm>
            <a:off x="7726679" y="4485132"/>
            <a:ext cx="1170432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Escalations from wrongly flagged customers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933688" y="4485132"/>
            <a:ext cx="640080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4A5260"/>
                </a:solidFill>
                <a:latin typeface="Calibri"/>
              </a:rPr>
              <a:t>Baseline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573767" y="4485132"/>
            <a:ext cx="786384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1E7A45"/>
                </a:solidFill>
                <a:latin typeface="Calibri"/>
              </a:rPr>
              <a:t>50% lower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396727" y="4485132"/>
            <a:ext cx="1438351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Better for honest customers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7379208" y="4748022"/>
            <a:ext cx="4492447" cy="0"/>
          </a:xfrm>
          <a:prstGeom prst="line">
            <a:avLst/>
          </a:prstGeom>
          <a:ln w="6350">
            <a:solidFill>
              <a:srgbClr val="E3E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2" name="sm_target" descr="sm_target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24928" y="4769739"/>
            <a:ext cx="219456" cy="219456"/>
          </a:xfrm>
          <a:prstGeom prst="rect">
            <a:avLst/>
          </a:prstGeom>
        </p:spPr>
      </p:pic>
      <p:sp>
        <p:nvSpPr>
          <p:cNvPr id="213" name="TextBox 212"/>
          <p:cNvSpPr txBox="1"/>
          <p:nvPr/>
        </p:nvSpPr>
        <p:spPr>
          <a:xfrm>
            <a:off x="7726679" y="4748022"/>
            <a:ext cx="1170432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Precision of cases sent to a person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933688" y="4748022"/>
            <a:ext cx="640080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4A5260"/>
                </a:solidFill>
                <a:latin typeface="Calibri"/>
              </a:rPr>
              <a:t>Baseline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573767" y="4748022"/>
            <a:ext cx="786384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1E7A45"/>
                </a:solidFill>
                <a:latin typeface="Calibri"/>
              </a:rPr>
              <a:t>≥ 90%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396727" y="4748022"/>
            <a:ext cx="1438351" cy="2628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Only high-quality cases reach analysts</a:t>
            </a:r>
          </a:p>
        </p:txBody>
      </p:sp>
      <p:sp>
        <p:nvSpPr>
          <p:cNvPr id="217" name="bar4"/>
          <p:cNvSpPr/>
          <p:nvPr/>
        </p:nvSpPr>
        <p:spPr>
          <a:xfrm>
            <a:off x="228600" y="5175504"/>
            <a:ext cx="6967728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83464" y="5212080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57784" y="5175504"/>
            <a:ext cx="169881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HOW WE TEST AND VALIDATE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2366331" y="5248656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2485203" y="5175504"/>
            <a:ext cx="461968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Quality, reliability and fairness before and after launch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228600" y="5495544"/>
            <a:ext cx="6967728" cy="1179576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step0"/>
          <p:cNvSpPr/>
          <p:nvPr/>
        </p:nvSpPr>
        <p:spPr>
          <a:xfrm>
            <a:off x="320040" y="5586983"/>
            <a:ext cx="1239926" cy="996696"/>
          </a:xfrm>
          <a:prstGeom prst="roundRect">
            <a:avLst>
              <a:gd name="adj" fmla="val 5504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384048" y="5650992"/>
            <a:ext cx="219456" cy="219456"/>
          </a:xfrm>
          <a:prstGeom prst="ellipse">
            <a:avLst/>
          </a:prstGeom>
          <a:solidFill>
            <a:srgbClr val="0F4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49224" y="5632704"/>
            <a:ext cx="85587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Backtesting</a:t>
            </a:r>
          </a:p>
          <a:p>
            <a:pPr algn="l"/>
            <a:r>
              <a:rPr sz="660" b="0" i="0">
                <a:solidFill>
                  <a:srgbClr val="4A5260"/>
                </a:solidFill>
                <a:latin typeface="Calibri"/>
              </a:rPr>
              <a:t>on golden dataset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93192" y="5971031"/>
            <a:ext cx="1121054" cy="5394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Test scoring logic</a:t>
            </a:r>
          </a:p>
          <a:p>
            <a:pPr marL="91440" indent="-91440" algn="l">
              <a:spcBef>
                <a:spcPts val="300"/>
              </a:spcBef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Check precision, recall and AI explanations</a:t>
            </a:r>
          </a:p>
        </p:txBody>
      </p:sp>
      <p:sp>
        <p:nvSpPr>
          <p:cNvPr id="227" name="Oval 226"/>
          <p:cNvSpPr/>
          <p:nvPr/>
        </p:nvSpPr>
        <p:spPr>
          <a:xfrm>
            <a:off x="1559966" y="5687568"/>
            <a:ext cx="146304" cy="146304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Freeform 227"/>
          <p:cNvSpPr/>
          <p:nvPr/>
        </p:nvSpPr>
        <p:spPr>
          <a:xfrm>
            <a:off x="1599468" y="5729996"/>
            <a:ext cx="81930" cy="61447"/>
          </a:xfrm>
          <a:custGeom>
            <a:avLst/>
            <a:gdLst/>
            <a:ahLst/>
            <a:cxnLst/>
            <a:rect l="l" t="t" r="r" b="b"/>
            <a:pathLst>
              <a:path w="81930" h="61447">
                <a:moveTo>
                  <a:pt x="81930" y="30724"/>
                </a:moveTo>
                <a:lnTo>
                  <a:pt x="0" y="61447"/>
                </a:lnTo>
                <a:lnTo>
                  <a:pt x="24579" y="307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step1"/>
          <p:cNvSpPr/>
          <p:nvPr/>
        </p:nvSpPr>
        <p:spPr>
          <a:xfrm>
            <a:off x="1706270" y="5586983"/>
            <a:ext cx="1239926" cy="996696"/>
          </a:xfrm>
          <a:prstGeom prst="roundRect">
            <a:avLst>
              <a:gd name="adj" fmla="val 5504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1770278" y="5650992"/>
            <a:ext cx="219456" cy="219456"/>
          </a:xfrm>
          <a:prstGeom prst="ellipse">
            <a:avLst/>
          </a:prstGeom>
          <a:solidFill>
            <a:srgbClr val="0F4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035454" y="5632704"/>
            <a:ext cx="85587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Shadow mode</a:t>
            </a:r>
          </a:p>
          <a:p>
            <a:pPr algn="l"/>
            <a:r>
              <a:rPr sz="660" b="0" i="0">
                <a:solidFill>
                  <a:srgbClr val="4A5260"/>
                </a:solidFill>
                <a:latin typeface="Calibri"/>
              </a:rPr>
              <a:t>6–8 weeks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79422" y="5971031"/>
            <a:ext cx="1121054" cy="5394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Runs in parallel, no action</a:t>
            </a:r>
          </a:p>
          <a:p>
            <a:pPr marL="91440" indent="-91440" algn="l">
              <a:spcBef>
                <a:spcPts val="300"/>
              </a:spcBef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Exit only at ≥ 90% precision with fairness passed</a:t>
            </a:r>
          </a:p>
        </p:txBody>
      </p:sp>
      <p:sp>
        <p:nvSpPr>
          <p:cNvPr id="233" name="Oval 232"/>
          <p:cNvSpPr/>
          <p:nvPr/>
        </p:nvSpPr>
        <p:spPr>
          <a:xfrm>
            <a:off x="2946196" y="5687568"/>
            <a:ext cx="146304" cy="146304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Freeform 233"/>
          <p:cNvSpPr/>
          <p:nvPr/>
        </p:nvSpPr>
        <p:spPr>
          <a:xfrm>
            <a:off x="2985698" y="5729996"/>
            <a:ext cx="81931" cy="61447"/>
          </a:xfrm>
          <a:custGeom>
            <a:avLst/>
            <a:gdLst/>
            <a:ahLst/>
            <a:cxnLst/>
            <a:rect l="l" t="t" r="r" b="b"/>
            <a:pathLst>
              <a:path w="81931" h="61447">
                <a:moveTo>
                  <a:pt x="81931" y="30724"/>
                </a:moveTo>
                <a:lnTo>
                  <a:pt x="0" y="61447"/>
                </a:lnTo>
                <a:lnTo>
                  <a:pt x="24579" y="307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step2"/>
          <p:cNvSpPr/>
          <p:nvPr/>
        </p:nvSpPr>
        <p:spPr>
          <a:xfrm>
            <a:off x="3092500" y="5586983"/>
            <a:ext cx="1239926" cy="996696"/>
          </a:xfrm>
          <a:prstGeom prst="roundRect">
            <a:avLst>
              <a:gd name="adj" fmla="val 5504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3156508" y="5650992"/>
            <a:ext cx="219456" cy="219456"/>
          </a:xfrm>
          <a:prstGeom prst="ellipse">
            <a:avLst/>
          </a:prstGeom>
          <a:solidFill>
            <a:srgbClr val="0F4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421684" y="5632704"/>
            <a:ext cx="85587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AI evaluation</a:t>
            </a:r>
          </a:p>
          <a:p>
            <a:pPr algn="l"/>
            <a:r>
              <a:rPr sz="660" b="0" i="0">
                <a:solidFill>
                  <a:srgbClr val="4A5260"/>
                </a:solidFill>
                <a:latin typeface="Calibri"/>
              </a:rPr>
              <a:t>quality checks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165652" y="5971031"/>
            <a:ext cx="1121054" cy="5394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Review 300 AI summaries</a:t>
            </a:r>
          </a:p>
          <a:p>
            <a:pPr marL="91440" indent="-91440" algn="l">
              <a:spcBef>
                <a:spcPts val="300"/>
              </a:spcBef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Check format, citations, bias</a:t>
            </a:r>
          </a:p>
          <a:p>
            <a:pPr marL="91440" indent="-91440" algn="l">
              <a:spcBef>
                <a:spcPts val="300"/>
              </a:spcBef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Red-team testing</a:t>
            </a:r>
          </a:p>
        </p:txBody>
      </p:sp>
      <p:sp>
        <p:nvSpPr>
          <p:cNvPr id="239" name="Oval 238"/>
          <p:cNvSpPr/>
          <p:nvPr/>
        </p:nvSpPr>
        <p:spPr>
          <a:xfrm>
            <a:off x="4332427" y="5687568"/>
            <a:ext cx="146304" cy="146304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Freeform 239"/>
          <p:cNvSpPr/>
          <p:nvPr/>
        </p:nvSpPr>
        <p:spPr>
          <a:xfrm>
            <a:off x="4371929" y="5729996"/>
            <a:ext cx="81930" cy="61447"/>
          </a:xfrm>
          <a:custGeom>
            <a:avLst/>
            <a:gdLst/>
            <a:ahLst/>
            <a:cxnLst/>
            <a:rect l="l" t="t" r="r" b="b"/>
            <a:pathLst>
              <a:path w="81930" h="61447">
                <a:moveTo>
                  <a:pt x="81930" y="30724"/>
                </a:moveTo>
                <a:lnTo>
                  <a:pt x="0" y="61447"/>
                </a:lnTo>
                <a:lnTo>
                  <a:pt x="24579" y="307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step3"/>
          <p:cNvSpPr/>
          <p:nvPr/>
        </p:nvSpPr>
        <p:spPr>
          <a:xfrm>
            <a:off x="4478731" y="5586983"/>
            <a:ext cx="1239926" cy="996696"/>
          </a:xfrm>
          <a:prstGeom prst="roundRect">
            <a:avLst>
              <a:gd name="adj" fmla="val 5504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4542739" y="5650992"/>
            <a:ext cx="219456" cy="219456"/>
          </a:xfrm>
          <a:prstGeom prst="ellipse">
            <a:avLst/>
          </a:prstGeom>
          <a:solidFill>
            <a:srgbClr val="0F4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807915" y="5632704"/>
            <a:ext cx="85587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Canary rollout</a:t>
            </a:r>
          </a:p>
          <a:p>
            <a:pPr algn="l"/>
            <a:r>
              <a:rPr sz="660" b="0" i="0">
                <a:solidFill>
                  <a:srgbClr val="4A5260"/>
                </a:solidFill>
                <a:latin typeface="Calibri"/>
              </a:rPr>
              <a:t>safe launch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551883" y="5971031"/>
            <a:ext cx="1121054" cy="5394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5% traffic + 5% control</a:t>
            </a:r>
          </a:p>
          <a:p>
            <a:pPr marL="91440" indent="-91440" algn="l">
              <a:spcBef>
                <a:spcPts val="300"/>
              </a:spcBef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Monitor performance</a:t>
            </a:r>
          </a:p>
          <a:p>
            <a:pPr marL="91440" indent="-91440" algn="l">
              <a:spcBef>
                <a:spcPts val="300"/>
              </a:spcBef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Ramp 25% → 50% → 100%</a:t>
            </a:r>
          </a:p>
        </p:txBody>
      </p:sp>
      <p:sp>
        <p:nvSpPr>
          <p:cNvPr id="245" name="Oval 244"/>
          <p:cNvSpPr/>
          <p:nvPr/>
        </p:nvSpPr>
        <p:spPr>
          <a:xfrm>
            <a:off x="5718657" y="5687568"/>
            <a:ext cx="146304" cy="146304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Freeform 245"/>
          <p:cNvSpPr/>
          <p:nvPr/>
        </p:nvSpPr>
        <p:spPr>
          <a:xfrm>
            <a:off x="5758159" y="5729996"/>
            <a:ext cx="81930" cy="61447"/>
          </a:xfrm>
          <a:custGeom>
            <a:avLst/>
            <a:gdLst/>
            <a:ahLst/>
            <a:cxnLst/>
            <a:rect l="l" t="t" r="r" b="b"/>
            <a:pathLst>
              <a:path w="81930" h="61447">
                <a:moveTo>
                  <a:pt x="81930" y="30724"/>
                </a:moveTo>
                <a:lnTo>
                  <a:pt x="0" y="61447"/>
                </a:lnTo>
                <a:lnTo>
                  <a:pt x="24579" y="307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step4"/>
          <p:cNvSpPr/>
          <p:nvPr/>
        </p:nvSpPr>
        <p:spPr>
          <a:xfrm>
            <a:off x="5864961" y="5586983"/>
            <a:ext cx="1239926" cy="996696"/>
          </a:xfrm>
          <a:prstGeom prst="roundRect">
            <a:avLst>
              <a:gd name="adj" fmla="val 5504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5928969" y="5650992"/>
            <a:ext cx="219456" cy="219456"/>
          </a:xfrm>
          <a:prstGeom prst="ellipse">
            <a:avLst/>
          </a:prstGeom>
          <a:solidFill>
            <a:srgbClr val="0F4A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194145" y="5632704"/>
            <a:ext cx="85587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40" b="1" i="0">
                <a:solidFill>
                  <a:srgbClr val="0F4A2A"/>
                </a:solidFill>
                <a:latin typeface="Arial"/>
              </a:rPr>
              <a:t>Monitoring</a:t>
            </a:r>
          </a:p>
          <a:p>
            <a:pPr algn="l"/>
            <a:r>
              <a:rPr sz="660" b="0" i="0">
                <a:solidFill>
                  <a:srgbClr val="4A5260"/>
                </a:solidFill>
                <a:latin typeface="Calibri"/>
              </a:rPr>
              <a:t>ongoing, after launch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938113" y="5971031"/>
            <a:ext cx="1121054" cy="5394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91440" indent="-91440" algn="l"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Track key KPIs</a:t>
            </a:r>
          </a:p>
          <a:p>
            <a:pPr marL="91440" indent="-91440" algn="l">
              <a:spcBef>
                <a:spcPts val="300"/>
              </a:spcBef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Drift detection (PSI &lt; 0.2)</a:t>
            </a:r>
          </a:p>
          <a:p>
            <a:pPr marL="91440" indent="-91440" algn="l">
              <a:spcBef>
                <a:spcPts val="300"/>
              </a:spcBef>
              <a:buClr>
                <a:srgbClr val="1E7A45"/>
              </a:buClr>
              <a:buFont typeface="Arial"/>
              <a:buChar char="•"/>
            </a:pPr>
            <a:r>
              <a:rPr sz="720" b="0" i="0">
                <a:solidFill>
                  <a:srgbClr val="1C2330"/>
                </a:solidFill>
                <a:latin typeface="Calibri"/>
              </a:rPr>
              <a:t>Quarterly independent audit</a:t>
            </a:r>
          </a:p>
        </p:txBody>
      </p:sp>
      <p:sp>
        <p:nvSpPr>
          <p:cNvPr id="251" name="bar5"/>
          <p:cNvSpPr/>
          <p:nvPr/>
        </p:nvSpPr>
        <p:spPr>
          <a:xfrm>
            <a:off x="7287768" y="5175504"/>
            <a:ext cx="4675327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7342631" y="5212080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616952" y="5175504"/>
            <a:ext cx="188314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TECHNICAL KPIS &amp; GUARDRAILS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609826" y="5248656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9728698" y="5175504"/>
            <a:ext cx="214295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Fast, reliable and fair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7287768" y="5495544"/>
            <a:ext cx="4675327" cy="1179576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7397496" y="5568696"/>
            <a:ext cx="712165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1E7A45"/>
                </a:solidFill>
                <a:latin typeface="Calibri"/>
              </a:rPr>
              <a:t>&lt; 150 ms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7406640" y="5751576"/>
            <a:ext cx="693877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scoring latency (p95)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146237" y="5568696"/>
            <a:ext cx="712165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1E7A45"/>
                </a:solidFill>
                <a:latin typeface="Calibri"/>
              </a:rPr>
              <a:t>99.95%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155381" y="5751576"/>
            <a:ext cx="693877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monthly availability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8127949" y="5605272"/>
            <a:ext cx="0" cy="329184"/>
          </a:xfrm>
          <a:prstGeom prst="line">
            <a:avLst/>
          </a:prstGeom>
          <a:ln w="6350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8894978" y="5568696"/>
            <a:ext cx="712165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1E7A45"/>
                </a:solidFill>
                <a:latin typeface="Calibri"/>
              </a:rPr>
              <a:t>&lt; 20 min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8904122" y="5751576"/>
            <a:ext cx="693877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data feed freshness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8876690" y="5605272"/>
            <a:ext cx="0" cy="329184"/>
          </a:xfrm>
          <a:prstGeom prst="line">
            <a:avLst/>
          </a:prstGeom>
          <a:ln w="6350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/>
          <p:cNvSpPr txBox="1"/>
          <p:nvPr/>
        </p:nvSpPr>
        <p:spPr>
          <a:xfrm>
            <a:off x="9643719" y="5568696"/>
            <a:ext cx="712165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1E7A45"/>
                </a:solidFill>
                <a:latin typeface="Calibri"/>
              </a:rPr>
              <a:t>&lt; 0.2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652863" y="5751576"/>
            <a:ext cx="693877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model drift (PSI)</a:t>
            </a:r>
          </a:p>
        </p:txBody>
      </p:sp>
      <p:cxnSp>
        <p:nvCxnSpPr>
          <p:cNvPr id="267" name="Connector 266"/>
          <p:cNvCxnSpPr/>
          <p:nvPr/>
        </p:nvCxnSpPr>
        <p:spPr>
          <a:xfrm>
            <a:off x="9625431" y="5605272"/>
            <a:ext cx="0" cy="329184"/>
          </a:xfrm>
          <a:prstGeom prst="line">
            <a:avLst/>
          </a:prstGeom>
          <a:ln w="6350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TextBox 267"/>
          <p:cNvSpPr txBox="1"/>
          <p:nvPr/>
        </p:nvSpPr>
        <p:spPr>
          <a:xfrm>
            <a:off x="10392460" y="5568696"/>
            <a:ext cx="712165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1E7A45"/>
                </a:solidFill>
                <a:latin typeface="Calibri"/>
              </a:rPr>
              <a:t>0.80–1.25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0401604" y="5751576"/>
            <a:ext cx="693877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fairness ratio</a:t>
            </a:r>
          </a:p>
        </p:txBody>
      </p:sp>
      <p:cxnSp>
        <p:nvCxnSpPr>
          <p:cNvPr id="270" name="Connector 269"/>
          <p:cNvCxnSpPr/>
          <p:nvPr/>
        </p:nvCxnSpPr>
        <p:spPr>
          <a:xfrm>
            <a:off x="10374172" y="5605272"/>
            <a:ext cx="0" cy="329184"/>
          </a:xfrm>
          <a:prstGeom prst="line">
            <a:avLst/>
          </a:prstGeom>
          <a:ln w="6350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TextBox 270"/>
          <p:cNvSpPr txBox="1"/>
          <p:nvPr/>
        </p:nvSpPr>
        <p:spPr>
          <a:xfrm>
            <a:off x="11141202" y="5568696"/>
            <a:ext cx="712165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1E7A45"/>
                </a:solidFill>
                <a:latin typeface="Calibri"/>
              </a:rPr>
              <a:t>&lt; 24 hrs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1150346" y="5751576"/>
            <a:ext cx="693877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1C2330"/>
                </a:solidFill>
                <a:latin typeface="Calibri"/>
              </a:rPr>
              <a:t>oldest analyst case</a:t>
            </a:r>
          </a:p>
        </p:txBody>
      </p:sp>
      <p:cxnSp>
        <p:nvCxnSpPr>
          <p:cNvPr id="273" name="Connector 272"/>
          <p:cNvCxnSpPr/>
          <p:nvPr/>
        </p:nvCxnSpPr>
        <p:spPr>
          <a:xfrm>
            <a:off x="11122914" y="5605272"/>
            <a:ext cx="0" cy="329184"/>
          </a:xfrm>
          <a:prstGeom prst="line">
            <a:avLst/>
          </a:prstGeom>
          <a:ln w="6350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guardrails"/>
          <p:cNvSpPr/>
          <p:nvPr/>
        </p:nvSpPr>
        <p:spPr>
          <a:xfrm>
            <a:off x="7379208" y="6007608"/>
            <a:ext cx="4492447" cy="594359"/>
          </a:xfrm>
          <a:prstGeom prst="roundRect">
            <a:avLst>
              <a:gd name="adj" fmla="val 9230"/>
            </a:avLst>
          </a:prstGeom>
          <a:solidFill>
            <a:srgbClr val="FEF4EC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7470648" y="6044184"/>
            <a:ext cx="219456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60" b="1" i="0">
                <a:solidFill>
                  <a:srgbClr val="C9561A"/>
                </a:solidFill>
                <a:latin typeface="Arial"/>
              </a:rPr>
              <a:t>GUARDRAILS (ALWAYS ON)</a:t>
            </a:r>
          </a:p>
        </p:txBody>
      </p:sp>
      <p:pic>
        <p:nvPicPr>
          <p:cNvPr id="276" name="g_person" descr="g_person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43215" y="6286500"/>
            <a:ext cx="182880" cy="182880"/>
          </a:xfrm>
          <a:prstGeom prst="rect">
            <a:avLst/>
          </a:prstGeom>
        </p:spPr>
      </p:pic>
      <p:sp>
        <p:nvSpPr>
          <p:cNvPr id="277" name="TextBox 276"/>
          <p:cNvSpPr txBox="1"/>
          <p:nvPr/>
        </p:nvSpPr>
        <p:spPr>
          <a:xfrm>
            <a:off x="7671815" y="6190488"/>
            <a:ext cx="605881" cy="37490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Human review of serious cases</a:t>
            </a:r>
          </a:p>
        </p:txBody>
      </p:sp>
      <p:pic>
        <p:nvPicPr>
          <p:cNvPr id="278" name="g_doc2" descr="g_doc2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323417" y="6286500"/>
            <a:ext cx="182880" cy="182880"/>
          </a:xfrm>
          <a:prstGeom prst="rect">
            <a:avLst/>
          </a:prstGeom>
        </p:spPr>
      </p:pic>
      <p:sp>
        <p:nvSpPr>
          <p:cNvPr id="279" name="TextBox 278"/>
          <p:cNvSpPr txBox="1"/>
          <p:nvPr/>
        </p:nvSpPr>
        <p:spPr>
          <a:xfrm>
            <a:off x="8552017" y="6190488"/>
            <a:ext cx="605881" cy="37490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Agent prepares evidence only</a:t>
            </a:r>
          </a:p>
        </p:txBody>
      </p:sp>
      <p:pic>
        <p:nvPicPr>
          <p:cNvPr id="280" name="g_shield2" descr="g_shield2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03618" y="6286500"/>
            <a:ext cx="182880" cy="182880"/>
          </a:xfrm>
          <a:prstGeom prst="rect">
            <a:avLst/>
          </a:prstGeom>
        </p:spPr>
      </p:pic>
      <p:sp>
        <p:nvSpPr>
          <p:cNvPr id="281" name="TextBox 280"/>
          <p:cNvSpPr txBox="1"/>
          <p:nvPr/>
        </p:nvSpPr>
        <p:spPr>
          <a:xfrm>
            <a:off x="9432218" y="6190488"/>
            <a:ext cx="605881" cy="37490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One-click rollback and kill switch</a:t>
            </a:r>
          </a:p>
        </p:txBody>
      </p:sp>
      <p:pic>
        <p:nvPicPr>
          <p:cNvPr id="282" name="g_no" descr="g_no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083820" y="6286500"/>
            <a:ext cx="182880" cy="182880"/>
          </a:xfrm>
          <a:prstGeom prst="rect">
            <a:avLst/>
          </a:prstGeom>
        </p:spPr>
      </p:pic>
      <p:sp>
        <p:nvSpPr>
          <p:cNvPr id="283" name="TextBox 282"/>
          <p:cNvSpPr txBox="1"/>
          <p:nvPr/>
        </p:nvSpPr>
        <p:spPr>
          <a:xfrm>
            <a:off x="10312420" y="6190488"/>
            <a:ext cx="605881" cy="37490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No sensitive traits scored</a:t>
            </a:r>
          </a:p>
        </p:txBody>
      </p:sp>
      <p:pic>
        <p:nvPicPr>
          <p:cNvPr id="284" name="g_chat" descr="g_chat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964021" y="6286500"/>
            <a:ext cx="182880" cy="182880"/>
          </a:xfrm>
          <a:prstGeom prst="rect">
            <a:avLst/>
          </a:prstGeom>
        </p:spPr>
      </p:pic>
      <p:sp>
        <p:nvSpPr>
          <p:cNvPr id="285" name="TextBox 284"/>
          <p:cNvSpPr txBox="1"/>
          <p:nvPr/>
        </p:nvSpPr>
        <p:spPr>
          <a:xfrm>
            <a:off x="11192621" y="6190488"/>
            <a:ext cx="605881" cy="37490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Customers can appeal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Deloitte logo" descr="deloitt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1511595" cy="292608"/>
          </a:xfrm>
          <a:prstGeom prst="rect">
            <a:avLst/>
          </a:prstGeom>
        </p:spPr>
      </p:pic>
      <p:pic>
        <p:nvPicPr>
          <p:cNvPr id="4" name="HashedIn logo" descr="hashedin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7215" y="214884"/>
            <a:ext cx="1425879" cy="246888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2194560" y="91440"/>
            <a:ext cx="7802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0F3D28"/>
                </a:solidFill>
                <a:latin typeface="Arial"/>
              </a:rPr>
              <a:t>Return</a:t>
            </a:r>
            <a:r>
              <a:rPr sz="2000" b="1" i="0">
                <a:solidFill>
                  <a:srgbClr val="F26A1B"/>
                </a:solidFill>
                <a:latin typeface="Arial"/>
              </a:rPr>
              <a:t>Lens</a:t>
            </a:r>
            <a:r>
              <a:rPr sz="2000" b="1" i="0">
                <a:solidFill>
                  <a:srgbClr val="7A8494"/>
                </a:solidFill>
                <a:latin typeface="Arial"/>
              </a:rPr>
              <a:t>  |  </a:t>
            </a:r>
            <a:r>
              <a:rPr sz="2000" b="1" i="0">
                <a:solidFill>
                  <a:srgbClr val="0F3D28"/>
                </a:solidFill>
                <a:latin typeface="Arial"/>
              </a:rPr>
              <a:t>Solution at a Glance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1828800" y="429768"/>
            <a:ext cx="8534095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0" i="0">
                <a:solidFill>
                  <a:srgbClr val="3A4250"/>
                </a:solidFill>
                <a:latin typeface="Calibri"/>
              </a:rPr>
              <a:t>AI-powered decision support for returns integrity at Northfield Retail — from data to an explainable, human-owned decision.</a:t>
            </a:r>
          </a:p>
        </p:txBody>
      </p:sp>
      <p:sp>
        <p:nvSpPr>
          <p:cNvPr id="7" name="bar1"/>
          <p:cNvSpPr/>
          <p:nvPr/>
        </p:nvSpPr>
        <p:spPr>
          <a:xfrm>
            <a:off x="228600" y="768096"/>
            <a:ext cx="3611880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3464" y="80467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768096"/>
            <a:ext cx="1374993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WHAT IS RETURNLENS?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088136"/>
            <a:ext cx="3611880" cy="1691640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" y="1161288"/>
            <a:ext cx="3355848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i="0">
                <a:solidFill>
                  <a:srgbClr val="1C2330"/>
                </a:solidFill>
                <a:latin typeface="Calibri"/>
              </a:rPr>
              <a:t>An AI decision-support layer that detects abusive returns, helps analysts decide faster and fits Northfield’s existing systems.</a:t>
            </a:r>
          </a:p>
        </p:txBody>
      </p:sp>
      <p:sp>
        <p:nvSpPr>
          <p:cNvPr id="12" name="icon disc"/>
          <p:cNvSpPr/>
          <p:nvPr/>
        </p:nvSpPr>
        <p:spPr>
          <a:xfrm>
            <a:off x="644652" y="1453895"/>
            <a:ext cx="493776" cy="493776"/>
          </a:xfrm>
          <a:prstGeom prst="ellipse">
            <a:avLst/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s1a" descr="s1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59" y="1517904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4904" y="1938528"/>
            <a:ext cx="1033271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Detects abuse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" y="2194560"/>
            <a:ext cx="1033271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Finds refund-without-return, reseller rings, wardrobing and damaged claims.</a:t>
            </a:r>
          </a:p>
        </p:txBody>
      </p:sp>
      <p:sp>
        <p:nvSpPr>
          <p:cNvPr id="16" name="icon disc"/>
          <p:cNvSpPr/>
          <p:nvPr/>
        </p:nvSpPr>
        <p:spPr>
          <a:xfrm>
            <a:off x="1787652" y="1453895"/>
            <a:ext cx="493776" cy="493776"/>
          </a:xfrm>
          <a:prstGeom prst="ellipse">
            <a:avLst/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s1b" descr="s1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1660" y="1517904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17904" y="1938528"/>
            <a:ext cx="1033271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Helps analysts decide faster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2194560"/>
            <a:ext cx="1033271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A clear score, reasons and an AI evidence summary with citations.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63040" y="1508760"/>
            <a:ext cx="0" cy="1179576"/>
          </a:xfrm>
          <a:prstGeom prst="line">
            <a:avLst/>
          </a:prstGeom>
          <a:ln w="9525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con disc"/>
          <p:cNvSpPr/>
          <p:nvPr/>
        </p:nvSpPr>
        <p:spPr>
          <a:xfrm>
            <a:off x="2930652" y="1453895"/>
            <a:ext cx="493776" cy="493776"/>
          </a:xfrm>
          <a:prstGeom prst="ellipse">
            <a:avLst/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s1c" descr="s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4660" y="1517904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60904" y="1938528"/>
            <a:ext cx="1033271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40" b="1" i="0">
                <a:solidFill>
                  <a:srgbClr val="0F4A2A"/>
                </a:solidFill>
                <a:latin typeface="Arial"/>
              </a:rPr>
              <a:t>Built for Northfield’s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0904" y="2194560"/>
            <a:ext cx="1033271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80" b="0" i="0">
                <a:solidFill>
                  <a:srgbClr val="1C2330"/>
                </a:solidFill>
                <a:latin typeface="Calibri"/>
              </a:rPr>
              <a:t>Uses current data, rules and returns platform; no change for customers.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06040" y="1508760"/>
            <a:ext cx="0" cy="1179576"/>
          </a:xfrm>
          <a:prstGeom prst="line">
            <a:avLst/>
          </a:prstGeom>
          <a:ln w="9525">
            <a:solidFill>
              <a:srgbClr val="E1E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bar2"/>
          <p:cNvSpPr/>
          <p:nvPr/>
        </p:nvSpPr>
        <p:spPr>
          <a:xfrm>
            <a:off x="3931920" y="768096"/>
            <a:ext cx="8031175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986783" y="80467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768096"/>
            <a:ext cx="166292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END-TO-END ARCHITECTURE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3754" y="841247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52626" y="768096"/>
            <a:ext cx="571902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From Northfield’s data to a decision, with an AI decision-support layer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0" y="1088136"/>
            <a:ext cx="8031175" cy="1691640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ol:Existing systems"/>
          <p:cNvSpPr/>
          <p:nvPr/>
        </p:nvSpPr>
        <p:spPr>
          <a:xfrm>
            <a:off x="4023359" y="1161288"/>
            <a:ext cx="1188720" cy="1545336"/>
          </a:xfrm>
          <a:prstGeom prst="roundRect">
            <a:avLst>
              <a:gd name="adj" fmla="val 4615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olhead:Existing systems"/>
          <p:cNvSpPr/>
          <p:nvPr/>
        </p:nvSpPr>
        <p:spPr>
          <a:xfrm>
            <a:off x="4059935" y="1197864"/>
            <a:ext cx="1115568" cy="237744"/>
          </a:xfrm>
          <a:prstGeom prst="roundRect">
            <a:avLst>
              <a:gd name="adj" fmla="val 19230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es0" descr="es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5655" y="1225296"/>
            <a:ext cx="182880" cy="1828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334255" y="1197864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0F4A2A"/>
                </a:solidFill>
                <a:latin typeface="Arial"/>
              </a:rPr>
              <a:t>Existing systems</a:t>
            </a:r>
          </a:p>
        </p:txBody>
      </p:sp>
      <p:sp>
        <p:nvSpPr>
          <p:cNvPr id="36" name="Oval 35"/>
          <p:cNvSpPr/>
          <p:nvPr/>
        </p:nvSpPr>
        <p:spPr>
          <a:xfrm>
            <a:off x="5230710" y="1842516"/>
            <a:ext cx="182880" cy="182880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5280088" y="1895551"/>
            <a:ext cx="102413" cy="76809"/>
          </a:xfrm>
          <a:custGeom>
            <a:avLst/>
            <a:gdLst/>
            <a:ahLst/>
            <a:cxnLst/>
            <a:rect l="l" t="t" r="r" b="b"/>
            <a:pathLst>
              <a:path w="102413" h="76809">
                <a:moveTo>
                  <a:pt x="102413" y="38405"/>
                </a:moveTo>
                <a:lnTo>
                  <a:pt x="0" y="76809"/>
                </a:lnTo>
                <a:lnTo>
                  <a:pt x="30724" y="384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ol:Data Hub"/>
          <p:cNvSpPr/>
          <p:nvPr/>
        </p:nvSpPr>
        <p:spPr>
          <a:xfrm>
            <a:off x="5432221" y="1161288"/>
            <a:ext cx="1170432" cy="1545336"/>
          </a:xfrm>
          <a:prstGeom prst="roundRect">
            <a:avLst>
              <a:gd name="adj" fmla="val 4687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olhead:Data Hub"/>
          <p:cNvSpPr/>
          <p:nvPr/>
        </p:nvSpPr>
        <p:spPr>
          <a:xfrm>
            <a:off x="5468797" y="1197864"/>
            <a:ext cx="1097280" cy="237744"/>
          </a:xfrm>
          <a:prstGeom prst="roundRect">
            <a:avLst>
              <a:gd name="adj" fmla="val 19230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dh" descr="d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4517" y="1225296"/>
            <a:ext cx="182880" cy="1828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743117" y="1197864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0F4A2A"/>
                </a:solidFill>
                <a:latin typeface="Arial"/>
              </a:rPr>
              <a:t>Data Hub</a:t>
            </a:r>
          </a:p>
        </p:txBody>
      </p:sp>
      <p:sp>
        <p:nvSpPr>
          <p:cNvPr id="42" name="Oval 41"/>
          <p:cNvSpPr/>
          <p:nvPr/>
        </p:nvSpPr>
        <p:spPr>
          <a:xfrm>
            <a:off x="6621284" y="1842516"/>
            <a:ext cx="182880" cy="182880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Freeform 42"/>
          <p:cNvSpPr/>
          <p:nvPr/>
        </p:nvSpPr>
        <p:spPr>
          <a:xfrm>
            <a:off x="6670662" y="1895551"/>
            <a:ext cx="102413" cy="76809"/>
          </a:xfrm>
          <a:custGeom>
            <a:avLst/>
            <a:gdLst/>
            <a:ahLst/>
            <a:cxnLst/>
            <a:rect l="l" t="t" r="r" b="b"/>
            <a:pathLst>
              <a:path w="102413" h="76809">
                <a:moveTo>
                  <a:pt x="102413" y="38405"/>
                </a:moveTo>
                <a:lnTo>
                  <a:pt x="0" y="76809"/>
                </a:lnTo>
                <a:lnTo>
                  <a:pt x="30724" y="384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col:AI intelligence layer"/>
          <p:cNvSpPr/>
          <p:nvPr/>
        </p:nvSpPr>
        <p:spPr>
          <a:xfrm>
            <a:off x="6822795" y="1161288"/>
            <a:ext cx="1828800" cy="1545336"/>
          </a:xfrm>
          <a:prstGeom prst="roundRect">
            <a:avLst>
              <a:gd name="adj" fmla="val 3550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olhead:AI intelligence layer"/>
          <p:cNvSpPr/>
          <p:nvPr/>
        </p:nvSpPr>
        <p:spPr>
          <a:xfrm>
            <a:off x="6859371" y="1197864"/>
            <a:ext cx="1755648" cy="237744"/>
          </a:xfrm>
          <a:prstGeom prst="roundRect">
            <a:avLst>
              <a:gd name="adj" fmla="val 19230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ai" descr="a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5091" y="1225296"/>
            <a:ext cx="182880" cy="1828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133691" y="1197864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0F4A2A"/>
                </a:solidFill>
                <a:latin typeface="Arial"/>
              </a:rPr>
              <a:t>AI intelligence layer</a:t>
            </a:r>
          </a:p>
        </p:txBody>
      </p:sp>
      <p:sp>
        <p:nvSpPr>
          <p:cNvPr id="48" name="Oval 47"/>
          <p:cNvSpPr/>
          <p:nvPr/>
        </p:nvSpPr>
        <p:spPr>
          <a:xfrm>
            <a:off x="8670226" y="1842516"/>
            <a:ext cx="182880" cy="182880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Freeform 48"/>
          <p:cNvSpPr/>
          <p:nvPr/>
        </p:nvSpPr>
        <p:spPr>
          <a:xfrm>
            <a:off x="8719604" y="1895551"/>
            <a:ext cx="102412" cy="76809"/>
          </a:xfrm>
          <a:custGeom>
            <a:avLst/>
            <a:gdLst/>
            <a:ahLst/>
            <a:cxnLst/>
            <a:rect l="l" t="t" r="r" b="b"/>
            <a:pathLst>
              <a:path w="102412" h="76809">
                <a:moveTo>
                  <a:pt x="102412" y="38405"/>
                </a:moveTo>
                <a:lnTo>
                  <a:pt x="0" y="76809"/>
                </a:lnTo>
                <a:lnTo>
                  <a:pt x="30723" y="384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col:Decision layer"/>
          <p:cNvSpPr/>
          <p:nvPr/>
        </p:nvSpPr>
        <p:spPr>
          <a:xfrm>
            <a:off x="8871737" y="1161288"/>
            <a:ext cx="1389888" cy="1545336"/>
          </a:xfrm>
          <a:prstGeom prst="roundRect">
            <a:avLst>
              <a:gd name="adj" fmla="val 3947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olhead:Decision layer"/>
          <p:cNvSpPr/>
          <p:nvPr/>
        </p:nvSpPr>
        <p:spPr>
          <a:xfrm>
            <a:off x="8908313" y="1197864"/>
            <a:ext cx="1316736" cy="237744"/>
          </a:xfrm>
          <a:prstGeom prst="roundRect">
            <a:avLst>
              <a:gd name="adj" fmla="val 19230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dec" descr="de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4033" y="1225296"/>
            <a:ext cx="182880" cy="1828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182633" y="1197864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0F4A2A"/>
                </a:solidFill>
                <a:latin typeface="Arial"/>
              </a:rPr>
              <a:t>Decision layer</a:t>
            </a:r>
          </a:p>
        </p:txBody>
      </p:sp>
      <p:sp>
        <p:nvSpPr>
          <p:cNvPr id="54" name="Oval 53"/>
          <p:cNvSpPr/>
          <p:nvPr/>
        </p:nvSpPr>
        <p:spPr>
          <a:xfrm>
            <a:off x="10280256" y="1842516"/>
            <a:ext cx="182880" cy="182880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Freeform 54"/>
          <p:cNvSpPr/>
          <p:nvPr/>
        </p:nvSpPr>
        <p:spPr>
          <a:xfrm>
            <a:off x="10329633" y="1895551"/>
            <a:ext cx="102413" cy="76809"/>
          </a:xfrm>
          <a:custGeom>
            <a:avLst/>
            <a:gdLst/>
            <a:ahLst/>
            <a:cxnLst/>
            <a:rect l="l" t="t" r="r" b="b"/>
            <a:pathLst>
              <a:path w="102413" h="76809">
                <a:moveTo>
                  <a:pt x="102413" y="38405"/>
                </a:moveTo>
                <a:lnTo>
                  <a:pt x="0" y="76809"/>
                </a:lnTo>
                <a:lnTo>
                  <a:pt x="30724" y="384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col:Applications"/>
          <p:cNvSpPr/>
          <p:nvPr/>
        </p:nvSpPr>
        <p:spPr>
          <a:xfrm>
            <a:off x="10481767" y="1161288"/>
            <a:ext cx="1389888" cy="1545336"/>
          </a:xfrm>
          <a:prstGeom prst="roundRect">
            <a:avLst>
              <a:gd name="adj" fmla="val 3947"/>
            </a:avLst>
          </a:prstGeom>
          <a:solidFill>
            <a:srgbClr val="F2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olhead:Applications"/>
          <p:cNvSpPr/>
          <p:nvPr/>
        </p:nvSpPr>
        <p:spPr>
          <a:xfrm>
            <a:off x="10518343" y="1197864"/>
            <a:ext cx="1316736" cy="237744"/>
          </a:xfrm>
          <a:prstGeom prst="roundRect">
            <a:avLst>
              <a:gd name="adj" fmla="val 19230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app" descr="ap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64063" y="1225296"/>
            <a:ext cx="182880" cy="18288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792663" y="1197864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0F4A2A"/>
                </a:solidFill>
                <a:latin typeface="Arial"/>
              </a:rPr>
              <a:t>Applications</a:t>
            </a:r>
          </a:p>
        </p:txBody>
      </p:sp>
      <p:sp>
        <p:nvSpPr>
          <p:cNvPr id="60" name="sys:Order management"/>
          <p:cNvSpPr/>
          <p:nvPr/>
        </p:nvSpPr>
        <p:spPr>
          <a:xfrm>
            <a:off x="4078223" y="1490472"/>
            <a:ext cx="1078992" cy="174498"/>
          </a:xfrm>
          <a:prstGeom prst="roundRect">
            <a:avLst>
              <a:gd name="adj" fmla="val 2096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es0" descr="es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799" y="1513712"/>
            <a:ext cx="128016" cy="12801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297679" y="1490472"/>
            <a:ext cx="822960" cy="174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Order management</a:t>
            </a:r>
          </a:p>
        </p:txBody>
      </p:sp>
      <p:sp>
        <p:nvSpPr>
          <p:cNvPr id="63" name="sys:Payments"/>
          <p:cNvSpPr/>
          <p:nvPr/>
        </p:nvSpPr>
        <p:spPr>
          <a:xfrm>
            <a:off x="4078223" y="1687830"/>
            <a:ext cx="1078992" cy="174498"/>
          </a:xfrm>
          <a:prstGeom prst="roundRect">
            <a:avLst>
              <a:gd name="adj" fmla="val 2096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es1" descr="es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799" y="1711070"/>
            <a:ext cx="128016" cy="12801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297679" y="1687830"/>
            <a:ext cx="822960" cy="174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Payments</a:t>
            </a:r>
          </a:p>
        </p:txBody>
      </p:sp>
      <p:sp>
        <p:nvSpPr>
          <p:cNvPr id="66" name="sys:Carrier tracking"/>
          <p:cNvSpPr/>
          <p:nvPr/>
        </p:nvSpPr>
        <p:spPr>
          <a:xfrm>
            <a:off x="4078223" y="1885187"/>
            <a:ext cx="1078992" cy="174498"/>
          </a:xfrm>
          <a:prstGeom prst="roundRect">
            <a:avLst>
              <a:gd name="adj" fmla="val 2096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7" name="es2" descr="es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14799" y="1908428"/>
            <a:ext cx="128016" cy="12801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297679" y="1885187"/>
            <a:ext cx="822960" cy="174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Carrier tracking</a:t>
            </a:r>
          </a:p>
        </p:txBody>
      </p:sp>
      <p:sp>
        <p:nvSpPr>
          <p:cNvPr id="69" name="sys:Warehouse"/>
          <p:cNvSpPr/>
          <p:nvPr/>
        </p:nvSpPr>
        <p:spPr>
          <a:xfrm>
            <a:off x="4078223" y="2082545"/>
            <a:ext cx="1078992" cy="174498"/>
          </a:xfrm>
          <a:prstGeom prst="roundRect">
            <a:avLst>
              <a:gd name="adj" fmla="val 2096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es3" descr="es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14799" y="2105787"/>
            <a:ext cx="128016" cy="12801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297679" y="2082545"/>
            <a:ext cx="822960" cy="174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Warehouse</a:t>
            </a:r>
          </a:p>
        </p:txBody>
      </p:sp>
      <p:sp>
        <p:nvSpPr>
          <p:cNvPr id="72" name="sys:Customer accounts"/>
          <p:cNvSpPr/>
          <p:nvPr/>
        </p:nvSpPr>
        <p:spPr>
          <a:xfrm>
            <a:off x="4078223" y="2279904"/>
            <a:ext cx="1078992" cy="174498"/>
          </a:xfrm>
          <a:prstGeom prst="roundRect">
            <a:avLst>
              <a:gd name="adj" fmla="val 2096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3" name="es4" descr="es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4799" y="2303145"/>
            <a:ext cx="128016" cy="12801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297679" y="2279904"/>
            <a:ext cx="822960" cy="174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Customer accounts</a:t>
            </a:r>
          </a:p>
        </p:txBody>
      </p:sp>
      <p:sp>
        <p:nvSpPr>
          <p:cNvPr id="75" name="sys:Support chat"/>
          <p:cNvSpPr/>
          <p:nvPr/>
        </p:nvSpPr>
        <p:spPr>
          <a:xfrm>
            <a:off x="4078223" y="2477262"/>
            <a:ext cx="1078992" cy="174498"/>
          </a:xfrm>
          <a:prstGeom prst="roundRect">
            <a:avLst>
              <a:gd name="adj" fmla="val 2096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es5" descr="es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4799" y="2500503"/>
            <a:ext cx="128016" cy="128016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297679" y="2477262"/>
            <a:ext cx="822960" cy="174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Support chat</a:t>
            </a:r>
          </a:p>
        </p:txBody>
      </p:sp>
      <p:sp>
        <p:nvSpPr>
          <p:cNvPr id="78" name="hub list"/>
          <p:cNvSpPr/>
          <p:nvPr/>
        </p:nvSpPr>
        <p:spPr>
          <a:xfrm>
            <a:off x="5487085" y="1490472"/>
            <a:ext cx="1060704" cy="116128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9" name="dh0" descr="dh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51093" y="1591259"/>
            <a:ext cx="118872" cy="11887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733973" y="1545336"/>
            <a:ext cx="777240" cy="2152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Event stream &amp; change capture</a:t>
            </a:r>
          </a:p>
        </p:txBody>
      </p:sp>
      <p:pic>
        <p:nvPicPr>
          <p:cNvPr id="81" name="dh1" descr="dh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51093" y="1854149"/>
            <a:ext cx="118872" cy="11887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733973" y="1860905"/>
            <a:ext cx="777240" cy="1099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Data unification</a:t>
            </a:r>
          </a:p>
        </p:txBody>
      </p:sp>
      <p:pic>
        <p:nvPicPr>
          <p:cNvPr id="83" name="dh2" descr="dh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51093" y="2064359"/>
            <a:ext cx="118872" cy="11887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733973" y="2071116"/>
            <a:ext cx="777240" cy="1099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Quality checks</a:t>
            </a:r>
          </a:p>
        </p:txBody>
      </p:sp>
      <p:pic>
        <p:nvPicPr>
          <p:cNvPr id="85" name="dh3" descr="dh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51093" y="2274570"/>
            <a:ext cx="118872" cy="11887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733973" y="2281326"/>
            <a:ext cx="777240" cy="1099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Entity resolution</a:t>
            </a:r>
          </a:p>
        </p:txBody>
      </p:sp>
      <p:pic>
        <p:nvPicPr>
          <p:cNvPr id="87" name="dh4" descr="dh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51093" y="2484780"/>
            <a:ext cx="118872" cy="118872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733973" y="2491536"/>
            <a:ext cx="777240" cy="1099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Feature store</a:t>
            </a:r>
          </a:p>
        </p:txBody>
      </p:sp>
      <p:sp>
        <p:nvSpPr>
          <p:cNvPr id="89" name="card:Risk Score model"/>
          <p:cNvSpPr/>
          <p:nvPr/>
        </p:nvSpPr>
        <p:spPr>
          <a:xfrm>
            <a:off x="6877659" y="1490472"/>
            <a:ext cx="1719072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ai0" descr="ai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41667" y="1536192"/>
            <a:ext cx="219456" cy="219456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206843" y="1490472"/>
            <a:ext cx="13350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0F4A2A"/>
                </a:solidFill>
                <a:latin typeface="Arial"/>
              </a:rPr>
              <a:t>Risk Score model</a:t>
            </a:r>
          </a:p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Explains each score with key signals</a:t>
            </a:r>
          </a:p>
        </p:txBody>
      </p:sp>
      <p:sp>
        <p:nvSpPr>
          <p:cNvPr id="92" name="card:Learning Engine"/>
          <p:cNvSpPr/>
          <p:nvPr/>
        </p:nvSpPr>
        <p:spPr>
          <a:xfrm>
            <a:off x="6877659" y="1867458"/>
            <a:ext cx="1719072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ai1" descr="ai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41667" y="1913178"/>
            <a:ext cx="219456" cy="21945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7206843" y="1867458"/>
            <a:ext cx="13350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0F4A2A"/>
                </a:solidFill>
                <a:latin typeface="Arial"/>
              </a:rPr>
              <a:t>Learning Engine</a:t>
            </a:r>
          </a:p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Learns from analyst decisions</a:t>
            </a:r>
          </a:p>
        </p:txBody>
      </p:sp>
      <p:sp>
        <p:nvSpPr>
          <p:cNvPr id="95" name="card:Evidence Agent"/>
          <p:cNvSpPr/>
          <p:nvPr/>
        </p:nvSpPr>
        <p:spPr>
          <a:xfrm>
            <a:off x="6877659" y="2244445"/>
            <a:ext cx="1719072" cy="407314"/>
          </a:xfrm>
          <a:prstGeom prst="roundRect">
            <a:avLst>
              <a:gd name="adj" fmla="val 11224"/>
            </a:avLst>
          </a:prstGeom>
          <a:solidFill>
            <a:srgbClr val="FEF4EC"/>
          </a:solidFill>
          <a:ln w="9525">
            <a:solidFill>
              <a:srgbClr val="F5CD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ai2" descr="ai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41667" y="2338374"/>
            <a:ext cx="219456" cy="21945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7206843" y="2244445"/>
            <a:ext cx="1335024" cy="40731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C9561A"/>
                </a:solidFill>
                <a:latin typeface="Arial"/>
              </a:rPr>
              <a:t>Evidence Agent</a:t>
            </a:r>
          </a:p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Cites records and counter-evidence. Never decides.</a:t>
            </a:r>
          </a:p>
        </p:txBody>
      </p:sp>
      <p:sp>
        <p:nvSpPr>
          <p:cNvPr id="98" name="card:Policy engine"/>
          <p:cNvSpPr/>
          <p:nvPr/>
        </p:nvSpPr>
        <p:spPr>
          <a:xfrm>
            <a:off x="8926601" y="1519783"/>
            <a:ext cx="1280160" cy="389026"/>
          </a:xfrm>
          <a:prstGeom prst="roundRect">
            <a:avLst>
              <a:gd name="adj" fmla="val 1175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9" name="dec0" descr="dec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90609" y="1622856"/>
            <a:ext cx="182880" cy="18288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219209" y="1519783"/>
            <a:ext cx="932688" cy="38902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0F4A2A"/>
                </a:solidFill>
                <a:latin typeface="Arial"/>
              </a:rPr>
              <a:t>Policy engine</a:t>
            </a:r>
          </a:p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Business rules &amp; thresholds</a:t>
            </a:r>
          </a:p>
        </p:txBody>
      </p:sp>
      <p:sp>
        <p:nvSpPr>
          <p:cNvPr id="101" name="card:Orchestrator"/>
          <p:cNvSpPr/>
          <p:nvPr/>
        </p:nvSpPr>
        <p:spPr>
          <a:xfrm>
            <a:off x="8926601" y="1981962"/>
            <a:ext cx="1280160" cy="283667"/>
          </a:xfrm>
          <a:prstGeom prst="roundRect">
            <a:avLst>
              <a:gd name="adj" fmla="val 16117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" name="dec1" descr="dec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90609" y="2032355"/>
            <a:ext cx="182880" cy="18288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9219209" y="1981962"/>
            <a:ext cx="932688" cy="28366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0F4A2A"/>
                </a:solidFill>
                <a:latin typeface="Arial"/>
              </a:rPr>
              <a:t>Orchestrator</a:t>
            </a:r>
          </a:p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Routes every return</a:t>
            </a:r>
          </a:p>
        </p:txBody>
      </p:sp>
      <p:sp>
        <p:nvSpPr>
          <p:cNvPr id="104" name="card:Model registry"/>
          <p:cNvSpPr/>
          <p:nvPr/>
        </p:nvSpPr>
        <p:spPr>
          <a:xfrm>
            <a:off x="8926601" y="2338781"/>
            <a:ext cx="1280160" cy="283667"/>
          </a:xfrm>
          <a:prstGeom prst="roundRect">
            <a:avLst>
              <a:gd name="adj" fmla="val 16117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dec2" descr="dec2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90609" y="2389174"/>
            <a:ext cx="182880" cy="18288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9219209" y="2338781"/>
            <a:ext cx="932688" cy="28366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20" b="1" i="0">
                <a:solidFill>
                  <a:srgbClr val="0F4A2A"/>
                </a:solidFill>
                <a:latin typeface="Arial"/>
              </a:rPr>
              <a:t>Model registry</a:t>
            </a:r>
          </a:p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Versioning and monitoring</a:t>
            </a:r>
          </a:p>
        </p:txBody>
      </p:sp>
      <p:sp>
        <p:nvSpPr>
          <p:cNvPr id="107" name="card:Returns platform"/>
          <p:cNvSpPr/>
          <p:nvPr/>
        </p:nvSpPr>
        <p:spPr>
          <a:xfrm>
            <a:off x="10536631" y="1490472"/>
            <a:ext cx="1280160" cy="279755"/>
          </a:xfrm>
          <a:prstGeom prst="roundRect">
            <a:avLst>
              <a:gd name="adj" fmla="val 1634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8" name="app0" descr="app0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00639" y="1538909"/>
            <a:ext cx="182880" cy="18288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829239" y="1490472"/>
            <a:ext cx="932688" cy="2797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Returns platform</a:t>
            </a:r>
          </a:p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Refund / hold / ban</a:t>
            </a:r>
          </a:p>
        </p:txBody>
      </p:sp>
      <p:sp>
        <p:nvSpPr>
          <p:cNvPr id="110" name="card:Review Console"/>
          <p:cNvSpPr/>
          <p:nvPr/>
        </p:nvSpPr>
        <p:spPr>
          <a:xfrm>
            <a:off x="10536631" y="1797659"/>
            <a:ext cx="1280160" cy="279755"/>
          </a:xfrm>
          <a:prstGeom prst="roundRect">
            <a:avLst>
              <a:gd name="adj" fmla="val 1634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app1" descr="app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00639" y="1846097"/>
            <a:ext cx="182880" cy="18288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10829239" y="1797659"/>
            <a:ext cx="932688" cy="2797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Review Console</a:t>
            </a:r>
          </a:p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Score and AI summary</a:t>
            </a:r>
          </a:p>
        </p:txBody>
      </p:sp>
      <p:sp>
        <p:nvSpPr>
          <p:cNvPr id="113" name="card:Support app"/>
          <p:cNvSpPr/>
          <p:nvPr/>
        </p:nvSpPr>
        <p:spPr>
          <a:xfrm>
            <a:off x="10536631" y="2104847"/>
            <a:ext cx="1280160" cy="279755"/>
          </a:xfrm>
          <a:prstGeom prst="roundRect">
            <a:avLst>
              <a:gd name="adj" fmla="val 1634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4" name="app2" descr="app2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600639" y="2153285"/>
            <a:ext cx="182880" cy="18288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0829239" y="2104847"/>
            <a:ext cx="932688" cy="2797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Support app</a:t>
            </a:r>
          </a:p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Customer support view</a:t>
            </a:r>
          </a:p>
        </p:txBody>
      </p:sp>
      <p:sp>
        <p:nvSpPr>
          <p:cNvPr id="116" name="card:Audit log"/>
          <p:cNvSpPr/>
          <p:nvPr/>
        </p:nvSpPr>
        <p:spPr>
          <a:xfrm>
            <a:off x="10536631" y="2412034"/>
            <a:ext cx="1280160" cy="279755"/>
          </a:xfrm>
          <a:prstGeom prst="roundRect">
            <a:avLst>
              <a:gd name="adj" fmla="val 1634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7" name="app3" descr="app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00639" y="2460472"/>
            <a:ext cx="182880" cy="182880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0829239" y="2412034"/>
            <a:ext cx="932688" cy="27975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Audit log</a:t>
            </a:r>
          </a:p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Every decision logged</a:t>
            </a:r>
          </a:p>
        </p:txBody>
      </p:sp>
      <p:sp>
        <p:nvSpPr>
          <p:cNvPr id="119" name="bar3"/>
          <p:cNvSpPr/>
          <p:nvPr/>
        </p:nvSpPr>
        <p:spPr>
          <a:xfrm>
            <a:off x="228600" y="2871216"/>
            <a:ext cx="6172200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283464" y="290779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57784" y="2871216"/>
            <a:ext cx="170340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INSIDE THE EVIDENCE AGENT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370921" y="2944368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489793" y="2871216"/>
            <a:ext cx="381956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Only for held cases (1–2% of refunds): a reliable, explainable loop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28600" y="3191256"/>
            <a:ext cx="6172200" cy="2075688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rack"/>
          <p:cNvSpPr/>
          <p:nvPr/>
        </p:nvSpPr>
        <p:spPr>
          <a:xfrm>
            <a:off x="1033272" y="3547872"/>
            <a:ext cx="2724912" cy="1399031"/>
          </a:xfrm>
          <a:prstGeom prst="roundRect">
            <a:avLst>
              <a:gd name="adj" fmla="val 50000"/>
            </a:avLst>
          </a:prstGeom>
          <a:noFill/>
          <a:ln w="88900">
            <a:solidFill>
              <a:srgbClr val="D3E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rack dash"/>
          <p:cNvSpPr/>
          <p:nvPr/>
        </p:nvSpPr>
        <p:spPr>
          <a:xfrm>
            <a:off x="1033272" y="3547872"/>
            <a:ext cx="2724912" cy="1399031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5DAE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halo"/>
          <p:cNvSpPr/>
          <p:nvPr/>
        </p:nvSpPr>
        <p:spPr>
          <a:xfrm>
            <a:off x="1901952" y="3753611"/>
            <a:ext cx="987552" cy="987552"/>
          </a:xfrm>
          <a:prstGeom prst="ellipse">
            <a:avLst/>
          </a:prstGeom>
          <a:solidFill>
            <a:srgbClr val="E3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core"/>
          <p:cNvSpPr/>
          <p:nvPr/>
        </p:nvSpPr>
        <p:spPr>
          <a:xfrm>
            <a:off x="1993392" y="3845051"/>
            <a:ext cx="804672" cy="804672"/>
          </a:xfrm>
          <a:prstGeom prst="ellipse">
            <a:avLst/>
          </a:prstGeom>
          <a:solidFill>
            <a:srgbClr val="03271D"/>
          </a:solidFill>
          <a:ln w="19050">
            <a:solidFill>
              <a:srgbClr val="4FA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9" name="robot" descr="robot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276856" y="3909059"/>
            <a:ext cx="237744" cy="237744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2039112" y="4155948"/>
            <a:ext cx="7132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Evidence</a:t>
            </a:r>
          </a:p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39112" y="4430268"/>
            <a:ext cx="713232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650" b="0" i="0">
                <a:solidFill>
                  <a:srgbClr val="BFE3CB"/>
                </a:solidFill>
                <a:latin typeface="Calibri"/>
              </a:rPr>
              <a:t>(read-only)</a:t>
            </a:r>
          </a:p>
        </p:txBody>
      </p:sp>
      <p:sp>
        <p:nvSpPr>
          <p:cNvPr id="132" name="step1"/>
          <p:cNvSpPr/>
          <p:nvPr/>
        </p:nvSpPr>
        <p:spPr>
          <a:xfrm>
            <a:off x="1755648" y="3300984"/>
            <a:ext cx="1280160" cy="493776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12700">
            <a:solidFill>
              <a:srgbClr val="C9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3" name="l1" descr="l1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847088" y="3456432"/>
            <a:ext cx="219456" cy="219456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2139696" y="3337560"/>
            <a:ext cx="850392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Fixed prompt</a:t>
            </a:r>
          </a:p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Version-controlled system prompt</a:t>
            </a:r>
          </a:p>
        </p:txBody>
      </p:sp>
      <p:sp>
        <p:nvSpPr>
          <p:cNvPr id="135" name="Oval 134"/>
          <p:cNvSpPr/>
          <p:nvPr/>
        </p:nvSpPr>
        <p:spPr>
          <a:xfrm>
            <a:off x="1709928" y="3246120"/>
            <a:ext cx="173736" cy="173736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6" name="step2"/>
          <p:cNvSpPr/>
          <p:nvPr/>
        </p:nvSpPr>
        <p:spPr>
          <a:xfrm>
            <a:off x="3118104" y="3671315"/>
            <a:ext cx="1280160" cy="493776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12700">
            <a:solidFill>
              <a:srgbClr val="C9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7" name="l2" descr="l2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209544" y="3826763"/>
            <a:ext cx="219456" cy="219456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3502152" y="3707891"/>
            <a:ext cx="850392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Read-only lookups</a:t>
            </a:r>
          </a:p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Up to 4: orders, carrier, warehouse, accounts</a:t>
            </a:r>
          </a:p>
        </p:txBody>
      </p:sp>
      <p:sp>
        <p:nvSpPr>
          <p:cNvPr id="139" name="Oval 138"/>
          <p:cNvSpPr/>
          <p:nvPr/>
        </p:nvSpPr>
        <p:spPr>
          <a:xfrm>
            <a:off x="3072384" y="3616451"/>
            <a:ext cx="173736" cy="173736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0" name="step3"/>
          <p:cNvSpPr/>
          <p:nvPr/>
        </p:nvSpPr>
        <p:spPr>
          <a:xfrm>
            <a:off x="3118104" y="4329683"/>
            <a:ext cx="1280160" cy="493776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12700">
            <a:solidFill>
              <a:srgbClr val="C9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1" name="l3" descr="l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209544" y="4485131"/>
            <a:ext cx="219456" cy="219456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3502152" y="4366259"/>
            <a:ext cx="850392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Assemble evidence</a:t>
            </a:r>
          </a:p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Cite record IDs; list innocent explanations</a:t>
            </a:r>
          </a:p>
        </p:txBody>
      </p:sp>
      <p:sp>
        <p:nvSpPr>
          <p:cNvPr id="143" name="Oval 142"/>
          <p:cNvSpPr/>
          <p:nvPr/>
        </p:nvSpPr>
        <p:spPr>
          <a:xfrm>
            <a:off x="3072384" y="4274820"/>
            <a:ext cx="173736" cy="173736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4" name="step4"/>
          <p:cNvSpPr/>
          <p:nvPr/>
        </p:nvSpPr>
        <p:spPr>
          <a:xfrm>
            <a:off x="1755648" y="4700015"/>
            <a:ext cx="1280160" cy="493776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12700">
            <a:solidFill>
              <a:srgbClr val="C9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5" name="l4" descr="l4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847088" y="4855463"/>
            <a:ext cx="219456" cy="219456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2139696" y="4736591"/>
            <a:ext cx="850392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Validate output</a:t>
            </a:r>
          </a:p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Check JSON, citations and guardrails</a:t>
            </a:r>
          </a:p>
        </p:txBody>
      </p:sp>
      <p:sp>
        <p:nvSpPr>
          <p:cNvPr id="147" name="Oval 146"/>
          <p:cNvSpPr/>
          <p:nvPr/>
        </p:nvSpPr>
        <p:spPr>
          <a:xfrm>
            <a:off x="1709928" y="4645151"/>
            <a:ext cx="173736" cy="173736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8" name="step5"/>
          <p:cNvSpPr/>
          <p:nvPr/>
        </p:nvSpPr>
        <p:spPr>
          <a:xfrm>
            <a:off x="393192" y="4329683"/>
            <a:ext cx="1280160" cy="493776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12700">
            <a:solidFill>
              <a:srgbClr val="C9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9" name="l5" descr="l5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84632" y="4485131"/>
            <a:ext cx="219456" cy="219456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77240" y="4366259"/>
            <a:ext cx="850392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Retry once</a:t>
            </a:r>
          </a:p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If still invalid, use template fallback</a:t>
            </a:r>
          </a:p>
        </p:txBody>
      </p:sp>
      <p:sp>
        <p:nvSpPr>
          <p:cNvPr id="151" name="Oval 150"/>
          <p:cNvSpPr/>
          <p:nvPr/>
        </p:nvSpPr>
        <p:spPr>
          <a:xfrm>
            <a:off x="347472" y="4274820"/>
            <a:ext cx="173736" cy="173736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2" name="step6"/>
          <p:cNvSpPr/>
          <p:nvPr/>
        </p:nvSpPr>
        <p:spPr>
          <a:xfrm>
            <a:off x="393192" y="3671315"/>
            <a:ext cx="1280160" cy="493776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12700">
            <a:solidFill>
              <a:srgbClr val="C9E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" name="l6" descr="l6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84632" y="3826763"/>
            <a:ext cx="219456" cy="219456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777240" y="3707891"/>
            <a:ext cx="850392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Analyst reviews</a:t>
            </a:r>
          </a:p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Sees score, reasons and summary, then decides</a:t>
            </a:r>
          </a:p>
        </p:txBody>
      </p:sp>
      <p:sp>
        <p:nvSpPr>
          <p:cNvPr id="155" name="Oval 154"/>
          <p:cNvSpPr/>
          <p:nvPr/>
        </p:nvSpPr>
        <p:spPr>
          <a:xfrm>
            <a:off x="347472" y="3616451"/>
            <a:ext cx="173736" cy="173736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6" name="Oval 155"/>
          <p:cNvSpPr/>
          <p:nvPr/>
        </p:nvSpPr>
        <p:spPr>
          <a:xfrm>
            <a:off x="3145600" y="3486354"/>
            <a:ext cx="164592" cy="164592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Freeform 156"/>
          <p:cNvSpPr/>
          <p:nvPr/>
        </p:nvSpPr>
        <p:spPr>
          <a:xfrm>
            <a:off x="3182802" y="3525954"/>
            <a:ext cx="97796" cy="67075"/>
          </a:xfrm>
          <a:custGeom>
            <a:avLst/>
            <a:gdLst/>
            <a:ahLst/>
            <a:cxnLst/>
            <a:rect l="l" t="t" r="r" b="b"/>
            <a:pathLst>
              <a:path w="97796" h="67075">
                <a:moveTo>
                  <a:pt x="97796" y="55836"/>
                </a:moveTo>
                <a:lnTo>
                  <a:pt x="0" y="67075"/>
                </a:lnTo>
                <a:lnTo>
                  <a:pt x="35192" y="40227"/>
                </a:lnTo>
                <a:lnTo>
                  <a:pt x="167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3145600" y="4843829"/>
            <a:ext cx="164592" cy="164592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Freeform 158"/>
          <p:cNvSpPr/>
          <p:nvPr/>
        </p:nvSpPr>
        <p:spPr>
          <a:xfrm>
            <a:off x="3175194" y="4883429"/>
            <a:ext cx="97795" cy="67075"/>
          </a:xfrm>
          <a:custGeom>
            <a:avLst/>
            <a:gdLst/>
            <a:ahLst/>
            <a:cxnLst/>
            <a:rect l="l" t="t" r="r" b="b"/>
            <a:pathLst>
              <a:path w="97795" h="67075">
                <a:moveTo>
                  <a:pt x="0" y="55836"/>
                </a:moveTo>
                <a:lnTo>
                  <a:pt x="81072" y="0"/>
                </a:lnTo>
                <a:lnTo>
                  <a:pt x="62603" y="40227"/>
                </a:lnTo>
                <a:lnTo>
                  <a:pt x="97795" y="670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481263" y="4843829"/>
            <a:ext cx="164592" cy="164592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Freeform 160"/>
          <p:cNvSpPr/>
          <p:nvPr/>
        </p:nvSpPr>
        <p:spPr>
          <a:xfrm>
            <a:off x="1510857" y="4901746"/>
            <a:ext cx="97796" cy="67075"/>
          </a:xfrm>
          <a:custGeom>
            <a:avLst/>
            <a:gdLst/>
            <a:ahLst/>
            <a:cxnLst/>
            <a:rect l="l" t="t" r="r" b="b"/>
            <a:pathLst>
              <a:path w="97796" h="67075">
                <a:moveTo>
                  <a:pt x="0" y="11239"/>
                </a:moveTo>
                <a:lnTo>
                  <a:pt x="97796" y="0"/>
                </a:lnTo>
                <a:lnTo>
                  <a:pt x="62604" y="26848"/>
                </a:lnTo>
                <a:lnTo>
                  <a:pt x="81072" y="670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481263" y="3486354"/>
            <a:ext cx="164592" cy="164592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reeform 162"/>
          <p:cNvSpPr/>
          <p:nvPr/>
        </p:nvSpPr>
        <p:spPr>
          <a:xfrm>
            <a:off x="1518466" y="3544271"/>
            <a:ext cx="97795" cy="67075"/>
          </a:xfrm>
          <a:custGeom>
            <a:avLst/>
            <a:gdLst/>
            <a:ahLst/>
            <a:cxnLst/>
            <a:rect l="l" t="t" r="r" b="b"/>
            <a:pathLst>
              <a:path w="97795" h="67075">
                <a:moveTo>
                  <a:pt x="97795" y="11239"/>
                </a:moveTo>
                <a:lnTo>
                  <a:pt x="16723" y="67075"/>
                </a:lnTo>
                <a:lnTo>
                  <a:pt x="35192" y="26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3685032" y="4174235"/>
            <a:ext cx="146304" cy="146304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Freeform 164"/>
          <p:cNvSpPr/>
          <p:nvPr/>
        </p:nvSpPr>
        <p:spPr>
          <a:xfrm>
            <a:off x="3727460" y="4213738"/>
            <a:ext cx="61447" cy="81930"/>
          </a:xfrm>
          <a:custGeom>
            <a:avLst/>
            <a:gdLst/>
            <a:ahLst/>
            <a:cxnLst/>
            <a:rect l="l" t="t" r="r" b="b"/>
            <a:pathLst>
              <a:path w="61447" h="81930">
                <a:moveTo>
                  <a:pt x="30724" y="81930"/>
                </a:moveTo>
                <a:lnTo>
                  <a:pt x="0" y="0"/>
                </a:lnTo>
                <a:lnTo>
                  <a:pt x="30724" y="24579"/>
                </a:lnTo>
                <a:lnTo>
                  <a:pt x="614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960120" y="4174235"/>
            <a:ext cx="146304" cy="146304"/>
          </a:xfrm>
          <a:prstGeom prst="ellipse">
            <a:avLst/>
          </a:prstGeom>
          <a:solidFill>
            <a:srgbClr val="0F3D2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Freeform 166"/>
          <p:cNvSpPr/>
          <p:nvPr/>
        </p:nvSpPr>
        <p:spPr>
          <a:xfrm>
            <a:off x="1002548" y="4199107"/>
            <a:ext cx="61447" cy="81930"/>
          </a:xfrm>
          <a:custGeom>
            <a:avLst/>
            <a:gdLst/>
            <a:ahLst/>
            <a:cxnLst/>
            <a:rect l="l" t="t" r="r" b="b"/>
            <a:pathLst>
              <a:path w="61447" h="81930">
                <a:moveTo>
                  <a:pt x="30724" y="0"/>
                </a:moveTo>
                <a:lnTo>
                  <a:pt x="61447" y="81930"/>
                </a:lnTo>
                <a:lnTo>
                  <a:pt x="30724" y="57351"/>
                </a:lnTo>
                <a:lnTo>
                  <a:pt x="0" y="819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example"/>
          <p:cNvSpPr/>
          <p:nvPr/>
        </p:nvSpPr>
        <p:spPr>
          <a:xfrm>
            <a:off x="4544568" y="3264408"/>
            <a:ext cx="1764791" cy="1929384"/>
          </a:xfrm>
          <a:prstGeom prst="roundRect">
            <a:avLst>
              <a:gd name="adj" fmla="val 3108"/>
            </a:avLst>
          </a:prstGeom>
          <a:solidFill>
            <a:srgbClr val="F5F8F6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4636008" y="3319272"/>
            <a:ext cx="15819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1" i="0">
                <a:solidFill>
                  <a:srgbClr val="1C2330"/>
                </a:solidFill>
                <a:latin typeface="Arial"/>
              </a:rPr>
              <a:t>Example output </a:t>
            </a:r>
            <a:r>
              <a:rPr sz="700" b="0" i="0">
                <a:solidFill>
                  <a:srgbClr val="4A5260"/>
                </a:solidFill>
                <a:latin typeface="Calibri"/>
              </a:rPr>
              <a:t>(shortened)</a:t>
            </a:r>
          </a:p>
        </p:txBody>
      </p:sp>
      <p:sp>
        <p:nvSpPr>
          <p:cNvPr id="170" name="code box"/>
          <p:cNvSpPr/>
          <p:nvPr/>
        </p:nvSpPr>
        <p:spPr>
          <a:xfrm>
            <a:off x="4617720" y="3502152"/>
            <a:ext cx="1618487" cy="1289304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4672584" y="3547872"/>
            <a:ext cx="1527047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{</a:t>
            </a:r>
          </a:p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 "summary": "3 items never</a:t>
            </a:r>
          </a:p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   came back; address shared</a:t>
            </a:r>
          </a:p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   with 2 flagged accounts",</a:t>
            </a:r>
          </a:p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 "pattern": "reseller_ring",</a:t>
            </a:r>
          </a:p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 "confidence": "high",</a:t>
            </a:r>
          </a:p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 "evidence": [{…}],</a:t>
            </a:r>
          </a:p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 "counter_evidence": [{…}],</a:t>
            </a:r>
          </a:p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 "suggested_next_step":</a:t>
            </a:r>
          </a:p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   "escalate_linked_accounts"</a:t>
            </a:r>
          </a:p>
          <a:p>
            <a:pPr algn="l"/>
            <a:r>
              <a:rPr sz="650" b="0" i="0">
                <a:solidFill>
                  <a:srgbClr val="2B3440"/>
                </a:solidFill>
                <a:latin typeface="Consolas"/>
              </a:rPr>
              <a:t>}</a:t>
            </a:r>
          </a:p>
        </p:txBody>
      </p:sp>
      <p:sp>
        <p:nvSpPr>
          <p:cNvPr id="172" name="chip:Citations"/>
          <p:cNvSpPr/>
          <p:nvPr/>
        </p:nvSpPr>
        <p:spPr>
          <a:xfrm>
            <a:off x="4617720" y="4846320"/>
            <a:ext cx="515111" cy="274320"/>
          </a:xfrm>
          <a:prstGeom prst="roundRect">
            <a:avLst>
              <a:gd name="adj" fmla="val 16666"/>
            </a:avLst>
          </a:prstGeom>
          <a:solidFill>
            <a:srgbClr val="E3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645152" y="4846320"/>
            <a:ext cx="46024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50" b="1" i="0">
                <a:solidFill>
                  <a:srgbClr val="0F4A2A"/>
                </a:solidFill>
                <a:latin typeface="Calibri"/>
              </a:rPr>
              <a:t>Citations</a:t>
            </a:r>
          </a:p>
        </p:txBody>
      </p:sp>
      <p:sp>
        <p:nvSpPr>
          <p:cNvPr id="174" name="chip:Innocent explanations"/>
          <p:cNvSpPr/>
          <p:nvPr/>
        </p:nvSpPr>
        <p:spPr>
          <a:xfrm>
            <a:off x="5169408" y="4846320"/>
            <a:ext cx="515111" cy="274320"/>
          </a:xfrm>
          <a:prstGeom prst="roundRect">
            <a:avLst>
              <a:gd name="adj" fmla="val 16666"/>
            </a:avLst>
          </a:prstGeom>
          <a:solidFill>
            <a:srgbClr val="E3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5196840" y="4846320"/>
            <a:ext cx="46024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50" b="1" i="0">
                <a:solidFill>
                  <a:srgbClr val="0F4A2A"/>
                </a:solidFill>
                <a:latin typeface="Calibri"/>
              </a:rPr>
              <a:t>Innocent explanations</a:t>
            </a:r>
          </a:p>
        </p:txBody>
      </p:sp>
      <p:sp>
        <p:nvSpPr>
          <p:cNvPr id="176" name="chip:No sensitive traits"/>
          <p:cNvSpPr/>
          <p:nvPr/>
        </p:nvSpPr>
        <p:spPr>
          <a:xfrm>
            <a:off x="5721096" y="4846320"/>
            <a:ext cx="515111" cy="274320"/>
          </a:xfrm>
          <a:prstGeom prst="roundRect">
            <a:avLst>
              <a:gd name="adj" fmla="val 16666"/>
            </a:avLst>
          </a:prstGeom>
          <a:solidFill>
            <a:srgbClr val="E3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748528" y="4846320"/>
            <a:ext cx="460247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50" b="1" i="0">
                <a:solidFill>
                  <a:srgbClr val="0F4A2A"/>
                </a:solidFill>
                <a:latin typeface="Calibri"/>
              </a:rPr>
              <a:t>No sensitive traits</a:t>
            </a:r>
          </a:p>
        </p:txBody>
      </p:sp>
      <p:sp>
        <p:nvSpPr>
          <p:cNvPr id="178" name="bar4"/>
          <p:cNvSpPr/>
          <p:nvPr/>
        </p:nvSpPr>
        <p:spPr>
          <a:xfrm>
            <a:off x="6492240" y="2871216"/>
            <a:ext cx="5470855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6547103" y="2907792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821424" y="2871216"/>
            <a:ext cx="242928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ENGINEERING FEASIBILITY &amp; TRADE-OFFS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360437" y="2944368"/>
            <a:ext cx="10972" cy="128015"/>
          </a:xfrm>
          <a:prstGeom prst="rect">
            <a:avLst/>
          </a:prstGeom>
          <a:solidFill>
            <a:srgbClr val="7F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479309" y="2871216"/>
            <a:ext cx="239234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E6F2EA"/>
                </a:solidFill>
                <a:latin typeface="Calibri"/>
              </a:rPr>
              <a:t>Build vs buy vs extend for Northfield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6492240" y="3191256"/>
            <a:ext cx="5470855" cy="2075688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ommended"/>
          <p:cNvSpPr/>
          <p:nvPr/>
        </p:nvSpPr>
        <p:spPr>
          <a:xfrm>
            <a:off x="10499140" y="3264408"/>
            <a:ext cx="1354226" cy="1929384"/>
          </a:xfrm>
          <a:prstGeom prst="roundRect">
            <a:avLst>
              <a:gd name="adj" fmla="val 4051"/>
            </a:avLst>
          </a:prstGeom>
          <a:solidFill>
            <a:srgbClr val="F3FAF5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head:Build"/>
          <p:cNvSpPr/>
          <p:nvPr/>
        </p:nvSpPr>
        <p:spPr>
          <a:xfrm>
            <a:off x="7717536" y="3264408"/>
            <a:ext cx="1354226" cy="347472"/>
          </a:xfrm>
          <a:prstGeom prst="roundRect">
            <a:avLst>
              <a:gd name="adj" fmla="val 13157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6" name="wrench" descr="wrench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808975" y="3328415"/>
            <a:ext cx="219456" cy="219456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8101583" y="3300984"/>
            <a:ext cx="91531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111111"/>
                </a:solidFill>
                <a:latin typeface="Arial"/>
              </a:rPr>
              <a:t>Build</a:t>
            </a:r>
          </a:p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from scratch</a:t>
            </a:r>
          </a:p>
        </p:txBody>
      </p:sp>
      <p:sp>
        <p:nvSpPr>
          <p:cNvPr id="188" name="head:Buy"/>
          <p:cNvSpPr/>
          <p:nvPr/>
        </p:nvSpPr>
        <p:spPr>
          <a:xfrm>
            <a:off x="9108338" y="3264408"/>
            <a:ext cx="1354226" cy="347472"/>
          </a:xfrm>
          <a:prstGeom prst="roundRect">
            <a:avLst>
              <a:gd name="adj" fmla="val 13157"/>
            </a:avLst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9" name="cart" descr="cart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199778" y="3328415"/>
            <a:ext cx="219456" cy="219456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9492386" y="3300984"/>
            <a:ext cx="91531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111111"/>
                </a:solidFill>
                <a:latin typeface="Arial"/>
              </a:rPr>
              <a:t>Buy</a:t>
            </a:r>
          </a:p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third-party product</a:t>
            </a:r>
          </a:p>
        </p:txBody>
      </p:sp>
      <p:sp>
        <p:nvSpPr>
          <p:cNvPr id="191" name="head:Extend platform"/>
          <p:cNvSpPr/>
          <p:nvPr/>
        </p:nvSpPr>
        <p:spPr>
          <a:xfrm>
            <a:off x="10535716" y="3300984"/>
            <a:ext cx="1281074" cy="310896"/>
          </a:xfrm>
          <a:prstGeom prst="roundRect">
            <a:avLst>
              <a:gd name="adj" fmla="val 14705"/>
            </a:avLst>
          </a:prstGeom>
          <a:solidFill>
            <a:srgbClr val="D9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2" name="spark" descr="spark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590580" y="3328415"/>
            <a:ext cx="219456" cy="219456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10883188" y="3319272"/>
            <a:ext cx="91531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60" b="1" i="0">
                <a:solidFill>
                  <a:srgbClr val="111111"/>
                </a:solidFill>
                <a:latin typeface="Arial"/>
              </a:rPr>
              <a:t>Extend platform</a:t>
            </a:r>
          </a:p>
          <a:p>
            <a:pPr algn="l"/>
            <a:r>
              <a:rPr sz="680" b="0" i="0">
                <a:solidFill>
                  <a:srgbClr val="4A5260"/>
                </a:solidFill>
                <a:latin typeface="Calibri"/>
              </a:rPr>
              <a:t>recommended</a:t>
            </a:r>
          </a:p>
        </p:txBody>
      </p:sp>
      <p:pic>
        <p:nvPicPr>
          <p:cNvPr id="194" name="r0" descr="r0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1968" y="3684117"/>
            <a:ext cx="146304" cy="146304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6803136" y="3648456"/>
            <a:ext cx="859536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Time to MVP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7790688" y="3729837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ounded Rectangle 196"/>
          <p:cNvSpPr/>
          <p:nvPr/>
        </p:nvSpPr>
        <p:spPr>
          <a:xfrm>
            <a:off x="7790688" y="3729837"/>
            <a:ext cx="233172" cy="54864"/>
          </a:xfrm>
          <a:prstGeom prst="roundRect">
            <a:avLst>
              <a:gd name="adj" fmla="val 50000"/>
            </a:avLst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8174736" y="3648456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9–12 months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181490" y="3729837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ounded Rectangle 199"/>
          <p:cNvSpPr/>
          <p:nvPr/>
        </p:nvSpPr>
        <p:spPr>
          <a:xfrm>
            <a:off x="9181490" y="3729837"/>
            <a:ext cx="170992" cy="5486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9565538" y="3648456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3–6 months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0572292" y="3729837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ounded Rectangle 202"/>
          <p:cNvSpPr/>
          <p:nvPr/>
        </p:nvSpPr>
        <p:spPr>
          <a:xfrm>
            <a:off x="10572292" y="3729837"/>
            <a:ext cx="186537" cy="54864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10956340" y="3648456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1E7A45"/>
                </a:solidFill>
                <a:latin typeface="Calibri"/>
              </a:rPr>
              <a:t>~5 months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6583679" y="3866083"/>
            <a:ext cx="3897173" cy="0"/>
          </a:xfrm>
          <a:prstGeom prst="line">
            <a:avLst/>
          </a:prstGeom>
          <a:ln w="6350">
            <a:solidFill>
              <a:srgbClr val="E6E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6" name="r1" descr="r1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601968" y="3901744"/>
            <a:ext cx="146304" cy="146304"/>
          </a:xfrm>
          <a:prstGeom prst="rect">
            <a:avLst/>
          </a:prstGeom>
        </p:spPr>
      </p:pic>
      <p:sp>
        <p:nvSpPr>
          <p:cNvPr id="207" name="TextBox 206"/>
          <p:cNvSpPr txBox="1"/>
          <p:nvPr/>
        </p:nvSpPr>
        <p:spPr>
          <a:xfrm>
            <a:off x="6803136" y="3866083"/>
            <a:ext cx="859536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Year 1 cost (est.)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7790688" y="3947464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ounded Rectangle 208"/>
          <p:cNvSpPr/>
          <p:nvPr/>
        </p:nvSpPr>
        <p:spPr>
          <a:xfrm>
            <a:off x="7790688" y="3947464"/>
            <a:ext cx="248716" cy="54864"/>
          </a:xfrm>
          <a:prstGeom prst="roundRect">
            <a:avLst>
              <a:gd name="adj" fmla="val 50000"/>
            </a:avLst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8174736" y="3866083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~$8–12M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9181490" y="3947464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ounded Rectangle 211"/>
          <p:cNvSpPr/>
          <p:nvPr/>
        </p:nvSpPr>
        <p:spPr>
          <a:xfrm>
            <a:off x="9181490" y="3947464"/>
            <a:ext cx="155448" cy="5486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9565538" y="3866083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~$3–6M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0572292" y="3947464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ounded Rectangle 214"/>
          <p:cNvSpPr/>
          <p:nvPr/>
        </p:nvSpPr>
        <p:spPr>
          <a:xfrm>
            <a:off x="10572292" y="3947464"/>
            <a:ext cx="139903" cy="54864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10956340" y="3866083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1E7A45"/>
                </a:solidFill>
                <a:latin typeface="Calibri"/>
              </a:rPr>
              <a:t>~$4M</a:t>
            </a:r>
          </a:p>
          <a:p>
            <a:pPr algn="l"/>
            <a:r>
              <a:rPr sz="650" b="0" i="0">
                <a:solidFill>
                  <a:srgbClr val="4A5260"/>
                </a:solidFill>
                <a:latin typeface="Calibri"/>
              </a:rPr>
              <a:t>~12 people + cloud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6583679" y="4083710"/>
            <a:ext cx="3897173" cy="0"/>
          </a:xfrm>
          <a:prstGeom prst="line">
            <a:avLst/>
          </a:prstGeom>
          <a:ln w="6350">
            <a:solidFill>
              <a:srgbClr val="E6E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8" name="r2" descr="r2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601968" y="4119371"/>
            <a:ext cx="146304" cy="146304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6803136" y="4083710"/>
            <a:ext cx="859536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Customisation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790688" y="4165091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ounded Rectangle 220"/>
          <p:cNvSpPr/>
          <p:nvPr/>
        </p:nvSpPr>
        <p:spPr>
          <a:xfrm>
            <a:off x="7790688" y="4165091"/>
            <a:ext cx="108813" cy="54864"/>
          </a:xfrm>
          <a:prstGeom prst="roundRect">
            <a:avLst>
              <a:gd name="adj" fmla="val 50000"/>
            </a:avLst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8174736" y="4083710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Full control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9181490" y="4165091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ounded Rectangle 223"/>
          <p:cNvSpPr/>
          <p:nvPr/>
        </p:nvSpPr>
        <p:spPr>
          <a:xfrm>
            <a:off x="9181490" y="4165091"/>
            <a:ext cx="124358" cy="5486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9565538" y="4083710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Limited</a:t>
            </a:r>
          </a:p>
          <a:p>
            <a:pPr algn="l"/>
            <a:r>
              <a:rPr sz="650" b="0" i="0">
                <a:solidFill>
                  <a:srgbClr val="4A5260"/>
                </a:solidFill>
                <a:latin typeface="Calibri"/>
              </a:rPr>
              <a:t>fixed features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0572292" y="4165091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ounded Rectangle 226"/>
          <p:cNvSpPr/>
          <p:nvPr/>
        </p:nvSpPr>
        <p:spPr>
          <a:xfrm>
            <a:off x="10572292" y="4165091"/>
            <a:ext cx="264261" cy="54864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10956340" y="4083710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1E7A45"/>
                </a:solidFill>
                <a:latin typeface="Calibri"/>
              </a:rPr>
              <a:t>High</a:t>
            </a:r>
          </a:p>
          <a:p>
            <a:pPr algn="l"/>
            <a:r>
              <a:rPr sz="650" b="0" i="0">
                <a:solidFill>
                  <a:srgbClr val="4A5260"/>
                </a:solidFill>
                <a:latin typeface="Calibri"/>
              </a:rPr>
              <a:t>built for Northfield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6583679" y="4301337"/>
            <a:ext cx="3897173" cy="0"/>
          </a:xfrm>
          <a:prstGeom prst="line">
            <a:avLst/>
          </a:prstGeom>
          <a:ln w="6350">
            <a:solidFill>
              <a:srgbClr val="E6E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0" name="r3" descr="r3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601968" y="4336999"/>
            <a:ext cx="146304" cy="146304"/>
          </a:xfrm>
          <a:prstGeom prst="rect">
            <a:avLst/>
          </a:prstGeom>
        </p:spPr>
      </p:pic>
      <p:sp>
        <p:nvSpPr>
          <p:cNvPr id="231" name="TextBox 230"/>
          <p:cNvSpPr txBox="1"/>
          <p:nvPr/>
        </p:nvSpPr>
        <p:spPr>
          <a:xfrm>
            <a:off x="6803136" y="4301337"/>
            <a:ext cx="859536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Fit with systems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7790688" y="4382719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ounded Rectangle 232"/>
          <p:cNvSpPr/>
          <p:nvPr/>
        </p:nvSpPr>
        <p:spPr>
          <a:xfrm>
            <a:off x="7790688" y="4382719"/>
            <a:ext cx="93268" cy="54864"/>
          </a:xfrm>
          <a:prstGeom prst="roundRect">
            <a:avLst>
              <a:gd name="adj" fmla="val 50000"/>
            </a:avLst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8174736" y="4301337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Low</a:t>
            </a:r>
          </a:p>
          <a:p>
            <a:pPr algn="l"/>
            <a:r>
              <a:rPr sz="650" b="0" i="0">
                <a:solidFill>
                  <a:srgbClr val="4A5260"/>
                </a:solidFill>
                <a:latin typeface="Calibri"/>
              </a:rPr>
              <a:t>rebuild connectors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9181490" y="4382719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ounded Rectangle 235"/>
          <p:cNvSpPr/>
          <p:nvPr/>
        </p:nvSpPr>
        <p:spPr>
          <a:xfrm>
            <a:off x="9181490" y="4382719"/>
            <a:ext cx="170992" cy="5486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9565538" y="4301337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Medium</a:t>
            </a:r>
          </a:p>
          <a:p>
            <a:pPr algn="l"/>
            <a:r>
              <a:rPr sz="650" b="0" i="0">
                <a:solidFill>
                  <a:srgbClr val="4A5260"/>
                </a:solidFill>
                <a:latin typeface="Calibri"/>
              </a:rPr>
              <a:t>integration needed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0572292" y="4382719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ounded Rectangle 238"/>
          <p:cNvSpPr/>
          <p:nvPr/>
        </p:nvSpPr>
        <p:spPr>
          <a:xfrm>
            <a:off x="10572292" y="4382719"/>
            <a:ext cx="264261" cy="54864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10956340" y="4301337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1E7A45"/>
                </a:solidFill>
                <a:latin typeface="Calibri"/>
              </a:rPr>
              <a:t>High</a:t>
            </a:r>
          </a:p>
          <a:p>
            <a:pPr algn="l"/>
            <a:r>
              <a:rPr sz="650" b="0" i="0">
                <a:solidFill>
                  <a:srgbClr val="4A5260"/>
                </a:solidFill>
                <a:latin typeface="Calibri"/>
              </a:rPr>
              <a:t>uses current stack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6583679" y="4518964"/>
            <a:ext cx="3897173" cy="0"/>
          </a:xfrm>
          <a:prstGeom prst="line">
            <a:avLst/>
          </a:prstGeom>
          <a:ln w="6350">
            <a:solidFill>
              <a:srgbClr val="E6E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2" name="r4" descr="r4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601968" y="4554626"/>
            <a:ext cx="146304" cy="146304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6803136" y="4518964"/>
            <a:ext cx="859536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Ongoing cost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7790688" y="4600346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ounded Rectangle 244"/>
          <p:cNvSpPr/>
          <p:nvPr/>
        </p:nvSpPr>
        <p:spPr>
          <a:xfrm>
            <a:off x="7790688" y="4600346"/>
            <a:ext cx="248716" cy="54864"/>
          </a:xfrm>
          <a:prstGeom prst="roundRect">
            <a:avLst>
              <a:gd name="adj" fmla="val 50000"/>
            </a:avLst>
          </a:prstGeom>
          <a:solidFill>
            <a:srgbClr val="E27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8174736" y="4518964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High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9181490" y="4600346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ounded Rectangle 247"/>
          <p:cNvSpPr/>
          <p:nvPr/>
        </p:nvSpPr>
        <p:spPr>
          <a:xfrm>
            <a:off x="9181490" y="4600346"/>
            <a:ext cx="248716" cy="5486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9565538" y="4518964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High</a:t>
            </a:r>
          </a:p>
          <a:p>
            <a:pPr algn="l"/>
            <a:r>
              <a:rPr sz="650" b="0" i="0">
                <a:solidFill>
                  <a:srgbClr val="4A5260"/>
                </a:solidFill>
                <a:latin typeface="Calibri"/>
              </a:rPr>
              <a:t>per transaction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0572292" y="4600346"/>
            <a:ext cx="310896" cy="54864"/>
          </a:xfrm>
          <a:prstGeom prst="roundRect">
            <a:avLst>
              <a:gd name="adj" fmla="val 50000"/>
            </a:avLst>
          </a:prstGeom>
          <a:solidFill>
            <a:srgbClr val="E3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ounded Rectangle 250"/>
          <p:cNvSpPr/>
          <p:nvPr/>
        </p:nvSpPr>
        <p:spPr>
          <a:xfrm>
            <a:off x="10572292" y="4600346"/>
            <a:ext cx="124358" cy="54864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10956340" y="4518964"/>
            <a:ext cx="860450" cy="21762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1E7A45"/>
                </a:solidFill>
                <a:latin typeface="Calibri"/>
              </a:rPr>
              <a:t>Lower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6583679" y="4754880"/>
            <a:ext cx="3897173" cy="0"/>
          </a:xfrm>
          <a:prstGeom prst="line">
            <a:avLst/>
          </a:prstGeom>
          <a:ln w="6350">
            <a:solidFill>
              <a:srgbClr val="E6E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4" name="r5" descr="r5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601968" y="4892040"/>
            <a:ext cx="146304" cy="146304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6803136" y="4773168"/>
            <a:ext cx="8595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Key trade-offs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790688" y="4773168"/>
            <a:ext cx="12444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91440" indent="-91440" algn="l">
              <a:buClr>
                <a:srgbClr val="E2711D"/>
              </a:buClr>
              <a:buFont typeface="Arial"/>
              <a:buChar char="•"/>
            </a:pPr>
            <a:r>
              <a:rPr sz="660" b="0" i="0">
                <a:solidFill>
                  <a:srgbClr val="1C2330"/>
                </a:solidFill>
                <a:latin typeface="Calibri"/>
              </a:rPr>
              <a:t>Full flexibility</a:t>
            </a:r>
          </a:p>
          <a:p>
            <a:pPr marL="91440" indent="-91440" algn="l">
              <a:buClr>
                <a:srgbClr val="E2711D"/>
              </a:buClr>
              <a:buFont typeface="Arial"/>
              <a:buChar char="•"/>
            </a:pPr>
            <a:r>
              <a:rPr sz="660" b="0" i="0">
                <a:solidFill>
                  <a:srgbClr val="1C2330"/>
                </a:solidFill>
                <a:latin typeface="Calibri"/>
              </a:rPr>
              <a:t>Slow and expensive</a:t>
            </a:r>
          </a:p>
          <a:p>
            <a:pPr marL="91440" indent="-91440" algn="l">
              <a:buClr>
                <a:srgbClr val="E2711D"/>
              </a:buClr>
              <a:buFont typeface="Arial"/>
              <a:buChar char="•"/>
            </a:pPr>
            <a:r>
              <a:rPr sz="660" b="0" i="0">
                <a:solidFill>
                  <a:srgbClr val="1C2330"/>
                </a:solidFill>
                <a:latin typeface="Calibri"/>
              </a:rPr>
              <a:t>Higher delivery risk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9181490" y="4773168"/>
            <a:ext cx="12444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91440" indent="-91440" algn="l">
              <a:buClr>
                <a:srgbClr val="F5A623"/>
              </a:buClr>
              <a:buFont typeface="Arial"/>
              <a:buChar char="•"/>
            </a:pPr>
            <a:r>
              <a:rPr sz="660" b="0" i="0">
                <a:solidFill>
                  <a:srgbClr val="1C2330"/>
                </a:solidFill>
                <a:latin typeface="Calibri"/>
              </a:rPr>
              <a:t>Faster rollout</a:t>
            </a:r>
          </a:p>
          <a:p>
            <a:pPr marL="91440" indent="-91440" algn="l">
              <a:buClr>
                <a:srgbClr val="F5A623"/>
              </a:buClr>
              <a:buFont typeface="Arial"/>
              <a:buChar char="•"/>
            </a:pPr>
            <a:r>
              <a:rPr sz="660" b="0" i="0">
                <a:solidFill>
                  <a:srgbClr val="1C2330"/>
                </a:solidFill>
                <a:latin typeface="Calibri"/>
              </a:rPr>
              <a:t>May not fit our rules</a:t>
            </a:r>
          </a:p>
          <a:p>
            <a:pPr marL="91440" indent="-91440" algn="l">
              <a:buClr>
                <a:srgbClr val="F5A623"/>
              </a:buClr>
              <a:buFont typeface="Arial"/>
              <a:buChar char="•"/>
            </a:pPr>
            <a:r>
              <a:rPr sz="660" b="0" i="0">
                <a:solidFill>
                  <a:srgbClr val="1C2330"/>
                </a:solidFill>
                <a:latin typeface="Calibri"/>
              </a:rPr>
              <a:t>Harder to explain</a:t>
            </a:r>
          </a:p>
        </p:txBody>
      </p:sp>
      <p:pic>
        <p:nvPicPr>
          <p:cNvPr id="258" name="bigchk" descr="bigchk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572292" y="4837176"/>
            <a:ext cx="256032" cy="256032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10901476" y="4773168"/>
            <a:ext cx="93360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660" b="1" i="0">
                <a:solidFill>
                  <a:srgbClr val="1E7A45"/>
                </a:solidFill>
                <a:latin typeface="Calibri"/>
              </a:rPr>
              <a:t>Best fit for Northfield</a:t>
            </a:r>
          </a:p>
          <a:p>
            <a:pPr algn="l"/>
            <a:r>
              <a:rPr sz="660" b="1" i="0">
                <a:solidFill>
                  <a:srgbClr val="1C2330"/>
                </a:solidFill>
                <a:latin typeface="Calibri"/>
              </a:rPr>
              <a:t>Faster time to value</a:t>
            </a:r>
          </a:p>
          <a:p>
            <a:pPr algn="l"/>
            <a:r>
              <a:rPr sz="660" b="1" i="0">
                <a:solidFill>
                  <a:srgbClr val="1C2330"/>
                </a:solidFill>
                <a:latin typeface="Calibri"/>
              </a:rPr>
              <a:t>Lower effort and cost</a:t>
            </a:r>
          </a:p>
        </p:txBody>
      </p:sp>
      <p:sp>
        <p:nvSpPr>
          <p:cNvPr id="260" name="bar5"/>
          <p:cNvSpPr/>
          <p:nvPr/>
        </p:nvSpPr>
        <p:spPr>
          <a:xfrm>
            <a:off x="228600" y="5358383"/>
            <a:ext cx="4069080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3464" y="5394959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57784" y="5358383"/>
            <a:ext cx="181533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PERFORMANCE &amp; SCALABILITY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228600" y="5678423"/>
            <a:ext cx="4069080" cy="996696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kpi0"/>
          <p:cNvSpPr/>
          <p:nvPr/>
        </p:nvSpPr>
        <p:spPr>
          <a:xfrm>
            <a:off x="320040" y="5751575"/>
            <a:ext cx="747979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5" name="k0" descr="k0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74904" y="5806439"/>
            <a:ext cx="164592" cy="164592"/>
          </a:xfrm>
          <a:prstGeom prst="rect">
            <a:avLst/>
          </a:prstGeom>
        </p:spPr>
      </p:pic>
      <p:sp>
        <p:nvSpPr>
          <p:cNvPr id="266" name="TextBox 265"/>
          <p:cNvSpPr txBox="1"/>
          <p:nvPr/>
        </p:nvSpPr>
        <p:spPr>
          <a:xfrm>
            <a:off x="566928" y="5788151"/>
            <a:ext cx="473659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C9561A"/>
                </a:solidFill>
                <a:latin typeface="Calibri"/>
              </a:rPr>
              <a:t>&lt; 150 ms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74904" y="6007607"/>
            <a:ext cx="656539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Risk score latency (p95)</a:t>
            </a:r>
          </a:p>
        </p:txBody>
      </p:sp>
      <p:sp>
        <p:nvSpPr>
          <p:cNvPr id="268" name="kpi1"/>
          <p:cNvSpPr/>
          <p:nvPr/>
        </p:nvSpPr>
        <p:spPr>
          <a:xfrm>
            <a:off x="1104595" y="5751575"/>
            <a:ext cx="747979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9" name="k1" descr="k1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159459" y="5806439"/>
            <a:ext cx="164592" cy="164592"/>
          </a:xfrm>
          <a:prstGeom prst="rect">
            <a:avLst/>
          </a:prstGeom>
        </p:spPr>
      </p:pic>
      <p:sp>
        <p:nvSpPr>
          <p:cNvPr id="270" name="TextBox 269"/>
          <p:cNvSpPr txBox="1"/>
          <p:nvPr/>
        </p:nvSpPr>
        <p:spPr>
          <a:xfrm>
            <a:off x="1351483" y="5788151"/>
            <a:ext cx="473659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C9561A"/>
                </a:solidFill>
                <a:latin typeface="Calibri"/>
              </a:rPr>
              <a:t>&lt; 20 sec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159459" y="6007607"/>
            <a:ext cx="656539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Evidence Agent time</a:t>
            </a:r>
          </a:p>
        </p:txBody>
      </p:sp>
      <p:sp>
        <p:nvSpPr>
          <p:cNvPr id="272" name="kpi2"/>
          <p:cNvSpPr/>
          <p:nvPr/>
        </p:nvSpPr>
        <p:spPr>
          <a:xfrm>
            <a:off x="1889150" y="5751575"/>
            <a:ext cx="747979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3" name="k2" descr="k2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944014" y="5806439"/>
            <a:ext cx="164592" cy="164592"/>
          </a:xfrm>
          <a:prstGeom prst="rect">
            <a:avLst/>
          </a:prstGeom>
        </p:spPr>
      </p:pic>
      <p:sp>
        <p:nvSpPr>
          <p:cNvPr id="274" name="TextBox 273"/>
          <p:cNvSpPr txBox="1"/>
          <p:nvPr/>
        </p:nvSpPr>
        <p:spPr>
          <a:xfrm>
            <a:off x="2136038" y="5788151"/>
            <a:ext cx="473659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C9561A"/>
                </a:solidFill>
                <a:latin typeface="Calibri"/>
              </a:rPr>
              <a:t>99.95%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944014" y="6007607"/>
            <a:ext cx="656539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Monthly availability</a:t>
            </a:r>
          </a:p>
        </p:txBody>
      </p:sp>
      <p:sp>
        <p:nvSpPr>
          <p:cNvPr id="276" name="kpi3"/>
          <p:cNvSpPr/>
          <p:nvPr/>
        </p:nvSpPr>
        <p:spPr>
          <a:xfrm>
            <a:off x="2673705" y="5751575"/>
            <a:ext cx="747979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7" name="k3" descr="k3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728569" y="5806439"/>
            <a:ext cx="164592" cy="164592"/>
          </a:xfrm>
          <a:prstGeom prst="rect">
            <a:avLst/>
          </a:prstGeom>
        </p:spPr>
      </p:pic>
      <p:sp>
        <p:nvSpPr>
          <p:cNvPr id="278" name="TextBox 277"/>
          <p:cNvSpPr txBox="1"/>
          <p:nvPr/>
        </p:nvSpPr>
        <p:spPr>
          <a:xfrm>
            <a:off x="2920593" y="5788151"/>
            <a:ext cx="473659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C9561A"/>
                </a:solidFill>
                <a:latin typeface="Calibri"/>
              </a:rPr>
              <a:t>10×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2728569" y="6007607"/>
            <a:ext cx="656539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Peak sale traffic handled</a:t>
            </a:r>
          </a:p>
        </p:txBody>
      </p:sp>
      <p:sp>
        <p:nvSpPr>
          <p:cNvPr id="280" name="kpi4"/>
          <p:cNvSpPr/>
          <p:nvPr/>
        </p:nvSpPr>
        <p:spPr>
          <a:xfrm>
            <a:off x="3458260" y="5751575"/>
            <a:ext cx="747979" cy="585216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1" name="k4" descr="k4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513124" y="5806439"/>
            <a:ext cx="164592" cy="164592"/>
          </a:xfrm>
          <a:prstGeom prst="rect">
            <a:avLst/>
          </a:prstGeom>
        </p:spPr>
      </p:pic>
      <p:sp>
        <p:nvSpPr>
          <p:cNvPr id="282" name="TextBox 281"/>
          <p:cNvSpPr txBox="1"/>
          <p:nvPr/>
        </p:nvSpPr>
        <p:spPr>
          <a:xfrm>
            <a:off x="3705148" y="5788151"/>
            <a:ext cx="473659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C9561A"/>
                </a:solidFill>
                <a:latin typeface="Calibri"/>
              </a:rPr>
              <a:t>1–2%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3513124" y="6007607"/>
            <a:ext cx="656539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C2330"/>
                </a:solidFill>
                <a:latin typeface="Calibri"/>
              </a:rPr>
              <a:t>Refunds sent to the AI agent</a:t>
            </a:r>
          </a:p>
        </p:txBody>
      </p:sp>
      <p:pic>
        <p:nvPicPr>
          <p:cNvPr id="284" name="wave" descr="wav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20040" y="6391655"/>
            <a:ext cx="1823357" cy="228600"/>
          </a:xfrm>
          <a:prstGeom prst="rect">
            <a:avLst/>
          </a:prstGeom>
        </p:spPr>
      </p:pic>
      <p:sp>
        <p:nvSpPr>
          <p:cNvPr id="285" name="TextBox 284"/>
          <p:cNvSpPr txBox="1"/>
          <p:nvPr/>
        </p:nvSpPr>
        <p:spPr>
          <a:xfrm>
            <a:off x="2234837" y="6391655"/>
            <a:ext cx="1971402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1C2330"/>
                </a:solidFill>
                <a:latin typeface="Arial"/>
              </a:rPr>
              <a:t>Peak sale traffic</a:t>
            </a:r>
          </a:p>
          <a:p>
            <a:pPr algn="l"/>
            <a:r>
              <a:rPr sz="700" b="0" i="0">
                <a:solidFill>
                  <a:srgbClr val="4A5260"/>
                </a:solidFill>
                <a:latin typeface="Calibri"/>
              </a:rPr>
              <a:t>(e.g. Black Friday)</a:t>
            </a:r>
          </a:p>
        </p:txBody>
      </p:sp>
      <p:sp>
        <p:nvSpPr>
          <p:cNvPr id="286" name="bar6"/>
          <p:cNvSpPr/>
          <p:nvPr/>
        </p:nvSpPr>
        <p:spPr>
          <a:xfrm>
            <a:off x="4389120" y="5358383"/>
            <a:ext cx="4434840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4443983" y="5394959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718304" y="5358383"/>
            <a:ext cx="1154983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DEPLOYMENT PLAN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4389120" y="5678423"/>
            <a:ext cx="4434840" cy="996696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chev0"/>
          <p:cNvSpPr/>
          <p:nvPr/>
        </p:nvSpPr>
        <p:spPr>
          <a:xfrm>
            <a:off x="4480559" y="5742431"/>
            <a:ext cx="1117854" cy="310896"/>
          </a:xfrm>
          <a:prstGeom prst="homePlate">
            <a:avLst/>
          </a:prstGeom>
          <a:solidFill>
            <a:srgbClr val="CF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4571999" y="5742431"/>
            <a:ext cx="825245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0–2 months</a:t>
            </a:r>
          </a:p>
          <a:p>
            <a:pPr algn="l"/>
            <a:r>
              <a:rPr sz="700" b="1" i="0">
                <a:solidFill>
                  <a:srgbClr val="111111"/>
                </a:solidFill>
                <a:latin typeface="Arial"/>
              </a:rPr>
              <a:t>Set up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535423" y="6117336"/>
            <a:ext cx="10972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663440" y="6117336"/>
            <a:ext cx="825245" cy="1099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Integrate 6 systems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4535423" y="6254699"/>
            <a:ext cx="10972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663440" y="6254699"/>
            <a:ext cx="825245" cy="2152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Feature store &amp; registry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4535423" y="6497421"/>
            <a:ext cx="10972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663440" y="6497421"/>
            <a:ext cx="825245" cy="1099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Monitoring and rules</a:t>
            </a:r>
          </a:p>
        </p:txBody>
      </p:sp>
      <p:sp>
        <p:nvSpPr>
          <p:cNvPr id="298" name="chev1"/>
          <p:cNvSpPr/>
          <p:nvPr/>
        </p:nvSpPr>
        <p:spPr>
          <a:xfrm>
            <a:off x="5543549" y="5742431"/>
            <a:ext cx="1117854" cy="310896"/>
          </a:xfrm>
          <a:prstGeom prst="chevron">
            <a:avLst/>
          </a:prstGeom>
          <a:solidFill>
            <a:srgbClr val="BDE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5708141" y="5742431"/>
            <a:ext cx="825245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2–5 months</a:t>
            </a:r>
          </a:p>
          <a:p>
            <a:pPr algn="l"/>
            <a:r>
              <a:rPr sz="700" b="1" i="0">
                <a:solidFill>
                  <a:srgbClr val="111111"/>
                </a:solidFill>
                <a:latin typeface="Arial"/>
              </a:rPr>
              <a:t>MVP (live)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5598413" y="6117336"/>
            <a:ext cx="10972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726429" y="6117336"/>
            <a:ext cx="825245" cy="1099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Risk score model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598413" y="6254699"/>
            <a:ext cx="10972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5726429" y="6254699"/>
            <a:ext cx="825245" cy="1099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Evidence Agent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5598413" y="6392062"/>
            <a:ext cx="109728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1E7A45"/>
                </a:solidFill>
                <a:latin typeface="Calibri"/>
              </a:rPr>
              <a:t>✓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5726429" y="6392062"/>
            <a:ext cx="825245" cy="1099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Review Console</a:t>
            </a:r>
          </a:p>
        </p:txBody>
      </p:sp>
      <p:sp>
        <p:nvSpPr>
          <p:cNvPr id="306" name="chev2"/>
          <p:cNvSpPr/>
          <p:nvPr/>
        </p:nvSpPr>
        <p:spPr>
          <a:xfrm>
            <a:off x="6606540" y="5742431"/>
            <a:ext cx="1117854" cy="310896"/>
          </a:xfrm>
          <a:prstGeom prst="chevron">
            <a:avLst/>
          </a:prstGeom>
          <a:solidFill>
            <a:srgbClr val="ABD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6771131" y="5742431"/>
            <a:ext cx="825245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6–9 months</a:t>
            </a:r>
          </a:p>
          <a:p>
            <a:pPr algn="l"/>
            <a:r>
              <a:rPr sz="700" b="1" i="0">
                <a:solidFill>
                  <a:srgbClr val="111111"/>
                </a:solidFill>
                <a:latin typeface="Arial"/>
              </a:rPr>
              <a:t>Expand</a:t>
            </a:r>
          </a:p>
        </p:txBody>
      </p:sp>
      <p:sp>
        <p:nvSpPr>
          <p:cNvPr id="308" name="Oval 307"/>
          <p:cNvSpPr/>
          <p:nvPr/>
        </p:nvSpPr>
        <p:spPr>
          <a:xfrm>
            <a:off x="6688836" y="6153912"/>
            <a:ext cx="41148" cy="41148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6789420" y="6117336"/>
            <a:ext cx="825245" cy="2152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Wardrobing &amp; damaged claims</a:t>
            </a:r>
          </a:p>
        </p:txBody>
      </p:sp>
      <p:sp>
        <p:nvSpPr>
          <p:cNvPr id="310" name="Oval 309"/>
          <p:cNvSpPr/>
          <p:nvPr/>
        </p:nvSpPr>
        <p:spPr>
          <a:xfrm>
            <a:off x="6688836" y="6396634"/>
            <a:ext cx="41148" cy="41148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6789420" y="6360058"/>
            <a:ext cx="825245" cy="1099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More features</a:t>
            </a:r>
          </a:p>
        </p:txBody>
      </p:sp>
      <p:sp>
        <p:nvSpPr>
          <p:cNvPr id="312" name="chev3"/>
          <p:cNvSpPr/>
          <p:nvPr/>
        </p:nvSpPr>
        <p:spPr>
          <a:xfrm>
            <a:off x="7669529" y="5742431"/>
            <a:ext cx="1062989" cy="310896"/>
          </a:xfrm>
          <a:prstGeom prst="chevron">
            <a:avLst/>
          </a:prstGeom>
          <a:solidFill>
            <a:srgbClr val="98D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7834121" y="5742431"/>
            <a:ext cx="825245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1" i="0">
                <a:solidFill>
                  <a:srgbClr val="0F4A2A"/>
                </a:solidFill>
                <a:latin typeface="Arial"/>
              </a:rPr>
              <a:t>10–15 months</a:t>
            </a:r>
          </a:p>
          <a:p>
            <a:pPr algn="l"/>
            <a:r>
              <a:rPr sz="700" b="1" i="0">
                <a:solidFill>
                  <a:srgbClr val="111111"/>
                </a:solidFill>
                <a:latin typeface="Arial"/>
              </a:rPr>
              <a:t>Scale</a:t>
            </a:r>
          </a:p>
        </p:txBody>
      </p:sp>
      <p:sp>
        <p:nvSpPr>
          <p:cNvPr id="314" name="Oval 313"/>
          <p:cNvSpPr/>
          <p:nvPr/>
        </p:nvSpPr>
        <p:spPr>
          <a:xfrm>
            <a:off x="7751825" y="6153912"/>
            <a:ext cx="41148" cy="41148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7852409" y="6117336"/>
            <a:ext cx="825245" cy="1099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More categories</a:t>
            </a:r>
          </a:p>
        </p:txBody>
      </p:sp>
      <p:sp>
        <p:nvSpPr>
          <p:cNvPr id="316" name="Oval 315"/>
          <p:cNvSpPr/>
          <p:nvPr/>
        </p:nvSpPr>
        <p:spPr>
          <a:xfrm>
            <a:off x="7751825" y="6291275"/>
            <a:ext cx="41148" cy="41148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7852409" y="6254699"/>
            <a:ext cx="825245" cy="2152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80" b="0" i="0">
                <a:solidFill>
                  <a:srgbClr val="1C2330"/>
                </a:solidFill>
                <a:latin typeface="Calibri"/>
              </a:rPr>
              <a:t>Automated pattern discovery</a:t>
            </a:r>
          </a:p>
        </p:txBody>
      </p:sp>
      <p:sp>
        <p:nvSpPr>
          <p:cNvPr id="318" name="bar7"/>
          <p:cNvSpPr/>
          <p:nvPr/>
        </p:nvSpPr>
        <p:spPr>
          <a:xfrm>
            <a:off x="8915399" y="5358383"/>
            <a:ext cx="3047695" cy="274320"/>
          </a:xfrm>
          <a:prstGeom prst="roundRect">
            <a:avLst>
              <a:gd name="adj" fmla="val 23333"/>
            </a:avLst>
          </a:prstGeom>
          <a:gradFill rotWithShape="1">
            <a:gsLst>
              <a:gs pos="0">
                <a:srgbClr val="0A3A2C"/>
              </a:gs>
              <a:gs pos="100000">
                <a:srgbClr val="0B513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8970263" y="5394959"/>
            <a:ext cx="201168" cy="201168"/>
          </a:xfrm>
          <a:prstGeom prst="ellipse">
            <a:avLst/>
          </a:prstGeom>
          <a:solidFill>
            <a:srgbClr val="7DC24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9244583" y="5358383"/>
            <a:ext cx="19360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RUN IT RELIABLY IN PRODUCTION</a:t>
            </a:r>
          </a:p>
        </p:txBody>
      </p:sp>
      <p:sp>
        <p:nvSpPr>
          <p:cNvPr id="321" name="Rounded Rectangle 320"/>
          <p:cNvSpPr/>
          <p:nvPr/>
        </p:nvSpPr>
        <p:spPr>
          <a:xfrm>
            <a:off x="8915399" y="5678423"/>
            <a:ext cx="3047695" cy="996696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9525">
            <a:solidFill>
              <a:srgbClr val="DC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2" name="op0" descr="op0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043415" y="5744260"/>
            <a:ext cx="155448" cy="155448"/>
          </a:xfrm>
          <a:prstGeom prst="rect">
            <a:avLst/>
          </a:prstGeom>
        </p:spPr>
      </p:pic>
      <p:sp>
        <p:nvSpPr>
          <p:cNvPr id="323" name="TextBox 322"/>
          <p:cNvSpPr txBox="1"/>
          <p:nvPr/>
        </p:nvSpPr>
        <p:spPr>
          <a:xfrm>
            <a:off x="9299447" y="5733287"/>
            <a:ext cx="2572207" cy="1773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24/7 on-call with runbooks</a:t>
            </a:r>
          </a:p>
        </p:txBody>
      </p:sp>
      <p:pic>
        <p:nvPicPr>
          <p:cNvPr id="324" name="op1" descr="op1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043415" y="5921654"/>
            <a:ext cx="155448" cy="155448"/>
          </a:xfrm>
          <a:prstGeom prst="rect">
            <a:avLst/>
          </a:prstGeom>
        </p:spPr>
      </p:pic>
      <p:sp>
        <p:nvSpPr>
          <p:cNvPr id="325" name="TextBox 324"/>
          <p:cNvSpPr txBox="1"/>
          <p:nvPr/>
        </p:nvSpPr>
        <p:spPr>
          <a:xfrm>
            <a:off x="9299447" y="5910681"/>
            <a:ext cx="2572207" cy="1773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Weekly model monitoring and drift checks</a:t>
            </a:r>
          </a:p>
        </p:txBody>
      </p:sp>
      <p:pic>
        <p:nvPicPr>
          <p:cNvPr id="326" name="op2" descr="op2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043415" y="6099047"/>
            <a:ext cx="155448" cy="155448"/>
          </a:xfrm>
          <a:prstGeom prst="rect">
            <a:avLst/>
          </a:prstGeom>
        </p:spPr>
      </p:pic>
      <p:sp>
        <p:nvSpPr>
          <p:cNvPr id="327" name="TextBox 326"/>
          <p:cNvSpPr txBox="1"/>
          <p:nvPr/>
        </p:nvSpPr>
        <p:spPr>
          <a:xfrm>
            <a:off x="9299447" y="6088075"/>
            <a:ext cx="2572207" cy="1773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Quarterly independent audits</a:t>
            </a:r>
          </a:p>
        </p:txBody>
      </p:sp>
      <p:pic>
        <p:nvPicPr>
          <p:cNvPr id="328" name="op3" descr="op3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043415" y="6276441"/>
            <a:ext cx="155448" cy="155448"/>
          </a:xfrm>
          <a:prstGeom prst="rect">
            <a:avLst/>
          </a:prstGeom>
        </p:spPr>
      </p:pic>
      <p:sp>
        <p:nvSpPr>
          <p:cNvPr id="329" name="TextBox 328"/>
          <p:cNvSpPr txBox="1"/>
          <p:nvPr/>
        </p:nvSpPr>
        <p:spPr>
          <a:xfrm>
            <a:off x="9299447" y="6265468"/>
            <a:ext cx="2572207" cy="1773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One-click rollback / kill switch</a:t>
            </a:r>
          </a:p>
        </p:txBody>
      </p:sp>
      <p:pic>
        <p:nvPicPr>
          <p:cNvPr id="330" name="op4" descr="op4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043415" y="6453835"/>
            <a:ext cx="155448" cy="155448"/>
          </a:xfrm>
          <a:prstGeom prst="rect">
            <a:avLst/>
          </a:prstGeom>
        </p:spPr>
      </p:pic>
      <p:sp>
        <p:nvSpPr>
          <p:cNvPr id="331" name="TextBox 330"/>
          <p:cNvSpPr txBox="1"/>
          <p:nvPr/>
        </p:nvSpPr>
        <p:spPr>
          <a:xfrm>
            <a:off x="9299447" y="6442862"/>
            <a:ext cx="2572207" cy="1773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C2330"/>
                </a:solidFill>
                <a:latin typeface="Calibri"/>
              </a:rPr>
              <a:t>Private LLM access (no PII, full logging)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C9829A-953D-66B8-02A3-727BF06A904D}"/>
              </a:ext>
            </a:extLst>
          </p:cNvPr>
          <p:cNvSpPr/>
          <p:nvPr/>
        </p:nvSpPr>
        <p:spPr>
          <a:xfrm>
            <a:off x="4561189" y="2967335"/>
            <a:ext cx="30696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</a:t>
            </a:r>
            <a:r>
              <a:rPr lang="en-US" sz="5400" dirty="0">
                <a:ln w="0">
                  <a:solidFill>
                    <a:sysClr val="windowText" lastClr="000000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60933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2837</Words>
  <Application>Microsoft Office PowerPoint</Application>
  <PresentationFormat>Widescreen</PresentationFormat>
  <Paragraphs>690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Northfield Retail — Returns Integrity</dc:title>
  <dc:subject>PptxGenJS Presentation</dc:subject>
  <dc:creator>PptxGenJS</dc:creator>
  <cp:lastModifiedBy>Abhijeet Thoke</cp:lastModifiedBy>
  <cp:revision>3</cp:revision>
  <dcterms:created xsi:type="dcterms:W3CDTF">2026-10-26T06:57:20Z</dcterms:created>
  <dcterms:modified xsi:type="dcterms:W3CDTF">2026-10-27T12:29:04Z</dcterms:modified>
</cp:coreProperties>
</file>